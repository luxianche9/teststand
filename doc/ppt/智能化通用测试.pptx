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5" r:id="rId10"/>
    <p:sldId id="264" r:id="rId11"/>
    <p:sldId id="267" r:id="rId12"/>
    <p:sldId id="268" r:id="rId13"/>
    <p:sldId id="269" r:id="rId14"/>
    <p:sldId id="271" r:id="rId15"/>
    <p:sldId id="272" r:id="rId16"/>
    <p:sldId id="273" r:id="rId17"/>
    <p:sldId id="274" r:id="rId18"/>
    <p:sldId id="275" r:id="rId19"/>
  </p:sldIdLst>
  <p:sldSz cx="12192000" cy="6858000"/>
  <p:notesSz cx="6858000" cy="9144000"/>
  <p:defaultTextStyle>
    <a:defPPr>
      <a:defRPr lang="zh-CN"/>
    </a:defPPr>
    <a:lvl1pPr marL="0" algn="l" defTabSz="457200" rtl="0" eaLnBrk="1" latinLnBrk="0" hangingPunct="1">
      <a:defRPr lang="zh-CN" sz="1800" kern="1200">
        <a:solidFill>
          <a:schemeClr val="tx1"/>
        </a:solidFill>
        <a:latin typeface="+mn-lt"/>
        <a:ea typeface="+mn-ea"/>
        <a:cs typeface="+mn-cs"/>
      </a:defRPr>
    </a:lvl1pPr>
    <a:lvl2pPr marL="457200" algn="l" defTabSz="457200" rtl="0" eaLnBrk="1" latinLnBrk="0" hangingPunct="1">
      <a:defRPr lang="zh-CN" sz="1800" kern="1200">
        <a:solidFill>
          <a:schemeClr val="tx1"/>
        </a:solidFill>
        <a:latin typeface="+mn-lt"/>
        <a:ea typeface="+mn-ea"/>
        <a:cs typeface="+mn-cs"/>
      </a:defRPr>
    </a:lvl2pPr>
    <a:lvl3pPr marL="914400" algn="l" defTabSz="457200" rtl="0" eaLnBrk="1" latinLnBrk="0" hangingPunct="1">
      <a:defRPr lang="zh-CN" sz="1800" kern="1200">
        <a:solidFill>
          <a:schemeClr val="tx1"/>
        </a:solidFill>
        <a:latin typeface="+mn-lt"/>
        <a:ea typeface="+mn-ea"/>
        <a:cs typeface="+mn-cs"/>
      </a:defRPr>
    </a:lvl3pPr>
    <a:lvl4pPr marL="1371600" algn="l" defTabSz="457200" rtl="0" eaLnBrk="1" latinLnBrk="0" hangingPunct="1">
      <a:defRPr lang="zh-CN" sz="1800" kern="1200">
        <a:solidFill>
          <a:schemeClr val="tx1"/>
        </a:solidFill>
        <a:latin typeface="+mn-lt"/>
        <a:ea typeface="+mn-ea"/>
        <a:cs typeface="+mn-cs"/>
      </a:defRPr>
    </a:lvl4pPr>
    <a:lvl5pPr marL="1828800" algn="l" defTabSz="457200" rtl="0" eaLnBrk="1" latinLnBrk="0" hangingPunct="1">
      <a:defRPr lang="zh-CN" sz="1800" kern="1200">
        <a:solidFill>
          <a:schemeClr val="tx1"/>
        </a:solidFill>
        <a:latin typeface="+mn-lt"/>
        <a:ea typeface="+mn-ea"/>
        <a:cs typeface="+mn-cs"/>
      </a:defRPr>
    </a:lvl5pPr>
    <a:lvl6pPr marL="2286000" algn="l" defTabSz="457200" rtl="0" eaLnBrk="1" latinLnBrk="0" hangingPunct="1">
      <a:defRPr lang="zh-CN" sz="1800" kern="1200">
        <a:solidFill>
          <a:schemeClr val="tx1"/>
        </a:solidFill>
        <a:latin typeface="+mn-lt"/>
        <a:ea typeface="+mn-ea"/>
        <a:cs typeface="+mn-cs"/>
      </a:defRPr>
    </a:lvl6pPr>
    <a:lvl7pPr marL="2743200" algn="l" defTabSz="457200" rtl="0" eaLnBrk="1" latinLnBrk="0" hangingPunct="1">
      <a:defRPr lang="zh-CN" sz="1800" kern="1200">
        <a:solidFill>
          <a:schemeClr val="tx1"/>
        </a:solidFill>
        <a:latin typeface="+mn-lt"/>
        <a:ea typeface="+mn-ea"/>
        <a:cs typeface="+mn-cs"/>
      </a:defRPr>
    </a:lvl7pPr>
    <a:lvl8pPr marL="3200400" algn="l" defTabSz="457200" rtl="0" eaLnBrk="1" latinLnBrk="0" hangingPunct="1">
      <a:defRPr lang="zh-CN" sz="1800" kern="1200">
        <a:solidFill>
          <a:schemeClr val="tx1"/>
        </a:solidFill>
        <a:latin typeface="+mn-lt"/>
        <a:ea typeface="+mn-ea"/>
        <a:cs typeface="+mn-cs"/>
      </a:defRPr>
    </a:lvl8pPr>
    <a:lvl9pPr marL="3657600" algn="l" defTabSz="457200" rtl="0" eaLnBrk="1" latinLnBrk="0" hangingPunct="1">
      <a:defRPr lang="zh-CN"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33" autoAdjust="0"/>
    <p:restoredTop sz="81094" autoAdjust="0"/>
  </p:normalViewPr>
  <p:slideViewPr>
    <p:cSldViewPr snapToGrid="0" snapToObjects="1">
      <p:cViewPr varScale="1">
        <p:scale>
          <a:sx n="53" d="100"/>
          <a:sy n="53" d="100"/>
        </p:scale>
        <p:origin x="72" y="8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zh-CN"/>
          </a:p>
        </p:txBody>
      </p:sp>
    </p:spTree>
  </p:cSld>
  <p:clrMap bg1="lt1" tx1="dk1" bg2="lt2" tx2="dk2" accent1="accent1" accent2="accent2" accent3="accent3" accent4="accent4" accent5="accent5" accent6="accent6" hlink="hlink" folHlink="folHlink"/>
  <p:hf/>
  <p:notesStyle>
    <a:lvl1pPr marL="0" algn="l">
      <a:defRPr lang="zh-CN"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zh-CN" altLang="en-US" b="0" dirty="0">
                <a:solidFill>
                  <a:srgbClr val="E1E4E8"/>
                </a:solidFill>
                <a:effectLst/>
                <a:latin typeface="Consolas" panose="020B0609020204030204" pitchFamily="49" charset="0"/>
              </a:rPr>
              <a:t>大家好。我今天要讲的是怎么使用智能化的通用测试软件让测试工程师自己在现场把完成</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不用再等定制软件外包</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altLang="en-US" b="0" dirty="0">
                <a:solidFill>
                  <a:srgbClr val="E1E4E8"/>
                </a:solidFill>
                <a:effectLst/>
                <a:latin typeface="Consolas" panose="020B0609020204030204" pitchFamily="49" charset="0"/>
              </a:rPr>
              <a:t>在原有的测试场景中</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每一个被测对象</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物理接口不一样</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需要选取各自对应的硬件测试板卡</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各家板卡的 </a:t>
            </a:r>
            <a:r>
              <a:rPr lang="en-US" altLang="zh-CN" b="0" dirty="0">
                <a:solidFill>
                  <a:srgbClr val="E1E4E8"/>
                </a:solidFill>
                <a:effectLst/>
                <a:latin typeface="Consolas" panose="020B0609020204030204" pitchFamily="49" charset="0"/>
              </a:rPr>
              <a:t>SDK </a:t>
            </a:r>
            <a:r>
              <a:rPr lang="zh-CN" altLang="en-US" b="0" dirty="0">
                <a:solidFill>
                  <a:srgbClr val="E1E4E8"/>
                </a:solidFill>
                <a:effectLst/>
                <a:latin typeface="Consolas" panose="020B0609020204030204" pitchFamily="49" charset="0"/>
              </a:rPr>
              <a:t>不一样</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测试某个功能的流程编排不一样</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所以每个被测对象都需要定制一套自己的测试软件和硬件设备</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软件和设备之间是强耦合的</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一旦项目冻结之后</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硬件测试资源就不能继续复用</a:t>
            </a:r>
            <a:r>
              <a:rPr lang="en-US" altLang="zh-CN" b="0" dirty="0">
                <a:solidFill>
                  <a:srgbClr val="E1E4E8"/>
                </a:solidFill>
                <a:effectLst/>
                <a:latin typeface="Consolas" panose="020B0609020204030204" pitchFamily="49" charset="0"/>
              </a:rPr>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altLang="en-US" dirty="0"/>
              <a:t>然后就带来了</a:t>
            </a:r>
            <a:r>
              <a:rPr lang="en-US" altLang="zh-CN" dirty="0"/>
              <a:t>5</a:t>
            </a:r>
            <a:r>
              <a:rPr lang="zh-CN" altLang="en-US" dirty="0"/>
              <a:t>个主要的代价</a:t>
            </a:r>
            <a:r>
              <a:rPr lang="en-US" altLang="zh-CN" dirty="0"/>
              <a:t>, </a:t>
            </a:r>
            <a:r>
              <a:rPr lang="zh-CN" altLang="en-US" dirty="0"/>
              <a:t>包括迭代周期长</a:t>
            </a:r>
            <a:r>
              <a:rPr lang="en-US" altLang="zh-CN" dirty="0"/>
              <a:t>, </a:t>
            </a:r>
            <a:r>
              <a:rPr lang="zh-CN" altLang="en-US" dirty="0"/>
              <a:t>复用成本高</a:t>
            </a:r>
            <a:r>
              <a:rPr lang="en-US" altLang="zh-CN" dirty="0"/>
              <a:t>, </a:t>
            </a:r>
            <a:r>
              <a:rPr lang="zh-CN" altLang="en-US" dirty="0"/>
              <a:t>变更风险高</a:t>
            </a:r>
            <a:r>
              <a:rPr lang="en-US" altLang="zh-CN" dirty="0"/>
              <a:t>, </a:t>
            </a:r>
            <a:r>
              <a:rPr lang="zh-CN" altLang="en-US" dirty="0"/>
              <a:t>测试软件内部是黑盒</a:t>
            </a:r>
            <a:r>
              <a:rPr lang="en-US" altLang="zh-CN" dirty="0"/>
              <a:t>, </a:t>
            </a:r>
            <a:r>
              <a:rPr lang="zh-CN" altLang="en-US" dirty="0"/>
              <a:t>接线关系写死在软件里</a:t>
            </a:r>
            <a:r>
              <a:rPr lang="en-US" altLang="zh-CN" dirty="0"/>
              <a:t>, </a:t>
            </a:r>
            <a:r>
              <a:rPr lang="zh-CN" altLang="en-US" dirty="0"/>
              <a:t>导致临时出错无法修复</a:t>
            </a:r>
            <a:r>
              <a:rPr lang="en-US" altLang="zh-CN" dirty="0"/>
              <a:t>, </a:t>
            </a:r>
            <a:r>
              <a:rPr lang="zh-CN" altLang="en-US" dirty="0"/>
              <a:t>只有写代码的人知道</a:t>
            </a:r>
            <a:r>
              <a:rPr lang="en-US" altLang="zh-CN" dirty="0"/>
              <a:t>bug</a:t>
            </a:r>
            <a:r>
              <a:rPr lang="zh-CN" altLang="en-US" dirty="0"/>
              <a:t>在哪里</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altLang="en-US" dirty="0"/>
              <a:t>通用化测试软件应该是显而易见的事情</a:t>
            </a:r>
            <a:r>
              <a:rPr lang="en-US" altLang="zh-CN" dirty="0"/>
              <a:t>, </a:t>
            </a:r>
            <a:r>
              <a:rPr lang="zh-CN" altLang="en-US" dirty="0"/>
              <a:t>一套软件适配多种硬件可以对硬件进行复用</a:t>
            </a:r>
            <a:r>
              <a:rPr lang="en-US" altLang="zh-CN" dirty="0"/>
              <a:t>, </a:t>
            </a:r>
            <a:r>
              <a:rPr lang="zh-CN" altLang="en-US" dirty="0"/>
              <a:t>像</a:t>
            </a:r>
            <a:r>
              <a:rPr lang="en-US" altLang="zh-CN" dirty="0"/>
              <a:t>NI </a:t>
            </a:r>
            <a:r>
              <a:rPr lang="en-US" altLang="zh-CN" dirty="0" err="1"/>
              <a:t>TestStand</a:t>
            </a:r>
            <a:r>
              <a:rPr lang="zh-CN" altLang="en-US" dirty="0"/>
              <a:t>那样可以用无代码的方式编排测试流程</a:t>
            </a:r>
            <a:r>
              <a:rPr lang="en-US" altLang="zh-CN" dirty="0"/>
              <a:t>, </a:t>
            </a:r>
            <a:r>
              <a:rPr lang="zh-CN" altLang="en-US" dirty="0"/>
              <a:t>但是为什么直到今天还没有广泛使用通用化测试软件</a:t>
            </a:r>
            <a:r>
              <a:rPr lang="en-US" altLang="zh-CN" dirty="0"/>
              <a:t>? </a:t>
            </a:r>
            <a:r>
              <a:rPr lang="zh-CN" altLang="en-US" dirty="0"/>
              <a:t>是因为如果把一个设备插件协议定死比如</a:t>
            </a:r>
            <a:r>
              <a:rPr lang="en-US" altLang="zh-CN" dirty="0"/>
              <a:t>VISA/SCPI, </a:t>
            </a:r>
            <a:r>
              <a:rPr lang="zh-CN" altLang="en-US" dirty="0"/>
              <a:t>他能支持的设备类型有限</a:t>
            </a:r>
            <a:r>
              <a:rPr lang="en-US" altLang="zh-CN" dirty="0"/>
              <a:t>, </a:t>
            </a:r>
            <a:r>
              <a:rPr lang="zh-CN" altLang="en-US" dirty="0"/>
              <a:t>如果自己设计一个非常宽松的协议比如说直接让测试硬件可以暴露任意类型和数量函数型参的接口</a:t>
            </a:r>
            <a:r>
              <a:rPr lang="en-US" altLang="zh-CN" dirty="0"/>
              <a:t>, </a:t>
            </a:r>
            <a:r>
              <a:rPr lang="zh-CN" altLang="en-US" dirty="0"/>
              <a:t>那么当客户拿到新硬件的时候还是需要让外包来写封装代码</a:t>
            </a:r>
            <a:r>
              <a:rPr lang="en-US" altLang="zh-CN" dirty="0"/>
              <a:t>. </a:t>
            </a:r>
            <a:r>
              <a:rPr lang="zh-CN" altLang="en-US" dirty="0"/>
              <a:t>还有协议解析</a:t>
            </a:r>
            <a:r>
              <a:rPr lang="en-US" altLang="zh-CN" dirty="0"/>
              <a:t>, </a:t>
            </a:r>
            <a:r>
              <a:rPr lang="zh-CN" altLang="en-US" dirty="0"/>
              <a:t>测试资源和被测对象之间如何物理连接这些工作</a:t>
            </a:r>
            <a:r>
              <a:rPr lang="en-US" altLang="zh-CN" dirty="0"/>
              <a:t>, </a:t>
            </a:r>
            <a:r>
              <a:rPr lang="zh-CN" altLang="en-US" dirty="0"/>
              <a:t>需要查阅文档花费大量时间</a:t>
            </a:r>
            <a:r>
              <a:rPr lang="en-US" altLang="zh-CN" dirty="0"/>
              <a:t>, </a:t>
            </a:r>
            <a:r>
              <a:rPr lang="zh-CN" altLang="en-US" dirty="0"/>
              <a:t>这些问题还是要让甲方解决</a:t>
            </a:r>
            <a:r>
              <a:rPr lang="en-US" altLang="zh-CN" dirty="0"/>
              <a:t>, </a:t>
            </a:r>
            <a:r>
              <a:rPr lang="zh-CN" altLang="en-US" dirty="0"/>
              <a:t>还是得外包出去</a:t>
            </a:r>
            <a:r>
              <a:rPr lang="en-US" altLang="zh-CN" dirty="0"/>
              <a:t>, </a:t>
            </a:r>
            <a:r>
              <a:rPr lang="zh-CN" altLang="en-US" dirty="0"/>
              <a:t>迭代周期没有明显的改善</a:t>
            </a:r>
            <a:r>
              <a:rPr lang="en-US" altLang="zh-CN" dirty="0"/>
              <a:t>, </a:t>
            </a:r>
            <a:r>
              <a:rPr lang="zh-CN" altLang="en-US" dirty="0"/>
              <a:t>不如维持原来的纯外包形式</a:t>
            </a:r>
            <a:r>
              <a:rPr lang="en-US" altLang="zh-CN" dirty="0"/>
              <a:t>. </a:t>
            </a:r>
            <a:r>
              <a:rPr lang="zh-CN" altLang="en-US" dirty="0"/>
              <a:t>现在这个问题能得以解决是因为大语言模型和</a:t>
            </a:r>
            <a:r>
              <a:rPr lang="en-US" altLang="zh-CN" dirty="0"/>
              <a:t>AI Agent</a:t>
            </a:r>
            <a:r>
              <a:rPr lang="zh-CN" altLang="en-US" dirty="0"/>
              <a:t>的出现</a:t>
            </a:r>
            <a:r>
              <a:rPr lang="en-US" altLang="zh-CN" dirty="0"/>
              <a:t>, </a:t>
            </a:r>
            <a:r>
              <a:rPr lang="zh-CN" altLang="en-US" dirty="0"/>
              <a:t>可以让通用测试软件智能化</a:t>
            </a:r>
            <a:r>
              <a:rPr lang="en-US" altLang="zh-CN" dirty="0"/>
              <a:t>, </a:t>
            </a:r>
            <a:r>
              <a:rPr lang="zh-CN" altLang="en-US" dirty="0"/>
              <a:t>打个比方就是随着软件赠送了一个</a:t>
            </a:r>
            <a:r>
              <a:rPr lang="en-US" altLang="zh-CN" dirty="0"/>
              <a:t>24h</a:t>
            </a:r>
            <a:r>
              <a:rPr lang="zh-CN" altLang="en-US" dirty="0"/>
              <a:t>在线的驻场工程师</a:t>
            </a:r>
            <a:r>
              <a:rPr lang="en-US" altLang="zh-CN" dirty="0"/>
              <a:t>, </a:t>
            </a:r>
            <a:r>
              <a:rPr lang="zh-CN" altLang="en-US" dirty="0"/>
              <a:t>能将完成一个测试任务砍到只需要测试工程师提供资料</a:t>
            </a:r>
            <a:r>
              <a:rPr lang="en-US" altLang="zh-CN" dirty="0"/>
              <a:t>, </a:t>
            </a:r>
            <a:r>
              <a:rPr lang="zh-CN" altLang="en-US" dirty="0"/>
              <a:t>完成物理连线即可</a:t>
            </a:r>
            <a:r>
              <a:rPr lang="en-US" altLang="zh-CN" dirty="0"/>
              <a:t>.</a:t>
            </a:r>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zh-CN" altLang="en-US" dirty="0"/>
              <a:t>为了实现这个方案</a:t>
            </a:r>
            <a:r>
              <a:rPr lang="en-US" altLang="zh-CN" dirty="0"/>
              <a:t>, </a:t>
            </a:r>
            <a:r>
              <a:rPr lang="zh-CN" altLang="en-US" dirty="0"/>
              <a:t>我们分两步走</a:t>
            </a:r>
            <a:r>
              <a:rPr lang="en-US" altLang="zh-CN" dirty="0"/>
              <a:t>, </a:t>
            </a:r>
            <a:r>
              <a:rPr lang="zh-CN" altLang="en-US" dirty="0"/>
              <a:t>第一步实现通用化</a:t>
            </a:r>
            <a:r>
              <a:rPr lang="en-US" altLang="zh-CN" dirty="0"/>
              <a:t>, </a:t>
            </a:r>
            <a:r>
              <a:rPr lang="zh-CN" altLang="en-US" dirty="0"/>
              <a:t>硬件用刚才说的非常宽松的协议接入</a:t>
            </a:r>
            <a:r>
              <a:rPr lang="en-US" altLang="zh-CN" dirty="0"/>
              <a:t>: </a:t>
            </a:r>
            <a:r>
              <a:rPr lang="en-US" altLang="zh-CN" dirty="0" err="1"/>
              <a:t>mcp</a:t>
            </a:r>
            <a:r>
              <a:rPr lang="zh-CN" altLang="en-US" dirty="0"/>
              <a:t>协议</a:t>
            </a:r>
            <a:r>
              <a:rPr lang="en-US" altLang="zh-CN" dirty="0"/>
              <a:t>, </a:t>
            </a:r>
            <a:r>
              <a:rPr lang="zh-CN" altLang="en-US" dirty="0"/>
              <a:t>然后软件内提供无代码的测试编排方式</a:t>
            </a:r>
            <a:r>
              <a:rPr lang="en-US" altLang="zh-CN" dirty="0"/>
              <a:t>, </a:t>
            </a:r>
            <a:r>
              <a:rPr lang="zh-CN" altLang="en-US" dirty="0"/>
              <a:t>不直接编写测试脚本代码</a:t>
            </a:r>
            <a:r>
              <a:rPr lang="en-US" altLang="zh-CN" dirty="0"/>
              <a:t>, </a:t>
            </a:r>
            <a:r>
              <a:rPr lang="zh-CN" altLang="en-US" dirty="0"/>
              <a:t>校验更方便</a:t>
            </a:r>
            <a:r>
              <a:rPr lang="en-US" altLang="zh-CN" dirty="0"/>
              <a:t>, </a:t>
            </a:r>
            <a:r>
              <a:rPr lang="zh-CN" altLang="en-US" dirty="0"/>
              <a:t>测试流程展示更直观</a:t>
            </a:r>
            <a:r>
              <a:rPr lang="en-US" altLang="zh-CN" dirty="0"/>
              <a:t>. </a:t>
            </a:r>
            <a:r>
              <a:rPr lang="zh-CN" altLang="en-US" dirty="0"/>
              <a:t>第二步是实现智能化</a:t>
            </a:r>
            <a:r>
              <a:rPr lang="en-US" altLang="zh-CN" dirty="0"/>
              <a:t>, </a:t>
            </a:r>
            <a:r>
              <a:rPr lang="zh-CN" altLang="en-US" dirty="0"/>
              <a:t>软件内的</a:t>
            </a:r>
            <a:r>
              <a:rPr lang="en-US" altLang="zh-CN" dirty="0"/>
              <a:t>AI Agent, </a:t>
            </a:r>
            <a:r>
              <a:rPr lang="zh-CN" altLang="en-US" dirty="0"/>
              <a:t>也就是刚才说的驻场工程师</a:t>
            </a:r>
            <a:r>
              <a:rPr lang="en-US" altLang="zh-CN" dirty="0"/>
              <a:t>, </a:t>
            </a:r>
            <a:r>
              <a:rPr lang="zh-CN" altLang="en-US" dirty="0"/>
              <a:t>他可以理解产品资料</a:t>
            </a:r>
            <a:r>
              <a:rPr lang="en-US" altLang="zh-CN" dirty="0"/>
              <a:t>, </a:t>
            </a:r>
            <a:r>
              <a:rPr lang="zh-CN" altLang="en-US" dirty="0"/>
              <a:t>可以根据测试工程师下达的任务</a:t>
            </a:r>
            <a:r>
              <a:rPr lang="en-US" altLang="zh-CN" dirty="0"/>
              <a:t>, </a:t>
            </a:r>
            <a:r>
              <a:rPr lang="zh-CN" altLang="en-US" dirty="0"/>
              <a:t>可靠地完成硬件驱动适配</a:t>
            </a:r>
            <a:r>
              <a:rPr lang="en-US" altLang="zh-CN" dirty="0"/>
              <a:t>, </a:t>
            </a:r>
            <a:r>
              <a:rPr lang="zh-CN" altLang="en-US" dirty="0"/>
              <a:t>接线方案生成</a:t>
            </a:r>
            <a:r>
              <a:rPr lang="en-US" altLang="zh-CN" dirty="0"/>
              <a:t>, </a:t>
            </a:r>
            <a:r>
              <a:rPr lang="zh-CN" altLang="en-US" dirty="0"/>
              <a:t>编排测试流程</a:t>
            </a:r>
            <a:r>
              <a:rPr lang="en-US" altLang="zh-CN" dirty="0"/>
              <a:t>, </a:t>
            </a:r>
            <a:r>
              <a:rPr lang="zh-CN" altLang="en-US" dirty="0"/>
              <a:t>完成整个测试任务</a:t>
            </a:r>
            <a:r>
              <a:rPr lang="en-US" altLang="zh-CN" dirty="0"/>
              <a:t>.</a:t>
            </a:r>
            <a:endParaRPr 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zh-CN" altLang="en-US" b="0" dirty="0">
                <a:solidFill>
                  <a:srgbClr val="E1E4E8"/>
                </a:solidFill>
                <a:effectLst/>
                <a:latin typeface="Consolas" panose="020B0609020204030204" pitchFamily="49" charset="0"/>
              </a:rPr>
              <a:t>我们在架构上的创新点在于</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通用测试软件可以跑在任意一台电脑上</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通过局域网访问本地部署的国产开源大模型获取智能</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然后可以通过</a:t>
            </a:r>
            <a:r>
              <a:rPr lang="en-US" altLang="zh-CN" b="0" dirty="0" err="1">
                <a:solidFill>
                  <a:srgbClr val="E1E4E8"/>
                </a:solidFill>
                <a:effectLst/>
                <a:latin typeface="Consolas" panose="020B0609020204030204" pitchFamily="49" charset="0"/>
              </a:rPr>
              <a:t>mcp</a:t>
            </a:r>
            <a:r>
              <a:rPr lang="zh-CN" altLang="en-US" b="0" dirty="0">
                <a:solidFill>
                  <a:srgbClr val="E1E4E8"/>
                </a:solidFill>
                <a:effectLst/>
                <a:latin typeface="Consolas" panose="020B0609020204030204" pitchFamily="49" charset="0"/>
              </a:rPr>
              <a:t>协议访问任意一台局域网内远程工控机上的测试资源</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其中</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远程电脑上的服务器进程负责适配硬件的</a:t>
            </a:r>
            <a:r>
              <a:rPr lang="en-US" altLang="zh-CN" b="0" dirty="0" err="1">
                <a:solidFill>
                  <a:srgbClr val="E1E4E8"/>
                </a:solidFill>
                <a:effectLst/>
                <a:latin typeface="Consolas" panose="020B0609020204030204" pitchFamily="49" charset="0"/>
              </a:rPr>
              <a:t>sdk</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连接硬件驱动</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不和通用化测试软件进行耦合</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这样就能实现接入模拟量</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离散量</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继电器</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串口通信这样的板卡</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还能接入示波器</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信号发生器等任意硬件设备</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一个服务器托管一个硬件</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多个硬件之间互不干扰</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用户可以占用局域网上的测试硬件进行使用</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单个硬件出错不影响其他硬件</a:t>
            </a:r>
            <a:r>
              <a:rPr lang="en-US" altLang="zh-CN" b="0" dirty="0">
                <a:solidFill>
                  <a:srgbClr val="E1E4E8"/>
                </a:solidFill>
                <a:effectLst/>
                <a:latin typeface="Consolas" panose="020B0609020204030204" pitchFamily="49" charset="0"/>
              </a:rPr>
              <a:t>.</a:t>
            </a:r>
          </a:p>
          <a:p>
            <a:endParaRPr 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zh-CN" altLang="en-US" b="0" dirty="0">
                <a:solidFill>
                  <a:srgbClr val="E1E4E8"/>
                </a:solidFill>
                <a:effectLst/>
                <a:latin typeface="Consolas" panose="020B0609020204030204" pitchFamily="49" charset="0"/>
              </a:rPr>
              <a:t>其中</a:t>
            </a:r>
            <a:r>
              <a:rPr lang="en-US" altLang="zh-CN" b="0" dirty="0">
                <a:solidFill>
                  <a:srgbClr val="E1E4E8"/>
                </a:solidFill>
                <a:effectLst/>
                <a:latin typeface="Consolas" panose="020B0609020204030204" pitchFamily="49" charset="0"/>
              </a:rPr>
              <a:t>, </a:t>
            </a:r>
            <a:r>
              <a:rPr lang="en-US" altLang="zh-CN" b="0" dirty="0" err="1">
                <a:solidFill>
                  <a:srgbClr val="E1E4E8"/>
                </a:solidFill>
                <a:effectLst/>
                <a:latin typeface="Consolas" panose="020B0609020204030204" pitchFamily="49" charset="0"/>
              </a:rPr>
              <a:t>mcp</a:t>
            </a:r>
            <a:r>
              <a:rPr lang="zh-CN" altLang="en-US" b="0" dirty="0">
                <a:solidFill>
                  <a:srgbClr val="E1E4E8"/>
                </a:solidFill>
                <a:effectLst/>
                <a:latin typeface="Consolas" panose="020B0609020204030204" pitchFamily="49" charset="0"/>
              </a:rPr>
              <a:t>服务器就是一个服务器进程托管一块硬件</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这张图上是我们现在台架上的四块卡</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继电器输出卡</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多串口卡</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多功能采集卡</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模拟量输出卡</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每块卡下面列出来的就是它通过</a:t>
            </a:r>
            <a:r>
              <a:rPr lang="en-US" altLang="zh-CN" b="0" dirty="0" err="1">
                <a:solidFill>
                  <a:srgbClr val="E1E4E8"/>
                </a:solidFill>
                <a:effectLst/>
                <a:latin typeface="Consolas" panose="020B0609020204030204" pitchFamily="49" charset="0"/>
              </a:rPr>
              <a:t>mcp</a:t>
            </a:r>
            <a:r>
              <a:rPr lang="zh-CN" altLang="en-US" b="0" dirty="0">
                <a:solidFill>
                  <a:srgbClr val="E1E4E8"/>
                </a:solidFill>
                <a:effectLst/>
                <a:latin typeface="Consolas" panose="020B0609020204030204" pitchFamily="49" charset="0"/>
              </a:rPr>
              <a:t>协议对外提供的接口</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比如设继电器</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写串口文本</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读电压</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设电压</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任意一台测试终端都可以占用这块卡</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用完之后释放给别人用</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一个进程只托管一个硬件</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这样占用和释放的边界和硬件的物理边界是重合的</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一块卡崩了不会拖垮其他测试</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插拔硬件也不用改动其他服务</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之所以选</a:t>
            </a:r>
            <a:r>
              <a:rPr lang="en-US" altLang="zh-CN" b="0" dirty="0" err="1">
                <a:solidFill>
                  <a:srgbClr val="E1E4E8"/>
                </a:solidFill>
                <a:effectLst/>
                <a:latin typeface="Consolas" panose="020B0609020204030204" pitchFamily="49" charset="0"/>
              </a:rPr>
              <a:t>mcp</a:t>
            </a:r>
            <a:r>
              <a:rPr lang="zh-CN" altLang="en-US" b="0" dirty="0">
                <a:solidFill>
                  <a:srgbClr val="E1E4E8"/>
                </a:solidFill>
                <a:effectLst/>
                <a:latin typeface="Consolas" panose="020B0609020204030204" pitchFamily="49" charset="0"/>
              </a:rPr>
              <a:t>协议</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是因为它本来就是给</a:t>
            </a:r>
            <a:r>
              <a:rPr lang="en-US" altLang="zh-CN" b="0" dirty="0">
                <a:solidFill>
                  <a:srgbClr val="E1E4E8"/>
                </a:solidFill>
                <a:effectLst/>
                <a:latin typeface="Consolas" panose="020B0609020204030204" pitchFamily="49" charset="0"/>
              </a:rPr>
              <a:t>AI</a:t>
            </a:r>
            <a:r>
              <a:rPr lang="zh-CN" altLang="en-US" b="0" dirty="0">
                <a:solidFill>
                  <a:srgbClr val="E1E4E8"/>
                </a:solidFill>
                <a:effectLst/>
                <a:latin typeface="Consolas" panose="020B0609020204030204" pitchFamily="49" charset="0"/>
              </a:rPr>
              <a:t>设计的</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每个接口自带名称</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说明和参数</a:t>
            </a:r>
            <a:r>
              <a:rPr lang="en-US" altLang="zh-CN" b="0" dirty="0">
                <a:solidFill>
                  <a:srgbClr val="E1E4E8"/>
                </a:solidFill>
                <a:effectLst/>
                <a:latin typeface="Consolas" panose="020B0609020204030204" pitchFamily="49" charset="0"/>
              </a:rPr>
              <a:t>, AI</a:t>
            </a:r>
            <a:r>
              <a:rPr lang="zh-CN" altLang="en-US" b="0" dirty="0">
                <a:solidFill>
                  <a:srgbClr val="E1E4E8"/>
                </a:solidFill>
                <a:effectLst/>
                <a:latin typeface="Consolas" panose="020B0609020204030204" pitchFamily="49" charset="0"/>
              </a:rPr>
              <a:t>连上去就能自动发现这块卡有哪些能力</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该怎么调用</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不需要额外写文档</a:t>
            </a:r>
            <a:r>
              <a:rPr lang="en-US" altLang="zh-CN" b="0" dirty="0">
                <a:solidFill>
                  <a:srgbClr val="E1E4E8"/>
                </a:solidFill>
                <a:effectLst/>
                <a:latin typeface="Consolas" panose="020B0609020204030204" pitchFamily="49" charset="0"/>
              </a:rPr>
              <a:t>, </a:t>
            </a:r>
            <a:r>
              <a:rPr lang="zh-CN" altLang="en-US" b="0" dirty="0">
                <a:solidFill>
                  <a:srgbClr val="E1E4E8"/>
                </a:solidFill>
                <a:effectLst/>
                <a:latin typeface="Consolas" panose="020B0609020204030204" pitchFamily="49" charset="0"/>
              </a:rPr>
              <a:t>也不需要</a:t>
            </a:r>
            <a:r>
              <a:rPr lang="en-US" altLang="zh-CN" b="0" dirty="0">
                <a:solidFill>
                  <a:srgbClr val="E1E4E8"/>
                </a:solidFill>
                <a:effectLst/>
                <a:latin typeface="Consolas" panose="020B0609020204030204" pitchFamily="49" charset="0"/>
              </a:rPr>
              <a:t>AI</a:t>
            </a:r>
            <a:r>
              <a:rPr lang="zh-CN" altLang="en-US" b="0" dirty="0">
                <a:solidFill>
                  <a:srgbClr val="E1E4E8"/>
                </a:solidFill>
                <a:effectLst/>
                <a:latin typeface="Consolas" panose="020B0609020204030204" pitchFamily="49" charset="0"/>
              </a:rPr>
              <a:t>去读驱动源码</a:t>
            </a:r>
            <a:r>
              <a:rPr lang="en-US" altLang="zh-CN" b="0" dirty="0">
                <a:solidFill>
                  <a:srgbClr val="E1E4E8"/>
                </a:solidFill>
                <a:effectLst/>
                <a:latin typeface="Consolas" panose="020B0609020204030204" pitchFamily="49" charset="0"/>
              </a:rPr>
              <a:t>.</a:t>
            </a:r>
          </a:p>
          <a:p>
            <a:endParaRPr 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endParaRPr 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intelligent_universal_tes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altLang="zh-CN" smtClean="0"/>
              <a:t>9/24/2026</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intelligent_universal_tes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zh-CN" sz="1200">
                <a:solidFill>
                  <a:schemeClr val="tx1">
                    <a:tint val="75000"/>
                  </a:schemeClr>
                </a:solidFill>
              </a:defRPr>
            </a:lvl1pPr>
          </a:lstStyle>
          <a:p>
            <a:fld id="{5BCAD085-E8A6-8845-BD4E-CB4CCA059FC4}" type="datetimeFigureOut">
              <a:rPr lang="en-US" altLang="zh-CN" smtClean="0"/>
              <a:t>9/24/2026</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zh-CN" sz="1200">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zh-CN" sz="1200">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lang="zh-CN"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zh-CN"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zh-CN"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zh-CN"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zh-CN"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zh-CN"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zh-CN"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zh-CN"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zh-CN"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zh-CN" sz="900" kern="1200">
          <a:solidFill>
            <a:schemeClr val="tx1"/>
          </a:solidFill>
          <a:latin typeface="+mn-lt"/>
          <a:ea typeface="+mn-ea"/>
          <a:cs typeface="+mn-cs"/>
        </a:defRPr>
      </a:lvl9pPr>
    </p:bodyStyle>
    <p:otherStyle>
      <a:defPPr>
        <a:defRPr lang="zh-CN"/>
      </a:defPPr>
      <a:lvl1pPr marL="0" algn="l" defTabSz="457200" rtl="0" eaLnBrk="1" latinLnBrk="0" hangingPunct="1">
        <a:defRPr lang="zh-CN" sz="1800" kern="1200">
          <a:solidFill>
            <a:schemeClr val="tx1"/>
          </a:solidFill>
          <a:latin typeface="+mn-lt"/>
          <a:ea typeface="+mn-ea"/>
          <a:cs typeface="+mn-cs"/>
        </a:defRPr>
      </a:lvl1pPr>
      <a:lvl2pPr marL="457200" algn="l" defTabSz="457200" rtl="0" eaLnBrk="1" latinLnBrk="0" hangingPunct="1">
        <a:defRPr lang="zh-CN" sz="1700" kern="1200">
          <a:solidFill>
            <a:schemeClr val="tx1"/>
          </a:solidFill>
          <a:latin typeface="+mn-lt"/>
          <a:ea typeface="+mn-ea"/>
          <a:cs typeface="+mn-cs"/>
        </a:defRPr>
      </a:lvl2pPr>
      <a:lvl3pPr marL="914400" algn="l" defTabSz="457200" rtl="0" eaLnBrk="1" latinLnBrk="0" hangingPunct="1">
        <a:defRPr lang="zh-CN" sz="1600" kern="1200">
          <a:solidFill>
            <a:schemeClr val="tx1"/>
          </a:solidFill>
          <a:latin typeface="+mn-lt"/>
          <a:ea typeface="+mn-ea"/>
          <a:cs typeface="+mn-cs"/>
        </a:defRPr>
      </a:lvl3pPr>
      <a:lvl4pPr marL="1371600" algn="l" defTabSz="457200" rtl="0" eaLnBrk="1" latinLnBrk="0" hangingPunct="1">
        <a:defRPr lang="zh-CN" sz="1450" kern="1200">
          <a:solidFill>
            <a:schemeClr val="tx1"/>
          </a:solidFill>
          <a:latin typeface="+mn-lt"/>
          <a:ea typeface="+mn-ea"/>
          <a:cs typeface="+mn-cs"/>
        </a:defRPr>
      </a:lvl4pPr>
      <a:lvl5pPr marL="1828800" algn="l" defTabSz="457200" rtl="0" eaLnBrk="1" latinLnBrk="0" hangingPunct="1">
        <a:defRPr lang="zh-CN" sz="1350" kern="1200">
          <a:solidFill>
            <a:schemeClr val="tx1"/>
          </a:solidFill>
          <a:latin typeface="+mn-lt"/>
          <a:ea typeface="+mn-ea"/>
          <a:cs typeface="+mn-cs"/>
        </a:defRPr>
      </a:lvl5pPr>
      <a:lvl6pPr marL="2286000" algn="l" defTabSz="457200" rtl="0" eaLnBrk="1" latinLnBrk="0" hangingPunct="1">
        <a:defRPr lang="zh-CN" sz="1250" kern="1200">
          <a:solidFill>
            <a:schemeClr val="tx1"/>
          </a:solidFill>
          <a:latin typeface="+mn-lt"/>
          <a:ea typeface="+mn-ea"/>
          <a:cs typeface="+mn-cs"/>
        </a:defRPr>
      </a:lvl6pPr>
      <a:lvl7pPr marL="2743200" algn="l" defTabSz="457200" rtl="0" eaLnBrk="1" latinLnBrk="0" hangingPunct="1">
        <a:defRPr lang="zh-CN" sz="1100" kern="1200">
          <a:solidFill>
            <a:schemeClr val="tx1"/>
          </a:solidFill>
          <a:latin typeface="+mn-lt"/>
          <a:ea typeface="+mn-ea"/>
          <a:cs typeface="+mn-cs"/>
        </a:defRPr>
      </a:lvl7pPr>
      <a:lvl8pPr marL="3200400" algn="l" defTabSz="457200" rtl="0" eaLnBrk="1" latinLnBrk="0" hangingPunct="1">
        <a:defRPr lang="zh-CN" sz="1000" kern="1200">
          <a:solidFill>
            <a:schemeClr val="tx1"/>
          </a:solidFill>
          <a:latin typeface="+mn-lt"/>
          <a:ea typeface="+mn-ea"/>
          <a:cs typeface="+mn-cs"/>
        </a:defRPr>
      </a:lvl8pPr>
      <a:lvl9pPr marL="3657600" algn="l" defTabSz="457200" rtl="0" eaLnBrk="1" latinLnBrk="0" hangingPunct="1">
        <a:defRPr lang="zh-CN"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6.jp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7" name="TextBox 7"/>
          <p:cNvSpPr txBox="1"/>
          <p:nvPr/>
        </p:nvSpPr>
        <p:spPr>
          <a:xfrm>
            <a:off x="5056453" y="5265807"/>
            <a:ext cx="2079094" cy="207749"/>
          </a:xfrm>
          <a:prstGeom prst="rect">
            <a:avLst/>
          </a:prstGeom>
          <a:noFill/>
          <a:ln>
            <a:noFill/>
          </a:ln>
        </p:spPr>
        <p:txBody>
          <a:bodyPr wrap="none" lIns="0" tIns="0" rIns="0" bIns="0" anchor="t" anchorCtr="0">
            <a:spAutoFit/>
          </a:bodyPr>
          <a:lstStyle/>
          <a:p>
            <a:pPr algn="ctr"/>
            <a:r>
              <a:rPr lang="zh-CN" altLang="en-US" sz="1350" dirty="0">
                <a:solidFill>
                  <a:schemeClr val="accent5"/>
                </a:solidFill>
              </a:rPr>
              <a:t>西安拓天智控</a:t>
            </a:r>
            <a:r>
              <a:rPr lang="en-US" altLang="zh-CN" sz="1350" dirty="0">
                <a:solidFill>
                  <a:schemeClr val="accent5"/>
                </a:solidFill>
              </a:rPr>
              <a:t> </a:t>
            </a:r>
            <a:r>
              <a:rPr lang="zh-CN" sz="1350" dirty="0">
                <a:solidFill>
                  <a:schemeClr val="accent5"/>
                </a:solidFill>
                <a:latin typeface="+mn-lt"/>
                <a:ea typeface="+mn-ea"/>
                <a:cs typeface="+mn-cs"/>
              </a:rPr>
              <a:t>2026-09-22</a:t>
            </a:r>
          </a:p>
        </p:txBody>
      </p:sp>
      <p:grpSp>
        <p:nvGrpSpPr>
          <p:cNvPr id="10" name="cover-title"/>
          <p:cNvGrpSpPr/>
          <p:nvPr/>
        </p:nvGrpSpPr>
        <p:grpSpPr>
          <a:xfrm>
            <a:off x="561974" y="2075670"/>
            <a:ext cx="11068051" cy="1231106"/>
            <a:chOff x="561974" y="1354851"/>
            <a:chExt cx="11068051" cy="1231106"/>
          </a:xfrm>
        </p:grpSpPr>
        <p:sp>
          <p:nvSpPr>
            <p:cNvPr id="9" name="TextBox 9"/>
            <p:cNvSpPr txBox="1"/>
            <p:nvPr/>
          </p:nvSpPr>
          <p:spPr>
            <a:xfrm>
              <a:off x="561974" y="1354851"/>
              <a:ext cx="11068051" cy="1231106"/>
            </a:xfrm>
            <a:prstGeom prst="rect">
              <a:avLst/>
            </a:prstGeom>
            <a:noFill/>
            <a:ln>
              <a:noFill/>
            </a:ln>
          </p:spPr>
          <p:txBody>
            <a:bodyPr wrap="square" lIns="0" tIns="0" rIns="0" bIns="0" anchor="t" anchorCtr="0">
              <a:spAutoFit/>
            </a:bodyPr>
            <a:lstStyle/>
            <a:p>
              <a:pPr algn="ctr">
                <a:lnSpc>
                  <a:spcPts val="9600"/>
                </a:lnSpc>
              </a:pPr>
              <a:r>
                <a:rPr lang="zh-CN" sz="9600" b="1" dirty="0">
                  <a:solidFill>
                    <a:schemeClr val="accent1"/>
                  </a:solidFill>
                  <a:latin typeface="+mj-lt"/>
                  <a:ea typeface="+mj-ea"/>
                  <a:cs typeface="+mj-cs"/>
                </a:rPr>
                <a:t>智能化通用测试软件</a:t>
              </a:r>
            </a:p>
          </p:txBody>
        </p:sp>
      </p:grpSp>
      <p:sp>
        <p:nvSpPr>
          <p:cNvPr id="11" name="Line 11"/>
          <p:cNvSpPr/>
          <p:nvPr/>
        </p:nvSpPr>
        <p:spPr>
          <a:xfrm>
            <a:off x="1902037" y="3858181"/>
            <a:ext cx="8146386" cy="45719"/>
          </a:xfrm>
          <a:custGeom>
            <a:avLst/>
            <a:gdLst/>
            <a:ahLst/>
            <a:cxnLst/>
            <a:rect l="l" t="t" r="r" b="b"/>
            <a:pathLst>
              <a:path w="4191000" h="9525">
                <a:moveTo>
                  <a:pt x="0" y="0"/>
                </a:moveTo>
                <a:lnTo>
                  <a:pt x="4191000" y="0"/>
                </a:lnTo>
              </a:path>
            </a:pathLst>
          </a:custGeom>
          <a:noFill/>
          <a:ln w="19050">
            <a:solidFill>
              <a:schemeClr val="accent2"/>
            </a:solidFill>
          </a:ln>
        </p:spPr>
      </p:sp>
      <p:grpSp>
        <p:nvGrpSpPr>
          <p:cNvPr id="14" name="cover-statement"/>
          <p:cNvGrpSpPr/>
          <p:nvPr/>
        </p:nvGrpSpPr>
        <p:grpSpPr>
          <a:xfrm>
            <a:off x="1902037" y="4137315"/>
            <a:ext cx="8146386" cy="485672"/>
            <a:chOff x="2022807" y="4712830"/>
            <a:chExt cx="8146386" cy="485672"/>
          </a:xfrm>
        </p:grpSpPr>
        <p:sp>
          <p:nvSpPr>
            <p:cNvPr id="12" name="TextBox 12"/>
            <p:cNvSpPr txBox="1"/>
            <p:nvPr/>
          </p:nvSpPr>
          <p:spPr>
            <a:xfrm>
              <a:off x="2022807" y="4890020"/>
              <a:ext cx="3000821" cy="308482"/>
            </a:xfrm>
            <a:prstGeom prst="rect">
              <a:avLst/>
            </a:prstGeom>
            <a:noFill/>
            <a:ln>
              <a:noFill/>
            </a:ln>
          </p:spPr>
          <p:txBody>
            <a:bodyPr wrap="none" lIns="0" tIns="0" rIns="0" bIns="0" anchor="t" anchorCtr="0">
              <a:spAutoFit/>
            </a:bodyPr>
            <a:lstStyle/>
            <a:p>
              <a:pPr algn="l">
                <a:lnSpc>
                  <a:spcPts val="2550"/>
                </a:lnSpc>
              </a:pPr>
              <a:r>
                <a:rPr lang="zh-CN" sz="1800" dirty="0">
                  <a:solidFill>
                    <a:schemeClr val="dk1"/>
                  </a:solidFill>
                  <a:latin typeface="+mn-lt"/>
                  <a:ea typeface="+mn-ea"/>
                  <a:cs typeface="+mn-cs"/>
                </a:rPr>
                <a:t>测试工程师在现场自己搭测试</a:t>
              </a:r>
            </a:p>
          </p:txBody>
        </p:sp>
        <p:sp>
          <p:nvSpPr>
            <p:cNvPr id="13" name="TextBox 13"/>
            <p:cNvSpPr txBox="1"/>
            <p:nvPr/>
          </p:nvSpPr>
          <p:spPr>
            <a:xfrm>
              <a:off x="5321712" y="4712830"/>
              <a:ext cx="4847481" cy="484748"/>
            </a:xfrm>
            <a:prstGeom prst="rect">
              <a:avLst/>
            </a:prstGeom>
            <a:noFill/>
            <a:ln>
              <a:noFill/>
            </a:ln>
          </p:spPr>
          <p:txBody>
            <a:bodyPr wrap="none" lIns="0" tIns="0" rIns="0" bIns="0" anchor="t" anchorCtr="0">
              <a:spAutoFit/>
            </a:bodyPr>
            <a:lstStyle/>
            <a:p>
              <a:pPr algn="l"/>
              <a:r>
                <a:rPr lang="zh-CN" altLang="en-US" sz="3150" b="1" dirty="0">
                  <a:solidFill>
                    <a:schemeClr val="accent1"/>
                  </a:solidFill>
                  <a:latin typeface="+mj-lt"/>
                  <a:ea typeface="+mj-ea"/>
                  <a:cs typeface="+mj-cs"/>
                </a:rPr>
                <a:t>测试设备和软件不用再外包</a:t>
              </a:r>
              <a:endParaRPr lang="zh-CN" sz="3150" b="1" dirty="0">
                <a:solidFill>
                  <a:schemeClr val="accent1"/>
                </a:solidFill>
                <a:latin typeface="+mj-lt"/>
                <a:ea typeface="+mj-ea"/>
                <a:cs typeface="+mj-cs"/>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02-header"/>
          <p:cNvGrpSpPr/>
          <p:nvPr/>
        </p:nvGrpSpPr>
        <p:grpSpPr>
          <a:xfrm>
            <a:off x="974598" y="844868"/>
            <a:ext cx="7675178" cy="766688"/>
            <a:chOff x="974598" y="844868"/>
            <a:chExt cx="7675178" cy="766688"/>
          </a:xfrm>
        </p:grpSpPr>
        <p:sp>
          <p:nvSpPr>
            <p:cNvPr id="3" name="TextBox 3"/>
            <p:cNvSpPr txBox="1"/>
            <p:nvPr/>
          </p:nvSpPr>
          <p:spPr>
            <a:xfrm>
              <a:off x="983742" y="844868"/>
              <a:ext cx="92240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困境与矛盾</a:t>
              </a:r>
            </a:p>
          </p:txBody>
        </p:sp>
        <p:sp>
          <p:nvSpPr>
            <p:cNvPr id="4" name="TextBox 4"/>
            <p:cNvSpPr txBox="1"/>
            <p:nvPr/>
          </p:nvSpPr>
          <p:spPr>
            <a:xfrm>
              <a:off x="974598" y="1126808"/>
              <a:ext cx="7675178" cy="484748"/>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每一个</a:t>
              </a:r>
              <a:r>
                <a:rPr lang="zh-CN" altLang="en-US" sz="3150" b="1" dirty="0">
                  <a:solidFill>
                    <a:schemeClr val="accent1"/>
                  </a:solidFill>
                  <a:latin typeface="+mj-lt"/>
                  <a:ea typeface="+mj-ea"/>
                  <a:cs typeface="+mj-cs"/>
                </a:rPr>
                <a:t>被测对象</a:t>
              </a:r>
              <a:r>
                <a:rPr lang="zh-CN" sz="3150" b="1" dirty="0">
                  <a:solidFill>
                    <a:schemeClr val="accent1"/>
                  </a:solidFill>
                  <a:latin typeface="+mj-lt"/>
                  <a:ea typeface="+mj-ea"/>
                  <a:cs typeface="+mj-cs"/>
                </a:rPr>
                <a:t>，</a:t>
              </a:r>
              <a:r>
                <a:rPr lang="zh-CN" altLang="en-US" sz="3150" b="1" dirty="0">
                  <a:solidFill>
                    <a:schemeClr val="accent1"/>
                  </a:solidFill>
                  <a:latin typeface="+mj-lt"/>
                  <a:ea typeface="+mj-ea"/>
                  <a:cs typeface="+mj-cs"/>
                </a:rPr>
                <a:t>定制</a:t>
              </a:r>
              <a:r>
                <a:rPr lang="zh-CN" sz="3150" b="1" dirty="0">
                  <a:solidFill>
                    <a:schemeClr val="accent1"/>
                  </a:solidFill>
                  <a:latin typeface="+mj-lt"/>
                  <a:ea typeface="+mj-ea"/>
                  <a:cs typeface="+mj-cs"/>
                </a:rPr>
                <a:t>一套测试软件</a:t>
              </a:r>
              <a:r>
                <a:rPr lang="zh-CN" altLang="en-US" sz="3150" b="1" dirty="0">
                  <a:solidFill>
                    <a:schemeClr val="accent1"/>
                  </a:solidFill>
                  <a:latin typeface="+mj-lt"/>
                  <a:ea typeface="+mj-ea"/>
                  <a:cs typeface="+mj-cs"/>
                </a:rPr>
                <a:t>和设备</a:t>
              </a:r>
              <a:endParaRPr lang="zh-CN" sz="3150" b="1" dirty="0">
                <a:solidFill>
                  <a:schemeClr val="accent1"/>
                </a:solidFill>
                <a:latin typeface="+mj-lt"/>
                <a:ea typeface="+mj-ea"/>
                <a:cs typeface="+mj-cs"/>
              </a:endParaRPr>
            </a:p>
          </p:txBody>
        </p:sp>
      </p:grpSp>
      <p:sp>
        <p:nvSpPr>
          <p:cNvPr id="6" name="Line 6"/>
          <p:cNvSpPr/>
          <p:nvPr/>
        </p:nvSpPr>
        <p:spPr>
          <a:xfrm>
            <a:off x="990600" y="1676400"/>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12" name="p02-diff-1"/>
          <p:cNvGrpSpPr/>
          <p:nvPr/>
        </p:nvGrpSpPr>
        <p:grpSpPr>
          <a:xfrm>
            <a:off x="981456" y="1943100"/>
            <a:ext cx="2378583" cy="975551"/>
            <a:chOff x="981456" y="1943100"/>
            <a:chExt cx="2378583" cy="975551"/>
          </a:xfrm>
        </p:grpSpPr>
        <p:grpSp>
          <p:nvGrpSpPr>
            <p:cNvPr id="9" name="Group 9"/>
            <p:cNvGrpSpPr/>
            <p:nvPr/>
          </p:nvGrpSpPr>
          <p:grpSpPr>
            <a:xfrm>
              <a:off x="990600" y="1943100"/>
              <a:ext cx="266700" cy="266700"/>
              <a:chOff x="990600" y="1943100"/>
              <a:chExt cx="266700" cy="266700"/>
            </a:xfrm>
          </p:grpSpPr>
          <p:sp>
            <p:nvSpPr>
              <p:cNvPr id="7" name="Freeform 7"/>
              <p:cNvSpPr/>
              <p:nvPr/>
            </p:nvSpPr>
            <p:spPr>
              <a:xfrm>
                <a:off x="1090612" y="2043112"/>
                <a:ext cx="66675" cy="66675"/>
              </a:xfrm>
              <a:custGeom>
                <a:avLst/>
                <a:gdLst/>
                <a:ahLst/>
                <a:cxnLst/>
                <a:rect l="l" t="t" r="r" b="b"/>
                <a:pathLst>
                  <a:path w="66675" h="66675">
                    <a:moveTo>
                      <a:pt x="0" y="66675"/>
                    </a:moveTo>
                    <a:lnTo>
                      <a:pt x="0" y="0"/>
                    </a:lnTo>
                    <a:lnTo>
                      <a:pt x="66675" y="0"/>
                    </a:lnTo>
                    <a:lnTo>
                      <a:pt x="66675" y="66675"/>
                    </a:lnTo>
                    <a:lnTo>
                      <a:pt x="0" y="66675"/>
                    </a:lnTo>
                    <a:close/>
                  </a:path>
                </a:pathLst>
              </a:custGeom>
              <a:solidFill>
                <a:schemeClr val="accent3"/>
              </a:solidFill>
              <a:ln>
                <a:noFill/>
              </a:ln>
            </p:spPr>
          </p:sp>
          <p:sp>
            <p:nvSpPr>
              <p:cNvPr id="8" name="Freeform 8"/>
              <p:cNvSpPr/>
              <p:nvPr/>
            </p:nvSpPr>
            <p:spPr>
              <a:xfrm>
                <a:off x="990600" y="1943100"/>
                <a:ext cx="266700" cy="266700"/>
              </a:xfrm>
              <a:custGeom>
                <a:avLst/>
                <a:gdLst/>
                <a:ahLst/>
                <a:cxnLst/>
                <a:rect l="l" t="t" r="r" b="b"/>
                <a:pathLst>
                  <a:path w="266700" h="266700">
                    <a:moveTo>
                      <a:pt x="50006" y="33338"/>
                    </a:moveTo>
                    <a:lnTo>
                      <a:pt x="50006" y="0"/>
                    </a:lnTo>
                    <a:lnTo>
                      <a:pt x="83344" y="0"/>
                    </a:lnTo>
                    <a:lnTo>
                      <a:pt x="83344" y="33338"/>
                    </a:lnTo>
                    <a:lnTo>
                      <a:pt x="116681" y="33338"/>
                    </a:lnTo>
                    <a:lnTo>
                      <a:pt x="116681" y="0"/>
                    </a:lnTo>
                    <a:lnTo>
                      <a:pt x="150019" y="0"/>
                    </a:lnTo>
                    <a:lnTo>
                      <a:pt x="150019" y="33338"/>
                    </a:lnTo>
                    <a:lnTo>
                      <a:pt x="183356" y="33338"/>
                    </a:lnTo>
                    <a:lnTo>
                      <a:pt x="183356" y="0"/>
                    </a:lnTo>
                    <a:lnTo>
                      <a:pt x="216694" y="0"/>
                    </a:lnTo>
                    <a:lnTo>
                      <a:pt x="216694" y="33338"/>
                    </a:lnTo>
                    <a:lnTo>
                      <a:pt x="233362" y="33338"/>
                    </a:lnTo>
                    <a:lnTo>
                      <a:pt x="233362" y="50006"/>
                    </a:lnTo>
                    <a:lnTo>
                      <a:pt x="266700" y="50006"/>
                    </a:lnTo>
                    <a:lnTo>
                      <a:pt x="266700" y="83344"/>
                    </a:lnTo>
                    <a:lnTo>
                      <a:pt x="233362" y="83344"/>
                    </a:lnTo>
                    <a:lnTo>
                      <a:pt x="233362" y="116681"/>
                    </a:lnTo>
                    <a:lnTo>
                      <a:pt x="266700" y="116681"/>
                    </a:lnTo>
                    <a:lnTo>
                      <a:pt x="266700" y="150019"/>
                    </a:lnTo>
                    <a:lnTo>
                      <a:pt x="233362" y="150019"/>
                    </a:lnTo>
                    <a:lnTo>
                      <a:pt x="233362" y="183356"/>
                    </a:lnTo>
                    <a:lnTo>
                      <a:pt x="266700" y="183356"/>
                    </a:lnTo>
                    <a:lnTo>
                      <a:pt x="266700" y="216694"/>
                    </a:lnTo>
                    <a:lnTo>
                      <a:pt x="233362" y="216694"/>
                    </a:lnTo>
                    <a:lnTo>
                      <a:pt x="233362" y="233362"/>
                    </a:lnTo>
                    <a:lnTo>
                      <a:pt x="216694" y="233362"/>
                    </a:lnTo>
                    <a:lnTo>
                      <a:pt x="216694" y="266700"/>
                    </a:lnTo>
                    <a:lnTo>
                      <a:pt x="183356" y="266700"/>
                    </a:lnTo>
                    <a:lnTo>
                      <a:pt x="183356" y="233362"/>
                    </a:lnTo>
                    <a:lnTo>
                      <a:pt x="150019" y="233362"/>
                    </a:lnTo>
                    <a:lnTo>
                      <a:pt x="150019" y="266700"/>
                    </a:lnTo>
                    <a:lnTo>
                      <a:pt x="116681" y="266700"/>
                    </a:lnTo>
                    <a:lnTo>
                      <a:pt x="116681" y="233362"/>
                    </a:lnTo>
                    <a:lnTo>
                      <a:pt x="83344" y="233362"/>
                    </a:lnTo>
                    <a:lnTo>
                      <a:pt x="83344" y="266700"/>
                    </a:lnTo>
                    <a:lnTo>
                      <a:pt x="50006" y="266700"/>
                    </a:lnTo>
                    <a:lnTo>
                      <a:pt x="50006" y="233362"/>
                    </a:lnTo>
                    <a:lnTo>
                      <a:pt x="33338" y="233362"/>
                    </a:lnTo>
                    <a:lnTo>
                      <a:pt x="33338" y="216694"/>
                    </a:lnTo>
                    <a:lnTo>
                      <a:pt x="0" y="216694"/>
                    </a:lnTo>
                    <a:lnTo>
                      <a:pt x="0" y="183356"/>
                    </a:lnTo>
                    <a:lnTo>
                      <a:pt x="33338" y="183356"/>
                    </a:lnTo>
                    <a:lnTo>
                      <a:pt x="33338" y="150019"/>
                    </a:lnTo>
                    <a:lnTo>
                      <a:pt x="0" y="150019"/>
                    </a:lnTo>
                    <a:lnTo>
                      <a:pt x="0" y="116681"/>
                    </a:lnTo>
                    <a:lnTo>
                      <a:pt x="33338" y="116681"/>
                    </a:lnTo>
                    <a:lnTo>
                      <a:pt x="33338" y="83344"/>
                    </a:lnTo>
                    <a:lnTo>
                      <a:pt x="0" y="83344"/>
                    </a:lnTo>
                    <a:lnTo>
                      <a:pt x="0" y="50006"/>
                    </a:lnTo>
                    <a:lnTo>
                      <a:pt x="33338" y="50006"/>
                    </a:lnTo>
                    <a:lnTo>
                      <a:pt x="33338" y="33338"/>
                    </a:lnTo>
                    <a:lnTo>
                      <a:pt x="50006" y="33338"/>
                    </a:lnTo>
                    <a:close/>
                    <a:moveTo>
                      <a:pt x="66675" y="66675"/>
                    </a:moveTo>
                    <a:lnTo>
                      <a:pt x="66675" y="200025"/>
                    </a:lnTo>
                    <a:lnTo>
                      <a:pt x="200025" y="200025"/>
                    </a:lnTo>
                    <a:lnTo>
                      <a:pt x="200025" y="66675"/>
                    </a:lnTo>
                    <a:lnTo>
                      <a:pt x="66675" y="66675"/>
                    </a:lnTo>
                    <a:close/>
                  </a:path>
                </a:pathLst>
              </a:custGeom>
              <a:solidFill>
                <a:schemeClr val="accent3"/>
              </a:solidFill>
              <a:ln>
                <a:noFill/>
              </a:ln>
            </p:spPr>
          </p:sp>
        </p:grpSp>
        <p:sp>
          <p:nvSpPr>
            <p:cNvPr id="10" name="TextBox 10"/>
            <p:cNvSpPr txBox="1"/>
            <p:nvPr/>
          </p:nvSpPr>
          <p:spPr>
            <a:xfrm>
              <a:off x="981456" y="230124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被测产品不同</a:t>
              </a:r>
            </a:p>
          </p:txBody>
        </p:sp>
        <p:sp>
          <p:nvSpPr>
            <p:cNvPr id="11" name="TextBox 11"/>
            <p:cNvSpPr txBox="1"/>
            <p:nvPr/>
          </p:nvSpPr>
          <p:spPr>
            <a:xfrm>
              <a:off x="983742" y="2654618"/>
              <a:ext cx="237629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接口、协议、供电、时序不同</a:t>
              </a:r>
            </a:p>
          </p:txBody>
        </p:sp>
      </p:grpSp>
      <p:grpSp>
        <p:nvGrpSpPr>
          <p:cNvPr id="18" name="p02-diff-2"/>
          <p:cNvGrpSpPr/>
          <p:nvPr/>
        </p:nvGrpSpPr>
        <p:grpSpPr>
          <a:xfrm>
            <a:off x="4610481" y="1959769"/>
            <a:ext cx="1730502" cy="1206532"/>
            <a:chOff x="4610481" y="1959769"/>
            <a:chExt cx="1730502" cy="1206532"/>
          </a:xfrm>
        </p:grpSpPr>
        <p:grpSp>
          <p:nvGrpSpPr>
            <p:cNvPr id="15" name="Group 15"/>
            <p:cNvGrpSpPr/>
            <p:nvPr/>
          </p:nvGrpSpPr>
          <p:grpSpPr>
            <a:xfrm>
              <a:off x="4636294" y="1959769"/>
              <a:ext cx="233362" cy="233362"/>
              <a:chOff x="4636294" y="1959769"/>
              <a:chExt cx="233362" cy="233362"/>
            </a:xfrm>
          </p:grpSpPr>
          <p:sp>
            <p:nvSpPr>
              <p:cNvPr id="13" name="Freeform 13"/>
              <p:cNvSpPr/>
              <p:nvPr/>
            </p:nvSpPr>
            <p:spPr>
              <a:xfrm>
                <a:off x="4636294" y="1959769"/>
                <a:ext cx="233362" cy="100012"/>
              </a:xfrm>
              <a:custGeom>
                <a:avLst/>
                <a:gdLst/>
                <a:ahLst/>
                <a:cxnLst/>
                <a:rect l="l" t="t" r="r" b="b"/>
                <a:pathLst>
                  <a:path w="233362" h="100012">
                    <a:moveTo>
                      <a:pt x="33338" y="0"/>
                    </a:moveTo>
                    <a:lnTo>
                      <a:pt x="116681" y="0"/>
                    </a:lnTo>
                    <a:lnTo>
                      <a:pt x="116681" y="33338"/>
                    </a:lnTo>
                    <a:lnTo>
                      <a:pt x="233362" y="33338"/>
                    </a:lnTo>
                    <a:lnTo>
                      <a:pt x="233362" y="66675"/>
                    </a:lnTo>
                    <a:lnTo>
                      <a:pt x="116681" y="66675"/>
                    </a:lnTo>
                    <a:lnTo>
                      <a:pt x="116681" y="100012"/>
                    </a:lnTo>
                    <a:lnTo>
                      <a:pt x="33338" y="100012"/>
                    </a:lnTo>
                    <a:lnTo>
                      <a:pt x="33338" y="66675"/>
                    </a:lnTo>
                    <a:lnTo>
                      <a:pt x="0" y="66675"/>
                    </a:lnTo>
                    <a:lnTo>
                      <a:pt x="0" y="33338"/>
                    </a:lnTo>
                    <a:lnTo>
                      <a:pt x="33338" y="33338"/>
                    </a:lnTo>
                    <a:lnTo>
                      <a:pt x="33338" y="0"/>
                    </a:lnTo>
                    <a:close/>
                  </a:path>
                </a:pathLst>
              </a:custGeom>
              <a:solidFill>
                <a:schemeClr val="accent3"/>
              </a:solidFill>
              <a:ln>
                <a:noFill/>
              </a:ln>
            </p:spPr>
          </p:sp>
          <p:sp>
            <p:nvSpPr>
              <p:cNvPr id="14" name="Freeform 14"/>
              <p:cNvSpPr/>
              <p:nvPr/>
            </p:nvSpPr>
            <p:spPr>
              <a:xfrm>
                <a:off x="4636294" y="2093119"/>
                <a:ext cx="233362" cy="100012"/>
              </a:xfrm>
              <a:custGeom>
                <a:avLst/>
                <a:gdLst/>
                <a:ahLst/>
                <a:cxnLst/>
                <a:rect l="l" t="t" r="r" b="b"/>
                <a:pathLst>
                  <a:path w="233362" h="100012">
                    <a:moveTo>
                      <a:pt x="200025" y="66675"/>
                    </a:moveTo>
                    <a:lnTo>
                      <a:pt x="233362" y="66675"/>
                    </a:lnTo>
                    <a:lnTo>
                      <a:pt x="233362" y="33338"/>
                    </a:lnTo>
                    <a:lnTo>
                      <a:pt x="200025" y="33338"/>
                    </a:lnTo>
                    <a:lnTo>
                      <a:pt x="200025" y="0"/>
                    </a:lnTo>
                    <a:lnTo>
                      <a:pt x="116681" y="0"/>
                    </a:lnTo>
                    <a:lnTo>
                      <a:pt x="116681" y="33338"/>
                    </a:lnTo>
                    <a:lnTo>
                      <a:pt x="0" y="33338"/>
                    </a:lnTo>
                    <a:lnTo>
                      <a:pt x="0" y="66675"/>
                    </a:lnTo>
                    <a:lnTo>
                      <a:pt x="116681" y="66675"/>
                    </a:lnTo>
                    <a:lnTo>
                      <a:pt x="116681" y="100012"/>
                    </a:lnTo>
                    <a:lnTo>
                      <a:pt x="200025" y="100012"/>
                    </a:lnTo>
                    <a:lnTo>
                      <a:pt x="200025" y="66675"/>
                    </a:lnTo>
                    <a:close/>
                  </a:path>
                </a:pathLst>
              </a:custGeom>
              <a:solidFill>
                <a:schemeClr val="accent3"/>
              </a:solidFill>
              <a:ln>
                <a:noFill/>
              </a:ln>
            </p:spPr>
          </p:sp>
        </p:grpSp>
        <p:sp>
          <p:nvSpPr>
            <p:cNvPr id="16" name="TextBox 16"/>
            <p:cNvSpPr txBox="1"/>
            <p:nvPr/>
          </p:nvSpPr>
          <p:spPr>
            <a:xfrm>
              <a:off x="4610481" y="230124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测试设备不同</a:t>
              </a:r>
            </a:p>
          </p:txBody>
        </p:sp>
        <p:sp>
          <p:nvSpPr>
            <p:cNvPr id="17" name="TextBox 17"/>
            <p:cNvSpPr txBox="1"/>
            <p:nvPr/>
          </p:nvSpPr>
          <p:spPr>
            <a:xfrm>
              <a:off x="4612767" y="2654618"/>
              <a:ext cx="17282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采集卡、电源、串口、</a:t>
              </a:r>
              <a:br/>
              <a:r>
                <a:rPr lang="zh-CN" sz="1350" dirty="0">
                  <a:solidFill>
                    <a:schemeClr val="accent5"/>
                  </a:solidFill>
                  <a:latin typeface="+mn-lt"/>
                  <a:ea typeface="+mn-ea"/>
                  <a:cs typeface="+mn-cs"/>
                </a:rPr>
                <a:t>继电器 SDK 不同</a:t>
              </a:r>
            </a:p>
          </p:txBody>
        </p:sp>
      </p:grpSp>
      <p:grpSp>
        <p:nvGrpSpPr>
          <p:cNvPr id="28" name="p02-diff-3"/>
          <p:cNvGrpSpPr/>
          <p:nvPr/>
        </p:nvGrpSpPr>
        <p:grpSpPr>
          <a:xfrm>
            <a:off x="8249031" y="1959769"/>
            <a:ext cx="1730502" cy="1206532"/>
            <a:chOff x="8249031" y="1959769"/>
            <a:chExt cx="1730502" cy="1206532"/>
          </a:xfrm>
        </p:grpSpPr>
        <p:grpSp>
          <p:nvGrpSpPr>
            <p:cNvPr id="25" name="Group 25"/>
            <p:cNvGrpSpPr/>
            <p:nvPr/>
          </p:nvGrpSpPr>
          <p:grpSpPr>
            <a:xfrm>
              <a:off x="8270231" y="1959769"/>
              <a:ext cx="237975" cy="233363"/>
              <a:chOff x="8270231" y="1959769"/>
              <a:chExt cx="237975" cy="233363"/>
            </a:xfrm>
          </p:grpSpPr>
          <p:sp>
            <p:nvSpPr>
              <p:cNvPr id="19" name="Freeform 19"/>
              <p:cNvSpPr/>
              <p:nvPr/>
            </p:nvSpPr>
            <p:spPr>
              <a:xfrm>
                <a:off x="8374856" y="1959769"/>
                <a:ext cx="133350" cy="33338"/>
              </a:xfrm>
              <a:custGeom>
                <a:avLst/>
                <a:gdLst/>
                <a:ahLst/>
                <a:cxnLst/>
                <a:rect l="l" t="t" r="r" b="b"/>
                <a:pathLst>
                  <a:path w="133350" h="33338">
                    <a:moveTo>
                      <a:pt x="0" y="0"/>
                    </a:moveTo>
                    <a:lnTo>
                      <a:pt x="133350" y="0"/>
                    </a:lnTo>
                    <a:lnTo>
                      <a:pt x="133350" y="33338"/>
                    </a:lnTo>
                    <a:lnTo>
                      <a:pt x="0" y="33338"/>
                    </a:lnTo>
                    <a:lnTo>
                      <a:pt x="0" y="0"/>
                    </a:lnTo>
                    <a:close/>
                  </a:path>
                </a:pathLst>
              </a:custGeom>
              <a:solidFill>
                <a:schemeClr val="accent3"/>
              </a:solidFill>
              <a:ln>
                <a:noFill/>
              </a:ln>
            </p:spPr>
          </p:sp>
          <p:sp>
            <p:nvSpPr>
              <p:cNvPr id="20" name="Freeform 20"/>
              <p:cNvSpPr/>
              <p:nvPr/>
            </p:nvSpPr>
            <p:spPr>
              <a:xfrm>
                <a:off x="8374856" y="2026444"/>
                <a:ext cx="133350" cy="33338"/>
              </a:xfrm>
              <a:custGeom>
                <a:avLst/>
                <a:gdLst/>
                <a:ahLst/>
                <a:cxnLst/>
                <a:rect l="l" t="t" r="r" b="b"/>
                <a:pathLst>
                  <a:path w="133350" h="33338">
                    <a:moveTo>
                      <a:pt x="0" y="0"/>
                    </a:moveTo>
                    <a:lnTo>
                      <a:pt x="133350" y="0"/>
                    </a:lnTo>
                    <a:lnTo>
                      <a:pt x="133350" y="33338"/>
                    </a:lnTo>
                    <a:lnTo>
                      <a:pt x="0" y="33338"/>
                    </a:lnTo>
                    <a:lnTo>
                      <a:pt x="0" y="0"/>
                    </a:lnTo>
                    <a:close/>
                  </a:path>
                </a:pathLst>
              </a:custGeom>
              <a:solidFill>
                <a:schemeClr val="accent3"/>
              </a:solidFill>
              <a:ln>
                <a:noFill/>
              </a:ln>
            </p:spPr>
          </p:sp>
          <p:sp>
            <p:nvSpPr>
              <p:cNvPr id="21" name="Freeform 21"/>
              <p:cNvSpPr/>
              <p:nvPr/>
            </p:nvSpPr>
            <p:spPr>
              <a:xfrm>
                <a:off x="8374856" y="2093119"/>
                <a:ext cx="133350" cy="33338"/>
              </a:xfrm>
              <a:custGeom>
                <a:avLst/>
                <a:gdLst/>
                <a:ahLst/>
                <a:cxnLst/>
                <a:rect l="l" t="t" r="r" b="b"/>
                <a:pathLst>
                  <a:path w="133350" h="33338">
                    <a:moveTo>
                      <a:pt x="133350" y="0"/>
                    </a:moveTo>
                    <a:lnTo>
                      <a:pt x="0" y="0"/>
                    </a:lnTo>
                    <a:lnTo>
                      <a:pt x="0" y="33338"/>
                    </a:lnTo>
                    <a:lnTo>
                      <a:pt x="133350" y="33338"/>
                    </a:lnTo>
                    <a:lnTo>
                      <a:pt x="133350" y="0"/>
                    </a:lnTo>
                    <a:close/>
                  </a:path>
                </a:pathLst>
              </a:custGeom>
              <a:solidFill>
                <a:schemeClr val="accent3"/>
              </a:solidFill>
              <a:ln>
                <a:noFill/>
              </a:ln>
            </p:spPr>
          </p:sp>
          <p:sp>
            <p:nvSpPr>
              <p:cNvPr id="22" name="Freeform 22"/>
              <p:cNvSpPr/>
              <p:nvPr/>
            </p:nvSpPr>
            <p:spPr>
              <a:xfrm>
                <a:off x="8374856" y="2159794"/>
                <a:ext cx="133350" cy="33338"/>
              </a:xfrm>
              <a:custGeom>
                <a:avLst/>
                <a:gdLst/>
                <a:ahLst/>
                <a:cxnLst/>
                <a:rect l="l" t="t" r="r" b="b"/>
                <a:pathLst>
                  <a:path w="133350" h="33338">
                    <a:moveTo>
                      <a:pt x="0" y="0"/>
                    </a:moveTo>
                    <a:lnTo>
                      <a:pt x="133350" y="0"/>
                    </a:lnTo>
                    <a:lnTo>
                      <a:pt x="133350" y="33338"/>
                    </a:lnTo>
                    <a:lnTo>
                      <a:pt x="0" y="33338"/>
                    </a:lnTo>
                    <a:lnTo>
                      <a:pt x="0" y="0"/>
                    </a:lnTo>
                    <a:close/>
                  </a:path>
                </a:pathLst>
              </a:custGeom>
              <a:solidFill>
                <a:schemeClr val="accent3"/>
              </a:solidFill>
              <a:ln>
                <a:noFill/>
              </a:ln>
            </p:spPr>
          </p:sp>
          <p:sp>
            <p:nvSpPr>
              <p:cNvPr id="23" name="Freeform 23"/>
              <p:cNvSpPr/>
              <p:nvPr/>
            </p:nvSpPr>
            <p:spPr>
              <a:xfrm>
                <a:off x="8274844" y="2093119"/>
                <a:ext cx="68759" cy="100012"/>
              </a:xfrm>
              <a:custGeom>
                <a:avLst/>
                <a:gdLst/>
                <a:ahLst/>
                <a:cxnLst/>
                <a:rect l="l" t="t" r="r" b="b"/>
                <a:pathLst>
                  <a:path w="68759" h="100012">
                    <a:moveTo>
                      <a:pt x="38147" y="29170"/>
                    </a:moveTo>
                    <a:lnTo>
                      <a:pt x="0" y="29170"/>
                    </a:lnTo>
                    <a:lnTo>
                      <a:pt x="0" y="0"/>
                    </a:lnTo>
                    <a:lnTo>
                      <a:pt x="38147" y="0"/>
                    </a:lnTo>
                    <a:cubicBezTo>
                      <a:pt x="55053" y="0"/>
                      <a:pt x="68759" y="13705"/>
                      <a:pt x="68759" y="30610"/>
                    </a:cubicBezTo>
                    <a:cubicBezTo>
                      <a:pt x="68759" y="39017"/>
                      <a:pt x="65302" y="47053"/>
                      <a:pt x="59200" y="52833"/>
                    </a:cubicBezTo>
                    <a:lnTo>
                      <a:pt x="40191" y="70842"/>
                    </a:lnTo>
                    <a:lnTo>
                      <a:pt x="66675" y="70842"/>
                    </a:lnTo>
                    <a:lnTo>
                      <a:pt x="66675" y="100012"/>
                    </a:lnTo>
                    <a:lnTo>
                      <a:pt x="0" y="100012"/>
                    </a:lnTo>
                    <a:lnTo>
                      <a:pt x="0" y="68735"/>
                    </a:lnTo>
                    <a:lnTo>
                      <a:pt x="39138" y="31657"/>
                    </a:lnTo>
                    <a:cubicBezTo>
                      <a:pt x="39426" y="31386"/>
                      <a:pt x="39588" y="31007"/>
                      <a:pt x="39588" y="30610"/>
                    </a:cubicBezTo>
                    <a:cubicBezTo>
                      <a:pt x="39588" y="29815"/>
                      <a:pt x="38943" y="29170"/>
                      <a:pt x="38147" y="29170"/>
                    </a:cubicBezTo>
                    <a:close/>
                  </a:path>
                </a:pathLst>
              </a:custGeom>
              <a:solidFill>
                <a:schemeClr val="accent3"/>
              </a:solidFill>
              <a:ln>
                <a:noFill/>
              </a:ln>
            </p:spPr>
          </p:sp>
          <p:sp>
            <p:nvSpPr>
              <p:cNvPr id="24" name="Freeform 24"/>
              <p:cNvSpPr/>
              <p:nvPr/>
            </p:nvSpPr>
            <p:spPr>
              <a:xfrm>
                <a:off x="8270231" y="1961852"/>
                <a:ext cx="52535" cy="97929"/>
              </a:xfrm>
              <a:custGeom>
                <a:avLst/>
                <a:gdLst/>
                <a:ahLst/>
                <a:cxnLst/>
                <a:rect l="l" t="t" r="r" b="b"/>
                <a:pathLst>
                  <a:path w="52535" h="97929">
                    <a:moveTo>
                      <a:pt x="27248" y="0"/>
                    </a:moveTo>
                    <a:lnTo>
                      <a:pt x="0" y="9083"/>
                    </a:lnTo>
                    <a:lnTo>
                      <a:pt x="9225" y="36756"/>
                    </a:lnTo>
                    <a:lnTo>
                      <a:pt x="23365" y="32043"/>
                    </a:lnTo>
                    <a:lnTo>
                      <a:pt x="23365" y="97929"/>
                    </a:lnTo>
                    <a:lnTo>
                      <a:pt x="52535" y="97929"/>
                    </a:lnTo>
                    <a:lnTo>
                      <a:pt x="52535" y="0"/>
                    </a:lnTo>
                    <a:lnTo>
                      <a:pt x="27248" y="0"/>
                    </a:lnTo>
                    <a:close/>
                  </a:path>
                </a:pathLst>
              </a:custGeom>
              <a:solidFill>
                <a:schemeClr val="accent3"/>
              </a:solidFill>
              <a:ln>
                <a:noFill/>
              </a:ln>
            </p:spPr>
          </p:sp>
        </p:grpSp>
        <p:sp>
          <p:nvSpPr>
            <p:cNvPr id="26" name="TextBox 26"/>
            <p:cNvSpPr txBox="1"/>
            <p:nvPr/>
          </p:nvSpPr>
          <p:spPr>
            <a:xfrm>
              <a:off x="8249031" y="230124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测试流程不同</a:t>
              </a:r>
            </a:p>
          </p:txBody>
        </p:sp>
        <p:sp>
          <p:nvSpPr>
            <p:cNvPr id="27" name="TextBox 27"/>
            <p:cNvSpPr txBox="1"/>
            <p:nvPr/>
          </p:nvSpPr>
          <p:spPr>
            <a:xfrm>
              <a:off x="8251317" y="2654618"/>
              <a:ext cx="17282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初始化、激励、测量、</a:t>
              </a:r>
              <a:br/>
              <a:r>
                <a:rPr lang="zh-CN" sz="1350" dirty="0">
                  <a:solidFill>
                    <a:schemeClr val="accent5"/>
                  </a:solidFill>
                  <a:latin typeface="+mn-lt"/>
                  <a:ea typeface="+mn-ea"/>
                  <a:cs typeface="+mn-cs"/>
                </a:rPr>
                <a:t>判定、清理代码不同</a:t>
              </a:r>
            </a:p>
          </p:txBody>
        </p:sp>
      </p:grpSp>
      <p:sp>
        <p:nvSpPr>
          <p:cNvPr id="29" name="Line 29"/>
          <p:cNvSpPr/>
          <p:nvPr/>
        </p:nvSpPr>
        <p:spPr>
          <a:xfrm>
            <a:off x="990600" y="3314700"/>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32" name="p02-topology-a"/>
          <p:cNvGrpSpPr/>
          <p:nvPr/>
        </p:nvGrpSpPr>
        <p:grpSpPr>
          <a:xfrm>
            <a:off x="1501777" y="3324226"/>
            <a:ext cx="4061025" cy="2688609"/>
            <a:chOff x="1693354" y="3543300"/>
            <a:chExt cx="3654933" cy="2422722"/>
          </a:xfrm>
        </p:grpSpPr>
        <p:pic>
          <p:nvPicPr>
            <p:cNvPr id="30" name="Image 30"/>
            <p:cNvPicPr>
              <a:picLocks noChangeAspect="1"/>
            </p:cNvPicPr>
            <p:nvPr/>
          </p:nvPicPr>
          <p:blipFill>
            <a:blip r:embed="rId3"/>
            <a:stretch>
              <a:fillRect/>
            </a:stretch>
          </p:blipFill>
          <p:spPr>
            <a:xfrm>
              <a:off x="1700212" y="3543300"/>
              <a:ext cx="3648075" cy="2171700"/>
            </a:xfrm>
            <a:prstGeom prst="rect">
              <a:avLst/>
            </a:prstGeom>
          </p:spPr>
        </p:pic>
        <p:sp>
          <p:nvSpPr>
            <p:cNvPr id="31" name="TextBox 31"/>
            <p:cNvSpPr txBox="1"/>
            <p:nvPr/>
          </p:nvSpPr>
          <p:spPr>
            <a:xfrm>
              <a:off x="1693354" y="5778818"/>
              <a:ext cx="3244648" cy="187204"/>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某型号飞控计算机 1</a:t>
              </a:r>
              <a:r>
                <a:rPr lang="en-US" altLang="zh-CN" sz="1350" dirty="0">
                  <a:solidFill>
                    <a:schemeClr val="accent5"/>
                  </a:solidFill>
                  <a:latin typeface="+mn-lt"/>
                  <a:ea typeface="+mn-ea"/>
                  <a:cs typeface="+mn-cs"/>
                </a:rPr>
                <a:t> + </a:t>
              </a:r>
              <a:r>
                <a:rPr lang="zh-CN" altLang="en-US" sz="1350" dirty="0">
                  <a:solidFill>
                    <a:schemeClr val="accent5"/>
                  </a:solidFill>
                  <a:latin typeface="+mn-lt"/>
                  <a:ea typeface="+mn-ea"/>
                  <a:cs typeface="+mn-cs"/>
                </a:rPr>
                <a:t>定制测试软件和设备 </a:t>
              </a:r>
              <a:r>
                <a:rPr lang="en-US" altLang="zh-CN" sz="1350" dirty="0">
                  <a:solidFill>
                    <a:schemeClr val="accent5"/>
                  </a:solidFill>
                  <a:latin typeface="+mn-lt"/>
                  <a:ea typeface="+mn-ea"/>
                  <a:cs typeface="+mn-cs"/>
                </a:rPr>
                <a:t>2</a:t>
              </a:r>
              <a:endParaRPr lang="zh-CN" sz="1350" dirty="0">
                <a:solidFill>
                  <a:schemeClr val="accent5"/>
                </a:solidFill>
                <a:latin typeface="+mn-lt"/>
                <a:ea typeface="+mn-ea"/>
                <a:cs typeface="+mn-cs"/>
              </a:endParaRPr>
            </a:p>
          </p:txBody>
        </p:sp>
      </p:grpSp>
      <p:grpSp>
        <p:nvGrpSpPr>
          <p:cNvPr id="35" name="p02-topology-b"/>
          <p:cNvGrpSpPr/>
          <p:nvPr/>
        </p:nvGrpSpPr>
        <p:grpSpPr>
          <a:xfrm>
            <a:off x="7141464" y="3371660"/>
            <a:ext cx="3605156" cy="2672370"/>
            <a:chOff x="7379780" y="3543300"/>
            <a:chExt cx="3229197" cy="2419699"/>
          </a:xfrm>
        </p:grpSpPr>
        <p:pic>
          <p:nvPicPr>
            <p:cNvPr id="33" name="Image 33"/>
            <p:cNvPicPr>
              <a:picLocks noChangeAspect="1"/>
            </p:cNvPicPr>
            <p:nvPr/>
          </p:nvPicPr>
          <p:blipFill>
            <a:blip r:embed="rId4"/>
            <a:stretch>
              <a:fillRect/>
            </a:stretch>
          </p:blipFill>
          <p:spPr>
            <a:xfrm>
              <a:off x="7386638" y="3543300"/>
              <a:ext cx="3171825" cy="2171700"/>
            </a:xfrm>
            <a:prstGeom prst="rect">
              <a:avLst/>
            </a:prstGeom>
          </p:spPr>
        </p:pic>
        <p:sp>
          <p:nvSpPr>
            <p:cNvPr id="34" name="TextBox 34"/>
            <p:cNvSpPr txBox="1"/>
            <p:nvPr/>
          </p:nvSpPr>
          <p:spPr>
            <a:xfrm>
              <a:off x="7379780" y="5778818"/>
              <a:ext cx="3229197" cy="184181"/>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某型号飞控计算机 2</a:t>
              </a:r>
              <a:r>
                <a:rPr lang="en-US" altLang="zh-CN" sz="1350" dirty="0">
                  <a:solidFill>
                    <a:schemeClr val="accent5"/>
                  </a:solidFill>
                  <a:latin typeface="+mn-lt"/>
                  <a:ea typeface="+mn-ea"/>
                  <a:cs typeface="+mn-cs"/>
                </a:rPr>
                <a:t> + </a:t>
              </a:r>
              <a:r>
                <a:rPr lang="zh-CN" altLang="en-US" sz="1350" dirty="0">
                  <a:solidFill>
                    <a:schemeClr val="accent5"/>
                  </a:solidFill>
                  <a:latin typeface="+mn-lt"/>
                  <a:ea typeface="+mn-ea"/>
                  <a:cs typeface="+mn-cs"/>
                </a:rPr>
                <a:t>定制测试软件和设备</a:t>
              </a:r>
              <a:r>
                <a:rPr lang="en-US" altLang="zh-CN" sz="1350" dirty="0">
                  <a:solidFill>
                    <a:schemeClr val="accent5"/>
                  </a:solidFill>
                </a:rPr>
                <a:t> 2</a:t>
              </a:r>
              <a:endParaRPr lang="zh-CN" sz="1350" dirty="0">
                <a:solidFill>
                  <a:schemeClr val="accent5"/>
                </a:solidFill>
                <a:latin typeface="+mn-lt"/>
                <a:ea typeface="+mn-ea"/>
                <a:cs typeface="+mn-cs"/>
              </a:endParaRPr>
            </a:p>
          </p:txBody>
        </p:sp>
      </p:grpSp>
      <p:sp>
        <p:nvSpPr>
          <p:cNvPr id="36" name="Line 36"/>
          <p:cNvSpPr/>
          <p:nvPr/>
        </p:nvSpPr>
        <p:spPr>
          <a:xfrm>
            <a:off x="990600" y="6134100"/>
            <a:ext cx="10515600" cy="9525"/>
          </a:xfrm>
          <a:custGeom>
            <a:avLst/>
            <a:gdLst/>
            <a:ahLst/>
            <a:cxnLst/>
            <a:rect l="l" t="t" r="r" b="b"/>
            <a:pathLst>
              <a:path w="10515600" h="9525">
                <a:moveTo>
                  <a:pt x="0" y="0"/>
                </a:moveTo>
                <a:lnTo>
                  <a:pt x="10515600" y="0"/>
                </a:lnTo>
              </a:path>
            </a:pathLst>
          </a:custGeom>
          <a:noFill/>
          <a:ln w="9525">
            <a:solidFill>
              <a:schemeClr val="accent6"/>
            </a:solidFill>
          </a:ln>
        </p:spPr>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03-header"/>
          <p:cNvGrpSpPr/>
          <p:nvPr/>
        </p:nvGrpSpPr>
        <p:grpSpPr>
          <a:xfrm>
            <a:off x="974598" y="844868"/>
            <a:ext cx="4696587" cy="898017"/>
            <a:chOff x="974598" y="844868"/>
            <a:chExt cx="4696587" cy="898017"/>
          </a:xfrm>
        </p:grpSpPr>
        <p:sp>
          <p:nvSpPr>
            <p:cNvPr id="3" name="TextBox 3"/>
            <p:cNvSpPr txBox="1"/>
            <p:nvPr/>
          </p:nvSpPr>
          <p:spPr>
            <a:xfrm>
              <a:off x="983742" y="844868"/>
              <a:ext cx="92240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困境与矛盾</a:t>
              </a:r>
            </a:p>
          </p:txBody>
        </p:sp>
        <p:sp>
          <p:nvSpPr>
            <p:cNvPr id="4" name="TextBox 4"/>
            <p:cNvSpPr txBox="1"/>
            <p:nvPr/>
          </p:nvSpPr>
          <p:spPr>
            <a:xfrm>
              <a:off x="974598" y="1126808"/>
              <a:ext cx="469658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定制测试软件的五个代价</a:t>
              </a:r>
            </a:p>
          </p:txBody>
        </p:sp>
      </p:grpSp>
      <p:sp>
        <p:nvSpPr>
          <p:cNvPr id="6" name="Line 6"/>
          <p:cNvSpPr/>
          <p:nvPr/>
        </p:nvSpPr>
        <p:spPr>
          <a:xfrm>
            <a:off x="981456" y="2173404"/>
            <a:ext cx="10515600" cy="9525"/>
          </a:xfrm>
          <a:custGeom>
            <a:avLst/>
            <a:gdLst/>
            <a:ahLst/>
            <a:cxnLst/>
            <a:rect l="l" t="t" r="r" b="b"/>
            <a:pathLst>
              <a:path w="10515600" h="9525">
                <a:moveTo>
                  <a:pt x="0" y="0"/>
                </a:moveTo>
                <a:lnTo>
                  <a:pt x="10515600" y="0"/>
                </a:lnTo>
              </a:path>
            </a:pathLst>
          </a:custGeom>
          <a:noFill/>
          <a:ln w="9525">
            <a:solidFill>
              <a:schemeClr val="accent6"/>
            </a:solidFill>
          </a:ln>
        </p:spPr>
      </p:sp>
      <p:sp>
        <p:nvSpPr>
          <p:cNvPr id="7" name="Line 7"/>
          <p:cNvSpPr/>
          <p:nvPr/>
        </p:nvSpPr>
        <p:spPr>
          <a:xfrm>
            <a:off x="3000375" y="2255806"/>
            <a:ext cx="9525" cy="2095500"/>
          </a:xfrm>
          <a:custGeom>
            <a:avLst/>
            <a:gdLst/>
            <a:ahLst/>
            <a:cxnLst/>
            <a:rect l="l" t="t" r="r" b="b"/>
            <a:pathLst>
              <a:path w="9525" h="2095500">
                <a:moveTo>
                  <a:pt x="0" y="0"/>
                </a:moveTo>
                <a:lnTo>
                  <a:pt x="0" y="2095500"/>
                </a:lnTo>
              </a:path>
            </a:pathLst>
          </a:custGeom>
          <a:noFill/>
          <a:ln w="9525">
            <a:solidFill>
              <a:schemeClr val="accent6"/>
            </a:solidFill>
          </a:ln>
        </p:spPr>
      </p:sp>
      <p:sp>
        <p:nvSpPr>
          <p:cNvPr id="8" name="Line 8"/>
          <p:cNvSpPr/>
          <p:nvPr/>
        </p:nvSpPr>
        <p:spPr>
          <a:xfrm>
            <a:off x="5162550" y="2255806"/>
            <a:ext cx="9525" cy="2095500"/>
          </a:xfrm>
          <a:custGeom>
            <a:avLst/>
            <a:gdLst/>
            <a:ahLst/>
            <a:cxnLst/>
            <a:rect l="l" t="t" r="r" b="b"/>
            <a:pathLst>
              <a:path w="9525" h="2095500">
                <a:moveTo>
                  <a:pt x="0" y="0"/>
                </a:moveTo>
                <a:lnTo>
                  <a:pt x="0" y="2095500"/>
                </a:lnTo>
              </a:path>
            </a:pathLst>
          </a:custGeom>
          <a:noFill/>
          <a:ln w="9525">
            <a:solidFill>
              <a:schemeClr val="accent6"/>
            </a:solidFill>
          </a:ln>
        </p:spPr>
      </p:sp>
      <p:sp>
        <p:nvSpPr>
          <p:cNvPr id="9" name="Line 9"/>
          <p:cNvSpPr/>
          <p:nvPr/>
        </p:nvSpPr>
        <p:spPr>
          <a:xfrm>
            <a:off x="7334250" y="2255806"/>
            <a:ext cx="9525" cy="2095500"/>
          </a:xfrm>
          <a:custGeom>
            <a:avLst/>
            <a:gdLst/>
            <a:ahLst/>
            <a:cxnLst/>
            <a:rect l="l" t="t" r="r" b="b"/>
            <a:pathLst>
              <a:path w="9525" h="2095500">
                <a:moveTo>
                  <a:pt x="0" y="0"/>
                </a:moveTo>
                <a:lnTo>
                  <a:pt x="0" y="2095500"/>
                </a:lnTo>
              </a:path>
            </a:pathLst>
          </a:custGeom>
          <a:noFill/>
          <a:ln w="9525">
            <a:solidFill>
              <a:schemeClr val="accent6"/>
            </a:solidFill>
          </a:ln>
        </p:spPr>
      </p:sp>
      <p:sp>
        <p:nvSpPr>
          <p:cNvPr id="10" name="Line 10"/>
          <p:cNvSpPr/>
          <p:nvPr/>
        </p:nvSpPr>
        <p:spPr>
          <a:xfrm>
            <a:off x="9496425" y="2255806"/>
            <a:ext cx="9525" cy="2095500"/>
          </a:xfrm>
          <a:custGeom>
            <a:avLst/>
            <a:gdLst/>
            <a:ahLst/>
            <a:cxnLst/>
            <a:rect l="l" t="t" r="r" b="b"/>
            <a:pathLst>
              <a:path w="9525" h="2095500">
                <a:moveTo>
                  <a:pt x="0" y="0"/>
                </a:moveTo>
                <a:lnTo>
                  <a:pt x="0" y="2095500"/>
                </a:lnTo>
              </a:path>
            </a:pathLst>
          </a:custGeom>
          <a:noFill/>
          <a:ln w="9525">
            <a:solidFill>
              <a:schemeClr val="accent6"/>
            </a:solidFill>
          </a:ln>
        </p:spPr>
      </p:sp>
      <p:grpSp>
        <p:nvGrpSpPr>
          <p:cNvPr id="14" name="p03-cost-1"/>
          <p:cNvGrpSpPr/>
          <p:nvPr/>
        </p:nvGrpSpPr>
        <p:grpSpPr>
          <a:xfrm>
            <a:off x="981456" y="2370106"/>
            <a:ext cx="1229868" cy="1574997"/>
            <a:chOff x="981456" y="3733800"/>
            <a:chExt cx="1229868" cy="1574997"/>
          </a:xfrm>
        </p:grpSpPr>
        <p:sp>
          <p:nvSpPr>
            <p:cNvPr id="11" name="Freeform 11"/>
            <p:cNvSpPr/>
            <p:nvPr/>
          </p:nvSpPr>
          <p:spPr>
            <a:xfrm>
              <a:off x="990600" y="3733800"/>
              <a:ext cx="266700" cy="266700"/>
            </a:xfrm>
            <a:custGeom>
              <a:avLst/>
              <a:gdLst/>
              <a:ahLst/>
              <a:cxnLst/>
              <a:rect l="l" t="t" r="r" b="b"/>
              <a:pathLst>
                <a:path w="266700" h="266700">
                  <a:moveTo>
                    <a:pt x="133350" y="266700"/>
                  </a:moveTo>
                  <a:cubicBezTo>
                    <a:pt x="206998" y="266700"/>
                    <a:pt x="266700" y="206998"/>
                    <a:pt x="266700" y="133350"/>
                  </a:cubicBezTo>
                  <a:cubicBezTo>
                    <a:pt x="266700" y="59703"/>
                    <a:pt x="206998" y="0"/>
                    <a:pt x="133350" y="0"/>
                  </a:cubicBezTo>
                  <a:cubicBezTo>
                    <a:pt x="59703" y="0"/>
                    <a:pt x="0" y="59703"/>
                    <a:pt x="0" y="133350"/>
                  </a:cubicBezTo>
                  <a:cubicBezTo>
                    <a:pt x="0" y="206998"/>
                    <a:pt x="59703" y="266700"/>
                    <a:pt x="133350" y="266700"/>
                  </a:cubicBezTo>
                  <a:close/>
                  <a:moveTo>
                    <a:pt x="116681" y="50006"/>
                  </a:moveTo>
                  <a:lnTo>
                    <a:pt x="116681" y="140254"/>
                  </a:lnTo>
                  <a:lnTo>
                    <a:pt x="171570" y="195143"/>
                  </a:lnTo>
                  <a:lnTo>
                    <a:pt x="195143" y="171570"/>
                  </a:lnTo>
                  <a:lnTo>
                    <a:pt x="150019" y="126446"/>
                  </a:lnTo>
                  <a:lnTo>
                    <a:pt x="150019" y="50006"/>
                  </a:lnTo>
                  <a:lnTo>
                    <a:pt x="116681" y="50006"/>
                  </a:lnTo>
                  <a:close/>
                </a:path>
              </a:pathLst>
            </a:custGeom>
            <a:solidFill>
              <a:schemeClr val="accent3"/>
            </a:solidFill>
            <a:ln>
              <a:noFill/>
            </a:ln>
          </p:spPr>
        </p:sp>
        <p:sp>
          <p:nvSpPr>
            <p:cNvPr id="12" name="TextBox 12"/>
            <p:cNvSpPr txBox="1"/>
            <p:nvPr/>
          </p:nvSpPr>
          <p:spPr>
            <a:xfrm>
              <a:off x="981456" y="416814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迭代周期长</a:t>
              </a:r>
            </a:p>
          </p:txBody>
        </p:sp>
        <p:sp>
          <p:nvSpPr>
            <p:cNvPr id="13" name="TextBox 13"/>
            <p:cNvSpPr txBox="1"/>
            <p:nvPr/>
          </p:nvSpPr>
          <p:spPr>
            <a:xfrm>
              <a:off x="983742" y="4559618"/>
              <a:ext cx="1038746" cy="749179"/>
            </a:xfrm>
            <a:prstGeom prst="rect">
              <a:avLst/>
            </a:prstGeom>
            <a:noFill/>
            <a:ln>
              <a:noFill/>
            </a:ln>
          </p:spPr>
          <p:txBody>
            <a:bodyPr wrap="none" lIns="0" tIns="0" rIns="0" bIns="0" anchor="t" anchorCtr="0">
              <a:spAutoFit/>
            </a:bodyPr>
            <a:lstStyle/>
            <a:p>
              <a:pPr algn="l">
                <a:lnSpc>
                  <a:spcPts val="2025"/>
                </a:lnSpc>
              </a:pPr>
              <a:r>
                <a:rPr lang="zh-CN" sz="1350" dirty="0">
                  <a:solidFill>
                    <a:schemeClr val="accent5"/>
                  </a:solidFill>
                  <a:latin typeface="+mn-lt"/>
                  <a:ea typeface="+mn-ea"/>
                  <a:cs typeface="+mn-cs"/>
                </a:rPr>
                <a:t>换一个产品，</a:t>
              </a:r>
              <a:br>
                <a:rPr dirty="0"/>
              </a:br>
              <a:r>
                <a:rPr lang="zh-CN" sz="1350" dirty="0">
                  <a:solidFill>
                    <a:schemeClr val="accent5"/>
                  </a:solidFill>
                  <a:latin typeface="+mn-lt"/>
                  <a:ea typeface="+mn-ea"/>
                  <a:cs typeface="+mn-cs"/>
                </a:rPr>
                <a:t>重写代码、</a:t>
              </a:r>
              <a:endParaRPr lang="en-US" altLang="zh-CN" sz="1350" dirty="0">
                <a:solidFill>
                  <a:schemeClr val="accent5"/>
                </a:solidFill>
                <a:latin typeface="+mn-lt"/>
                <a:ea typeface="+mn-ea"/>
                <a:cs typeface="+mn-cs"/>
              </a:endParaRPr>
            </a:p>
            <a:p>
              <a:pPr algn="l">
                <a:lnSpc>
                  <a:spcPts val="2025"/>
                </a:lnSpc>
              </a:pPr>
              <a:r>
                <a:rPr lang="zh-CN" sz="1350" dirty="0">
                  <a:solidFill>
                    <a:schemeClr val="accent5"/>
                  </a:solidFill>
                  <a:latin typeface="+mn-lt"/>
                  <a:ea typeface="+mn-ea"/>
                  <a:cs typeface="+mn-cs"/>
                </a:rPr>
                <a:t>重新联调</a:t>
              </a:r>
            </a:p>
          </p:txBody>
        </p:sp>
      </p:grpSp>
      <p:grpSp>
        <p:nvGrpSpPr>
          <p:cNvPr id="21" name="p03-cost-2"/>
          <p:cNvGrpSpPr/>
          <p:nvPr/>
        </p:nvGrpSpPr>
        <p:grpSpPr>
          <a:xfrm>
            <a:off x="3143631" y="2370106"/>
            <a:ext cx="1229868" cy="1831478"/>
            <a:chOff x="3143631" y="3733800"/>
            <a:chExt cx="1229868" cy="1831478"/>
          </a:xfrm>
        </p:grpSpPr>
        <p:grpSp>
          <p:nvGrpSpPr>
            <p:cNvPr id="18" name="Group 18"/>
            <p:cNvGrpSpPr/>
            <p:nvPr/>
          </p:nvGrpSpPr>
          <p:grpSpPr>
            <a:xfrm>
              <a:off x="3152840" y="3733800"/>
              <a:ext cx="266568" cy="266699"/>
              <a:chOff x="3152840" y="3733800"/>
              <a:chExt cx="266568" cy="266699"/>
            </a:xfrm>
          </p:grpSpPr>
          <p:sp>
            <p:nvSpPr>
              <p:cNvPr id="15" name="Freeform 15"/>
              <p:cNvSpPr/>
              <p:nvPr/>
            </p:nvSpPr>
            <p:spPr>
              <a:xfrm>
                <a:off x="3228842" y="3733800"/>
                <a:ext cx="164433" cy="120548"/>
              </a:xfrm>
              <a:custGeom>
                <a:avLst/>
                <a:gdLst/>
                <a:ahLst/>
                <a:cxnLst/>
                <a:rect l="l" t="t" r="r" b="b"/>
                <a:pathLst>
                  <a:path w="164433" h="120548">
                    <a:moveTo>
                      <a:pt x="18716" y="0"/>
                    </a:moveTo>
                    <a:lnTo>
                      <a:pt x="95851" y="0"/>
                    </a:lnTo>
                    <a:lnTo>
                      <a:pt x="126925" y="54646"/>
                    </a:lnTo>
                    <a:lnTo>
                      <a:pt x="156099" y="37803"/>
                    </a:lnTo>
                    <a:lnTo>
                      <a:pt x="164433" y="52239"/>
                    </a:lnTo>
                    <a:lnTo>
                      <a:pt x="146129" y="120548"/>
                    </a:lnTo>
                    <a:lnTo>
                      <a:pt x="77820" y="102245"/>
                    </a:lnTo>
                    <a:lnTo>
                      <a:pt x="69485" y="87809"/>
                    </a:lnTo>
                    <a:lnTo>
                      <a:pt x="98053" y="71315"/>
                    </a:lnTo>
                    <a:lnTo>
                      <a:pt x="76458" y="33338"/>
                    </a:lnTo>
                    <a:lnTo>
                      <a:pt x="38109" y="33338"/>
                    </a:lnTo>
                    <a:lnTo>
                      <a:pt x="28872" y="49581"/>
                    </a:lnTo>
                    <a:lnTo>
                      <a:pt x="0" y="32912"/>
                    </a:lnTo>
                    <a:lnTo>
                      <a:pt x="18716" y="0"/>
                    </a:lnTo>
                    <a:close/>
                  </a:path>
                </a:pathLst>
              </a:custGeom>
              <a:solidFill>
                <a:schemeClr val="accent3"/>
              </a:solidFill>
              <a:ln>
                <a:noFill/>
              </a:ln>
            </p:spPr>
          </p:sp>
          <p:sp>
            <p:nvSpPr>
              <p:cNvPr id="16" name="Freeform 16"/>
              <p:cNvSpPr/>
              <p:nvPr/>
            </p:nvSpPr>
            <p:spPr>
              <a:xfrm>
                <a:off x="3252787" y="3868144"/>
                <a:ext cx="166621" cy="132355"/>
              </a:xfrm>
              <a:custGeom>
                <a:avLst/>
                <a:gdLst/>
                <a:ahLst/>
                <a:cxnLst/>
                <a:rect l="l" t="t" r="r" b="b"/>
                <a:pathLst>
                  <a:path w="166621" h="132355">
                    <a:moveTo>
                      <a:pt x="119430" y="16669"/>
                    </a:moveTo>
                    <a:lnTo>
                      <a:pt x="128415" y="32470"/>
                    </a:lnTo>
                    <a:lnTo>
                      <a:pt x="110106" y="65681"/>
                    </a:lnTo>
                    <a:lnTo>
                      <a:pt x="66675" y="65681"/>
                    </a:lnTo>
                    <a:lnTo>
                      <a:pt x="66675" y="32343"/>
                    </a:lnTo>
                    <a:lnTo>
                      <a:pt x="50006" y="32343"/>
                    </a:lnTo>
                    <a:lnTo>
                      <a:pt x="0" y="82348"/>
                    </a:lnTo>
                    <a:lnTo>
                      <a:pt x="50006" y="132355"/>
                    </a:lnTo>
                    <a:lnTo>
                      <a:pt x="66675" y="132355"/>
                    </a:lnTo>
                    <a:lnTo>
                      <a:pt x="66675" y="99019"/>
                    </a:lnTo>
                    <a:lnTo>
                      <a:pt x="129797" y="99019"/>
                    </a:lnTo>
                    <a:lnTo>
                      <a:pt x="166621" y="32217"/>
                    </a:lnTo>
                    <a:lnTo>
                      <a:pt x="148301" y="0"/>
                    </a:lnTo>
                    <a:lnTo>
                      <a:pt x="119430" y="16669"/>
                    </a:lnTo>
                    <a:close/>
                  </a:path>
                </a:pathLst>
              </a:custGeom>
              <a:solidFill>
                <a:schemeClr val="accent3"/>
              </a:solidFill>
              <a:ln>
                <a:noFill/>
              </a:ln>
            </p:spPr>
          </p:sp>
          <p:sp>
            <p:nvSpPr>
              <p:cNvPr id="17" name="Freeform 17"/>
              <p:cNvSpPr/>
              <p:nvPr/>
            </p:nvSpPr>
            <p:spPr>
              <a:xfrm>
                <a:off x="3152840" y="3796606"/>
                <a:ext cx="96079" cy="170556"/>
              </a:xfrm>
              <a:custGeom>
                <a:avLst/>
                <a:gdLst/>
                <a:ahLst/>
                <a:cxnLst/>
                <a:rect l="l" t="t" r="r" b="b"/>
                <a:pathLst>
                  <a:path w="96079" h="170556">
                    <a:moveTo>
                      <a:pt x="56516" y="137219"/>
                    </a:moveTo>
                    <a:lnTo>
                      <a:pt x="74944" y="137219"/>
                    </a:lnTo>
                    <a:lnTo>
                      <a:pt x="74944" y="170556"/>
                    </a:lnTo>
                    <a:lnTo>
                      <a:pt x="36827" y="170556"/>
                    </a:lnTo>
                    <a:lnTo>
                      <a:pt x="0" y="103755"/>
                    </a:lnTo>
                    <a:lnTo>
                      <a:pt x="30682" y="49800"/>
                    </a:lnTo>
                    <a:lnTo>
                      <a:pt x="1131" y="32739"/>
                    </a:lnTo>
                    <a:lnTo>
                      <a:pt x="9466" y="18304"/>
                    </a:lnTo>
                    <a:lnTo>
                      <a:pt x="77776" y="0"/>
                    </a:lnTo>
                    <a:lnTo>
                      <a:pt x="96079" y="68310"/>
                    </a:lnTo>
                    <a:lnTo>
                      <a:pt x="87745" y="82745"/>
                    </a:lnTo>
                    <a:lnTo>
                      <a:pt x="59554" y="66469"/>
                    </a:lnTo>
                    <a:lnTo>
                      <a:pt x="38207" y="104008"/>
                    </a:lnTo>
                    <a:lnTo>
                      <a:pt x="56516" y="137219"/>
                    </a:lnTo>
                    <a:close/>
                  </a:path>
                </a:pathLst>
              </a:custGeom>
              <a:solidFill>
                <a:schemeClr val="accent3"/>
              </a:solidFill>
              <a:ln>
                <a:noFill/>
              </a:ln>
            </p:spPr>
          </p:sp>
        </p:grpSp>
        <p:sp>
          <p:nvSpPr>
            <p:cNvPr id="19" name="TextBox 19"/>
            <p:cNvSpPr txBox="1"/>
            <p:nvPr/>
          </p:nvSpPr>
          <p:spPr>
            <a:xfrm>
              <a:off x="3143631" y="416814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复用成本高</a:t>
              </a:r>
            </a:p>
          </p:txBody>
        </p:sp>
        <p:sp>
          <p:nvSpPr>
            <p:cNvPr id="20" name="TextBox 20"/>
            <p:cNvSpPr txBox="1"/>
            <p:nvPr/>
          </p:nvSpPr>
          <p:spPr>
            <a:xfrm>
              <a:off x="3145917" y="4559618"/>
              <a:ext cx="865622" cy="1005660"/>
            </a:xfrm>
            <a:prstGeom prst="rect">
              <a:avLst/>
            </a:prstGeom>
            <a:noFill/>
            <a:ln>
              <a:noFill/>
            </a:ln>
          </p:spPr>
          <p:txBody>
            <a:bodyPr wrap="none" lIns="0" tIns="0" rIns="0" bIns="0" anchor="t" anchorCtr="0">
              <a:spAutoFit/>
            </a:bodyPr>
            <a:lstStyle/>
            <a:p>
              <a:pPr algn="l">
                <a:lnSpc>
                  <a:spcPts val="2025"/>
                </a:lnSpc>
              </a:pPr>
              <a:r>
                <a:rPr lang="zh-CN" sz="1350" dirty="0">
                  <a:solidFill>
                    <a:schemeClr val="accent5"/>
                  </a:solidFill>
                  <a:latin typeface="+mn-lt"/>
                  <a:ea typeface="+mn-ea"/>
                  <a:cs typeface="+mn-cs"/>
                </a:rPr>
                <a:t>电压扫描、</a:t>
              </a:r>
              <a:br>
                <a:rPr dirty="0"/>
              </a:br>
              <a:r>
                <a:rPr lang="zh-CN" sz="1350" dirty="0">
                  <a:solidFill>
                    <a:schemeClr val="accent5"/>
                  </a:solidFill>
                  <a:latin typeface="+mn-lt"/>
                  <a:ea typeface="+mn-ea"/>
                  <a:cs typeface="+mn-cs"/>
                </a:rPr>
                <a:t>串口请求、</a:t>
              </a:r>
              <a:br>
                <a:rPr dirty="0"/>
              </a:br>
              <a:r>
                <a:rPr lang="zh-CN" sz="1350" dirty="0">
                  <a:solidFill>
                    <a:schemeClr val="accent5"/>
                  </a:solidFill>
                  <a:latin typeface="+mn-lt"/>
                  <a:ea typeface="+mn-ea"/>
                  <a:cs typeface="+mn-cs"/>
                </a:rPr>
                <a:t>继电器控制</a:t>
              </a:r>
              <a:br>
                <a:rPr dirty="0"/>
              </a:br>
              <a:r>
                <a:rPr lang="zh-CN" sz="1350" dirty="0">
                  <a:solidFill>
                    <a:schemeClr val="accent5"/>
                  </a:solidFill>
                  <a:latin typeface="+mn-lt"/>
                  <a:ea typeface="+mn-ea"/>
                  <a:cs typeface="+mn-cs"/>
                </a:rPr>
                <a:t>被重复实现</a:t>
              </a:r>
            </a:p>
          </p:txBody>
        </p:sp>
      </p:grpSp>
      <p:grpSp>
        <p:nvGrpSpPr>
          <p:cNvPr id="25" name="p03-cost-3"/>
          <p:cNvGrpSpPr/>
          <p:nvPr/>
        </p:nvGrpSpPr>
        <p:grpSpPr>
          <a:xfrm>
            <a:off x="5305806" y="2370106"/>
            <a:ext cx="1229868" cy="1604201"/>
            <a:chOff x="5305806" y="3733800"/>
            <a:chExt cx="1229868" cy="1604201"/>
          </a:xfrm>
        </p:grpSpPr>
        <p:sp>
          <p:nvSpPr>
            <p:cNvPr id="22" name="Freeform 22"/>
            <p:cNvSpPr/>
            <p:nvPr/>
          </p:nvSpPr>
          <p:spPr>
            <a:xfrm>
              <a:off x="5314950" y="3733800"/>
              <a:ext cx="266700" cy="250031"/>
            </a:xfrm>
            <a:custGeom>
              <a:avLst/>
              <a:gdLst/>
              <a:ahLst/>
              <a:cxnLst/>
              <a:rect l="l" t="t" r="r" b="b"/>
              <a:pathLst>
                <a:path w="266700" h="250031">
                  <a:moveTo>
                    <a:pt x="266700" y="250031"/>
                  </a:moveTo>
                  <a:lnTo>
                    <a:pt x="0" y="250031"/>
                  </a:lnTo>
                  <a:lnTo>
                    <a:pt x="0" y="200025"/>
                  </a:lnTo>
                  <a:lnTo>
                    <a:pt x="116681" y="0"/>
                  </a:lnTo>
                  <a:lnTo>
                    <a:pt x="150019" y="0"/>
                  </a:lnTo>
                  <a:lnTo>
                    <a:pt x="266700" y="200025"/>
                  </a:lnTo>
                  <a:lnTo>
                    <a:pt x="266700" y="250031"/>
                  </a:lnTo>
                  <a:close/>
                  <a:moveTo>
                    <a:pt x="116681" y="66675"/>
                  </a:moveTo>
                  <a:lnTo>
                    <a:pt x="150019" y="66675"/>
                  </a:lnTo>
                  <a:lnTo>
                    <a:pt x="150019" y="150019"/>
                  </a:lnTo>
                  <a:lnTo>
                    <a:pt x="116681" y="150019"/>
                  </a:lnTo>
                  <a:lnTo>
                    <a:pt x="116681" y="66675"/>
                  </a:lnTo>
                  <a:close/>
                  <a:moveTo>
                    <a:pt x="116681" y="183356"/>
                  </a:moveTo>
                  <a:lnTo>
                    <a:pt x="150019" y="183356"/>
                  </a:lnTo>
                  <a:lnTo>
                    <a:pt x="150019" y="216694"/>
                  </a:lnTo>
                  <a:lnTo>
                    <a:pt x="116681" y="216694"/>
                  </a:lnTo>
                  <a:lnTo>
                    <a:pt x="116681" y="183356"/>
                  </a:lnTo>
                  <a:close/>
                </a:path>
              </a:pathLst>
            </a:custGeom>
            <a:solidFill>
              <a:schemeClr val="accent3"/>
            </a:solidFill>
            <a:ln>
              <a:noFill/>
            </a:ln>
          </p:spPr>
        </p:sp>
        <p:sp>
          <p:nvSpPr>
            <p:cNvPr id="23" name="TextBox 23"/>
            <p:cNvSpPr txBox="1"/>
            <p:nvPr/>
          </p:nvSpPr>
          <p:spPr>
            <a:xfrm>
              <a:off x="5305806" y="416814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变更风险高</a:t>
              </a:r>
            </a:p>
          </p:txBody>
        </p:sp>
        <p:sp>
          <p:nvSpPr>
            <p:cNvPr id="24" name="TextBox 24"/>
            <p:cNvSpPr txBox="1"/>
            <p:nvPr/>
          </p:nvSpPr>
          <p:spPr>
            <a:xfrm>
              <a:off x="5308092" y="4559618"/>
              <a:ext cx="1213866" cy="778383"/>
            </a:xfrm>
            <a:prstGeom prst="rect">
              <a:avLst/>
            </a:prstGeom>
            <a:noFill/>
            <a:ln>
              <a:noFill/>
            </a:ln>
          </p:spPr>
          <p:txBody>
            <a:bodyPr wrap="none" lIns="0" tIns="0" rIns="0" bIns="0" anchor="t" anchorCtr="0">
              <a:spAutoFit/>
            </a:bodyPr>
            <a:lstStyle/>
            <a:p>
              <a:pPr algn="l">
                <a:lnSpc>
                  <a:spcPts val="2025"/>
                </a:lnSpc>
              </a:pPr>
              <a:r>
                <a:rPr lang="zh-CN" sz="1350" dirty="0">
                  <a:solidFill>
                    <a:schemeClr val="accent5"/>
                  </a:solidFill>
                  <a:latin typeface="+mn-lt"/>
                  <a:ea typeface="+mn-ea"/>
                  <a:cs typeface="+mn-cs"/>
                </a:rPr>
                <a:t>硬件替换</a:t>
              </a:r>
              <a:br>
                <a:rPr dirty="0"/>
              </a:br>
              <a:r>
                <a:rPr lang="zh-CN" sz="1350" dirty="0">
                  <a:solidFill>
                    <a:schemeClr val="accent5"/>
                  </a:solidFill>
                  <a:latin typeface="+mn-lt"/>
                  <a:ea typeface="+mn-ea"/>
                  <a:cs typeface="+mn-cs"/>
                </a:rPr>
                <a:t>牵动流程、判定</a:t>
              </a:r>
              <a:br>
                <a:rPr dirty="0"/>
              </a:br>
              <a:r>
                <a:rPr lang="zh-CN" sz="1350" dirty="0">
                  <a:solidFill>
                    <a:schemeClr val="accent5"/>
                  </a:solidFill>
                  <a:latin typeface="+mn-lt"/>
                  <a:ea typeface="+mn-ea"/>
                  <a:cs typeface="+mn-cs"/>
                </a:rPr>
                <a:t>和报告代码</a:t>
              </a:r>
            </a:p>
          </p:txBody>
        </p:sp>
      </p:grpSp>
      <p:grpSp>
        <p:nvGrpSpPr>
          <p:cNvPr id="31" name="p03-cost-4"/>
          <p:cNvGrpSpPr/>
          <p:nvPr/>
        </p:nvGrpSpPr>
        <p:grpSpPr>
          <a:xfrm>
            <a:off x="7477506" y="2370106"/>
            <a:ext cx="1229868" cy="1604201"/>
            <a:chOff x="7477506" y="3733800"/>
            <a:chExt cx="1229868" cy="1604201"/>
          </a:xfrm>
        </p:grpSpPr>
        <p:grpSp>
          <p:nvGrpSpPr>
            <p:cNvPr id="28" name="Group 28"/>
            <p:cNvGrpSpPr/>
            <p:nvPr/>
          </p:nvGrpSpPr>
          <p:grpSpPr>
            <a:xfrm>
              <a:off x="7486650" y="3733800"/>
              <a:ext cx="266700" cy="266700"/>
              <a:chOff x="7486650" y="3733800"/>
              <a:chExt cx="266700" cy="266700"/>
            </a:xfrm>
          </p:grpSpPr>
          <p:sp>
            <p:nvSpPr>
              <p:cNvPr id="26" name="Freeform 26"/>
              <p:cNvSpPr/>
              <p:nvPr/>
            </p:nvSpPr>
            <p:spPr>
              <a:xfrm>
                <a:off x="7486650" y="3733800"/>
                <a:ext cx="266700" cy="266700"/>
              </a:xfrm>
              <a:custGeom>
                <a:avLst/>
                <a:gdLst/>
                <a:ahLst/>
                <a:cxnLst/>
                <a:rect l="l" t="t" r="r" b="b"/>
                <a:pathLst>
                  <a:path w="266700" h="266700">
                    <a:moveTo>
                      <a:pt x="266700" y="266700"/>
                    </a:moveTo>
                    <a:lnTo>
                      <a:pt x="216694" y="266700"/>
                    </a:lnTo>
                    <a:lnTo>
                      <a:pt x="180636" y="222321"/>
                    </a:lnTo>
                    <a:cubicBezTo>
                      <a:pt x="166102" y="229499"/>
                      <a:pt x="149951" y="233362"/>
                      <a:pt x="133350" y="233362"/>
                    </a:cubicBezTo>
                    <a:cubicBezTo>
                      <a:pt x="101664" y="233362"/>
                      <a:pt x="71615" y="219289"/>
                      <a:pt x="51331" y="194946"/>
                    </a:cubicBezTo>
                    <a:lnTo>
                      <a:pt x="0" y="133350"/>
                    </a:lnTo>
                    <a:lnTo>
                      <a:pt x="51331" y="71753"/>
                    </a:lnTo>
                    <a:cubicBezTo>
                      <a:pt x="52505" y="70344"/>
                      <a:pt x="53712" y="68970"/>
                      <a:pt x="54950" y="67630"/>
                    </a:cubicBezTo>
                    <a:lnTo>
                      <a:pt x="0" y="0"/>
                    </a:lnTo>
                    <a:lnTo>
                      <a:pt x="50006" y="0"/>
                    </a:lnTo>
                    <a:lnTo>
                      <a:pt x="266700" y="266700"/>
                    </a:lnTo>
                    <a:close/>
                    <a:moveTo>
                      <a:pt x="89220" y="109809"/>
                    </a:moveTo>
                    <a:cubicBezTo>
                      <a:pt x="85470" y="116825"/>
                      <a:pt x="83344" y="124839"/>
                      <a:pt x="83344" y="133350"/>
                    </a:cubicBezTo>
                    <a:cubicBezTo>
                      <a:pt x="83344" y="160968"/>
                      <a:pt x="105732" y="183356"/>
                      <a:pt x="133350" y="183356"/>
                    </a:cubicBezTo>
                    <a:cubicBezTo>
                      <a:pt x="138214" y="183356"/>
                      <a:pt x="142915" y="182661"/>
                      <a:pt x="147361" y="181368"/>
                    </a:cubicBezTo>
                    <a:lnTo>
                      <a:pt x="89220" y="109809"/>
                    </a:lnTo>
                    <a:close/>
                  </a:path>
                </a:pathLst>
              </a:custGeom>
              <a:solidFill>
                <a:schemeClr val="accent3"/>
              </a:solidFill>
              <a:ln>
                <a:noFill/>
              </a:ln>
            </p:spPr>
          </p:sp>
          <p:sp>
            <p:nvSpPr>
              <p:cNvPr id="27" name="Freeform 27"/>
              <p:cNvSpPr/>
              <p:nvPr/>
            </p:nvSpPr>
            <p:spPr>
              <a:xfrm>
                <a:off x="7613891" y="3767138"/>
                <a:ext cx="139459" cy="135460"/>
              </a:xfrm>
              <a:custGeom>
                <a:avLst/>
                <a:gdLst/>
                <a:ahLst/>
                <a:cxnLst/>
                <a:rect l="l" t="t" r="r" b="b"/>
                <a:pathLst>
                  <a:path w="139459" h="135460">
                    <a:moveTo>
                      <a:pt x="139459" y="100012"/>
                    </a:moveTo>
                    <a:lnTo>
                      <a:pt x="109919" y="135460"/>
                    </a:lnTo>
                    <a:lnTo>
                      <a:pt x="0" y="175"/>
                    </a:lnTo>
                    <a:cubicBezTo>
                      <a:pt x="2028" y="59"/>
                      <a:pt x="4065" y="0"/>
                      <a:pt x="6109" y="0"/>
                    </a:cubicBezTo>
                    <a:cubicBezTo>
                      <a:pt x="37795" y="0"/>
                      <a:pt x="67843" y="14074"/>
                      <a:pt x="88129" y="38416"/>
                    </a:cubicBezTo>
                    <a:lnTo>
                      <a:pt x="139459" y="100012"/>
                    </a:lnTo>
                    <a:close/>
                  </a:path>
                </a:pathLst>
              </a:custGeom>
              <a:solidFill>
                <a:schemeClr val="accent3"/>
              </a:solidFill>
              <a:ln>
                <a:noFill/>
              </a:ln>
            </p:spPr>
          </p:sp>
        </p:grpSp>
        <p:sp>
          <p:nvSpPr>
            <p:cNvPr id="29" name="TextBox 29"/>
            <p:cNvSpPr txBox="1"/>
            <p:nvPr/>
          </p:nvSpPr>
          <p:spPr>
            <a:xfrm>
              <a:off x="7477506" y="416814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知识不可见</a:t>
              </a:r>
            </a:p>
          </p:txBody>
        </p:sp>
        <p:sp>
          <p:nvSpPr>
            <p:cNvPr id="30" name="TextBox 30"/>
            <p:cNvSpPr txBox="1"/>
            <p:nvPr/>
          </p:nvSpPr>
          <p:spPr>
            <a:xfrm>
              <a:off x="7479792" y="4559618"/>
              <a:ext cx="1213866" cy="778383"/>
            </a:xfrm>
            <a:prstGeom prst="rect">
              <a:avLst/>
            </a:prstGeom>
            <a:noFill/>
            <a:ln>
              <a:noFill/>
            </a:ln>
          </p:spPr>
          <p:txBody>
            <a:bodyPr wrap="none" lIns="0" tIns="0" rIns="0" bIns="0" anchor="t" anchorCtr="0">
              <a:spAutoFit/>
            </a:bodyPr>
            <a:lstStyle/>
            <a:p>
              <a:pPr algn="l">
                <a:lnSpc>
                  <a:spcPts val="2025"/>
                </a:lnSpc>
              </a:pPr>
              <a:r>
                <a:rPr lang="zh-CN" sz="1350" dirty="0">
                  <a:solidFill>
                    <a:schemeClr val="accent5"/>
                  </a:solidFill>
                  <a:latin typeface="+mn-lt"/>
                  <a:ea typeface="+mn-ea"/>
                  <a:cs typeface="+mn-cs"/>
                </a:rPr>
                <a:t>量程、安全值、</a:t>
              </a:r>
              <a:br/>
              <a:r>
                <a:rPr lang="zh-CN" sz="1350" dirty="0">
                  <a:solidFill>
                    <a:schemeClr val="accent5"/>
                  </a:solidFill>
                  <a:latin typeface="+mn-lt"/>
                  <a:ea typeface="+mn-ea"/>
                  <a:cs typeface="+mn-cs"/>
                </a:rPr>
                <a:t>接线关系散落在</a:t>
              </a:r>
              <a:br/>
              <a:r>
                <a:rPr lang="zh-CN" sz="1350" dirty="0">
                  <a:solidFill>
                    <a:schemeClr val="accent5"/>
                  </a:solidFill>
                  <a:latin typeface="+mn-lt"/>
                  <a:ea typeface="+mn-ea"/>
                  <a:cs typeface="+mn-cs"/>
                </a:rPr>
                <a:t>驱动和脚本中</a:t>
              </a:r>
            </a:p>
          </p:txBody>
        </p:sp>
      </p:grpSp>
      <p:grpSp>
        <p:nvGrpSpPr>
          <p:cNvPr id="35" name="p03-cost-5"/>
          <p:cNvGrpSpPr/>
          <p:nvPr/>
        </p:nvGrpSpPr>
        <p:grpSpPr>
          <a:xfrm>
            <a:off x="9639681" y="2370106"/>
            <a:ext cx="1472184" cy="1604201"/>
            <a:chOff x="9639681" y="3733800"/>
            <a:chExt cx="1472184" cy="1604201"/>
          </a:xfrm>
        </p:grpSpPr>
        <p:sp>
          <p:nvSpPr>
            <p:cNvPr id="32" name="Freeform 32"/>
            <p:cNvSpPr/>
            <p:nvPr/>
          </p:nvSpPr>
          <p:spPr>
            <a:xfrm>
              <a:off x="9648825" y="3733800"/>
              <a:ext cx="261818" cy="261818"/>
            </a:xfrm>
            <a:custGeom>
              <a:avLst/>
              <a:gdLst/>
              <a:ahLst/>
              <a:cxnLst/>
              <a:rect l="l" t="t" r="r" b="b"/>
              <a:pathLst>
                <a:path w="261818" h="261818">
                  <a:moveTo>
                    <a:pt x="186560" y="210133"/>
                  </a:moveTo>
                  <a:cubicBezTo>
                    <a:pt x="167081" y="224721"/>
                    <a:pt x="142890" y="233362"/>
                    <a:pt x="116681" y="233362"/>
                  </a:cubicBezTo>
                  <a:cubicBezTo>
                    <a:pt x="52240" y="233362"/>
                    <a:pt x="0" y="181123"/>
                    <a:pt x="0" y="116681"/>
                  </a:cubicBezTo>
                  <a:cubicBezTo>
                    <a:pt x="0" y="52240"/>
                    <a:pt x="52240" y="0"/>
                    <a:pt x="116681" y="0"/>
                  </a:cubicBezTo>
                  <a:cubicBezTo>
                    <a:pt x="181123" y="0"/>
                    <a:pt x="233362" y="52240"/>
                    <a:pt x="233362" y="116681"/>
                  </a:cubicBezTo>
                  <a:cubicBezTo>
                    <a:pt x="233362" y="142890"/>
                    <a:pt x="224721" y="167081"/>
                    <a:pt x="210133" y="186560"/>
                  </a:cubicBezTo>
                  <a:lnTo>
                    <a:pt x="261818" y="238245"/>
                  </a:lnTo>
                  <a:lnTo>
                    <a:pt x="238245" y="261818"/>
                  </a:lnTo>
                  <a:lnTo>
                    <a:pt x="186560" y="210133"/>
                  </a:lnTo>
                  <a:close/>
                  <a:moveTo>
                    <a:pt x="93108" y="140254"/>
                  </a:moveTo>
                  <a:lnTo>
                    <a:pt x="69535" y="163828"/>
                  </a:lnTo>
                  <a:cubicBezTo>
                    <a:pt x="43497" y="137789"/>
                    <a:pt x="43497" y="95573"/>
                    <a:pt x="69535" y="69535"/>
                  </a:cubicBezTo>
                  <a:cubicBezTo>
                    <a:pt x="95573" y="43497"/>
                    <a:pt x="137789" y="43497"/>
                    <a:pt x="163828" y="69535"/>
                  </a:cubicBezTo>
                  <a:lnTo>
                    <a:pt x="140254" y="93108"/>
                  </a:lnTo>
                  <a:cubicBezTo>
                    <a:pt x="127235" y="80089"/>
                    <a:pt x="106127" y="80089"/>
                    <a:pt x="93108" y="93108"/>
                  </a:cubicBezTo>
                  <a:cubicBezTo>
                    <a:pt x="80089" y="106127"/>
                    <a:pt x="80089" y="127235"/>
                    <a:pt x="93108" y="140254"/>
                  </a:cubicBezTo>
                  <a:close/>
                </a:path>
              </a:pathLst>
            </a:custGeom>
            <a:solidFill>
              <a:schemeClr val="accent3"/>
            </a:solidFill>
            <a:ln>
              <a:noFill/>
            </a:ln>
          </p:spPr>
        </p:sp>
        <p:sp>
          <p:nvSpPr>
            <p:cNvPr id="33" name="TextBox 33"/>
            <p:cNvSpPr txBox="1"/>
            <p:nvPr/>
          </p:nvSpPr>
          <p:spPr>
            <a:xfrm>
              <a:off x="9639681" y="416814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验证边界模糊</a:t>
              </a:r>
            </a:p>
          </p:txBody>
        </p:sp>
        <p:sp>
          <p:nvSpPr>
            <p:cNvPr id="34" name="TextBox 34"/>
            <p:cNvSpPr txBox="1"/>
            <p:nvPr/>
          </p:nvSpPr>
          <p:spPr>
            <a:xfrm>
              <a:off x="9641967" y="4559618"/>
              <a:ext cx="1385316" cy="778383"/>
            </a:xfrm>
            <a:prstGeom prst="rect">
              <a:avLst/>
            </a:prstGeom>
            <a:noFill/>
            <a:ln>
              <a:noFill/>
            </a:ln>
          </p:spPr>
          <p:txBody>
            <a:bodyPr wrap="none" lIns="0" tIns="0" rIns="0" bIns="0" anchor="t" anchorCtr="0">
              <a:spAutoFit/>
            </a:bodyPr>
            <a:lstStyle/>
            <a:p>
              <a:pPr algn="l">
                <a:lnSpc>
                  <a:spcPts val="2025"/>
                </a:lnSpc>
              </a:pPr>
              <a:r>
                <a:rPr lang="zh-CN" sz="1350" dirty="0">
                  <a:solidFill>
                    <a:schemeClr val="accent5"/>
                  </a:solidFill>
                  <a:latin typeface="+mn-lt"/>
                  <a:ea typeface="+mn-ea"/>
                  <a:cs typeface="+mn-cs"/>
                </a:rPr>
                <a:t>设备访问、</a:t>
              </a:r>
              <a:br/>
              <a:r>
                <a:rPr lang="zh-CN" sz="1350" dirty="0">
                  <a:solidFill>
                    <a:schemeClr val="accent5"/>
                  </a:solidFill>
                  <a:latin typeface="+mn-lt"/>
                  <a:ea typeface="+mn-ea"/>
                  <a:cs typeface="+mn-cs"/>
                </a:rPr>
                <a:t>协议解析、</a:t>
              </a:r>
              <a:br/>
              <a:r>
                <a:rPr lang="zh-CN" sz="1350" dirty="0">
                  <a:solidFill>
                    <a:schemeClr val="accent5"/>
                  </a:solidFill>
                  <a:latin typeface="+mn-lt"/>
                  <a:ea typeface="+mn-ea"/>
                  <a:cs typeface="+mn-cs"/>
                </a:rPr>
                <a:t>业务判定相互纠缠</a:t>
              </a:r>
            </a:p>
          </p:txBody>
        </p:sp>
      </p:grpSp>
      <p:sp>
        <p:nvSpPr>
          <p:cNvPr id="36" name="Line 36"/>
          <p:cNvSpPr/>
          <p:nvPr/>
        </p:nvSpPr>
        <p:spPr>
          <a:xfrm>
            <a:off x="990600" y="4389406"/>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38" name="p03-conclusion"/>
          <p:cNvGrpSpPr/>
          <p:nvPr/>
        </p:nvGrpSpPr>
        <p:grpSpPr>
          <a:xfrm>
            <a:off x="834687" y="5041639"/>
            <a:ext cx="5847755" cy="359842"/>
            <a:chOff x="971931" y="5003125"/>
            <a:chExt cx="5847755" cy="359842"/>
          </a:xfrm>
        </p:grpSpPr>
        <p:sp>
          <p:nvSpPr>
            <p:cNvPr id="37" name="TextBox 37"/>
            <p:cNvSpPr txBox="1"/>
            <p:nvPr/>
          </p:nvSpPr>
          <p:spPr>
            <a:xfrm>
              <a:off x="971931" y="5003125"/>
              <a:ext cx="5847755" cy="359842"/>
            </a:xfrm>
            <a:prstGeom prst="rect">
              <a:avLst/>
            </a:prstGeom>
            <a:noFill/>
            <a:ln>
              <a:noFill/>
            </a:ln>
          </p:spPr>
          <p:txBody>
            <a:bodyPr wrap="none" lIns="0" tIns="0" rIns="0" bIns="0" anchor="t" anchorCtr="0">
              <a:spAutoFit/>
            </a:bodyPr>
            <a:lstStyle/>
            <a:p>
              <a:pPr algn="l">
                <a:lnSpc>
                  <a:spcPts val="3000"/>
                </a:lnSpc>
              </a:pPr>
              <a:r>
                <a:rPr lang="zh-CN" sz="2400" b="1" dirty="0">
                  <a:solidFill>
                    <a:schemeClr val="accent1"/>
                  </a:solidFill>
                  <a:latin typeface="+mj-lt"/>
                  <a:ea typeface="+mj-ea"/>
                  <a:cs typeface="+mj-cs"/>
                </a:rPr>
                <a:t>「为每个产品写一套软件」</a:t>
              </a:r>
              <a:r>
                <a:rPr lang="zh-CN" altLang="en-US" sz="2400" b="1" dirty="0">
                  <a:solidFill>
                    <a:schemeClr val="accent1"/>
                  </a:solidFill>
                  <a:latin typeface="+mj-lt"/>
                  <a:ea typeface="+mj-ea"/>
                  <a:cs typeface="+mj-cs"/>
                </a:rPr>
                <a:t>导致的必然结果</a:t>
              </a:r>
              <a:endParaRPr lang="zh-CN" sz="2400" b="1" dirty="0">
                <a:solidFill>
                  <a:schemeClr val="accent1"/>
                </a:solidFill>
                <a:latin typeface="+mj-lt"/>
                <a:ea typeface="+mj-ea"/>
                <a:cs typeface="+mj-cs"/>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04-header"/>
          <p:cNvGrpSpPr/>
          <p:nvPr/>
        </p:nvGrpSpPr>
        <p:grpSpPr>
          <a:xfrm>
            <a:off x="974598" y="844868"/>
            <a:ext cx="8125622" cy="750658"/>
            <a:chOff x="974598" y="844868"/>
            <a:chExt cx="8125622" cy="750658"/>
          </a:xfrm>
        </p:grpSpPr>
        <p:sp>
          <p:nvSpPr>
            <p:cNvPr id="3" name="TextBox 3"/>
            <p:cNvSpPr txBox="1"/>
            <p:nvPr/>
          </p:nvSpPr>
          <p:spPr>
            <a:xfrm>
              <a:off x="983742" y="844868"/>
              <a:ext cx="92240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困境与矛盾</a:t>
              </a:r>
            </a:p>
          </p:txBody>
        </p:sp>
        <p:sp>
          <p:nvSpPr>
            <p:cNvPr id="4" name="TextBox 4"/>
            <p:cNvSpPr txBox="1"/>
            <p:nvPr/>
          </p:nvSpPr>
          <p:spPr>
            <a:xfrm>
              <a:off x="974598" y="1126808"/>
              <a:ext cx="8125622" cy="468718"/>
            </a:xfrm>
            <a:prstGeom prst="rect">
              <a:avLst/>
            </a:prstGeom>
            <a:noFill/>
            <a:ln>
              <a:noFill/>
            </a:ln>
          </p:spPr>
          <p:txBody>
            <a:bodyPr wrap="none" lIns="0" tIns="0" rIns="0" bIns="0" anchor="t" anchorCtr="0">
              <a:spAutoFit/>
            </a:bodyPr>
            <a:lstStyle/>
            <a:p>
              <a:pPr algn="l">
                <a:lnSpc>
                  <a:spcPts val="3900"/>
                </a:lnSpc>
              </a:pPr>
              <a:r>
                <a:rPr lang="zh-CN" altLang="en-US" sz="3150" b="1" dirty="0">
                  <a:solidFill>
                    <a:schemeClr val="accent1"/>
                  </a:solidFill>
                  <a:latin typeface="+mj-lt"/>
                  <a:ea typeface="+mj-ea"/>
                  <a:cs typeface="+mj-cs"/>
                </a:rPr>
                <a:t>核心矛盾</a:t>
              </a:r>
              <a:r>
                <a:rPr lang="zh-CN" sz="3150" b="1" dirty="0">
                  <a:solidFill>
                    <a:schemeClr val="accent1"/>
                  </a:solidFill>
                  <a:latin typeface="+mj-lt"/>
                  <a:ea typeface="+mj-ea"/>
                  <a:cs typeface="+mj-cs"/>
                </a:rPr>
                <a:t>：测试任务复杂</a:t>
              </a:r>
              <a:r>
                <a:rPr lang="zh-CN" altLang="en-US" sz="3150" b="1" dirty="0">
                  <a:solidFill>
                    <a:schemeClr val="accent1"/>
                  </a:solidFill>
                  <a:latin typeface="+mj-lt"/>
                  <a:ea typeface="+mj-ea"/>
                  <a:cs typeface="+mj-cs"/>
                </a:rPr>
                <a:t>度</a:t>
              </a:r>
              <a:r>
                <a:rPr lang="en-US" altLang="zh-CN" sz="3150" b="1" dirty="0">
                  <a:solidFill>
                    <a:schemeClr val="accent1"/>
                  </a:solidFill>
                  <a:latin typeface="+mj-lt"/>
                  <a:ea typeface="+mj-ea"/>
                  <a:cs typeface="+mj-cs"/>
                </a:rPr>
                <a:t>vs</a:t>
              </a:r>
              <a:r>
                <a:rPr lang="zh-CN" sz="3150" b="1" dirty="0">
                  <a:solidFill>
                    <a:schemeClr val="accent1"/>
                  </a:solidFill>
                  <a:latin typeface="+mj-lt"/>
                  <a:ea typeface="+mj-ea"/>
                  <a:cs typeface="+mj-cs"/>
                </a:rPr>
                <a:t>测试工程师能力</a:t>
              </a:r>
            </a:p>
          </p:txBody>
        </p:sp>
      </p:grpSp>
      <p:sp>
        <p:nvSpPr>
          <p:cNvPr id="6" name="Line 6"/>
          <p:cNvSpPr/>
          <p:nvPr/>
        </p:nvSpPr>
        <p:spPr>
          <a:xfrm>
            <a:off x="990600" y="1779400"/>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17" name="p04-reading-a"/>
          <p:cNvGrpSpPr/>
          <p:nvPr/>
        </p:nvGrpSpPr>
        <p:grpSpPr>
          <a:xfrm>
            <a:off x="1262978" y="2423338"/>
            <a:ext cx="2250616" cy="1005661"/>
            <a:chOff x="1407112" y="2465724"/>
            <a:chExt cx="2748627" cy="581196"/>
          </a:xfrm>
        </p:grpSpPr>
        <p:sp>
          <p:nvSpPr>
            <p:cNvPr id="16" name="TextBox 16"/>
            <p:cNvSpPr txBox="1"/>
            <p:nvPr/>
          </p:nvSpPr>
          <p:spPr>
            <a:xfrm>
              <a:off x="1407112" y="2465724"/>
              <a:ext cx="2748627" cy="581196"/>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完成一次台架测试，从接线、</a:t>
              </a:r>
              <a:endParaRPr lang="en-US" altLang="zh-CN" sz="1350" dirty="0">
                <a:solidFill>
                  <a:schemeClr val="dk1"/>
                </a:solidFill>
                <a:latin typeface="+mn-lt"/>
                <a:ea typeface="+mn-ea"/>
                <a:cs typeface="+mn-cs"/>
              </a:endParaRPr>
            </a:p>
            <a:p>
              <a:pPr algn="l">
                <a:lnSpc>
                  <a:spcPts val="1950"/>
                </a:lnSpc>
              </a:pPr>
              <a:r>
                <a:rPr lang="zh-CN" sz="1350" dirty="0">
                  <a:solidFill>
                    <a:schemeClr val="dk1"/>
                  </a:solidFill>
                  <a:latin typeface="+mn-lt"/>
                  <a:ea typeface="+mn-ea"/>
                  <a:cs typeface="+mn-cs"/>
                </a:rPr>
                <a:t>驱动、协议、流程编排到判</a:t>
              </a:r>
              <a:endParaRPr lang="en-US" altLang="zh-CN" sz="1350" dirty="0">
                <a:solidFill>
                  <a:schemeClr val="dk1"/>
                </a:solidFill>
                <a:latin typeface="+mn-lt"/>
                <a:ea typeface="+mn-ea"/>
                <a:cs typeface="+mn-cs"/>
              </a:endParaRPr>
            </a:p>
            <a:p>
              <a:pPr algn="l">
                <a:lnSpc>
                  <a:spcPts val="1950"/>
                </a:lnSpc>
              </a:pPr>
              <a:r>
                <a:rPr lang="zh-CN" sz="1350" dirty="0">
                  <a:solidFill>
                    <a:schemeClr val="dk1"/>
                  </a:solidFill>
                  <a:latin typeface="+mn-lt"/>
                  <a:ea typeface="+mn-ea"/>
                  <a:cs typeface="+mn-cs"/>
                </a:rPr>
                <a:t>定与报告，需要的能力是层</a:t>
              </a:r>
              <a:endParaRPr lang="en-US" altLang="zh-CN" sz="1350" dirty="0">
                <a:solidFill>
                  <a:schemeClr val="dk1"/>
                </a:solidFill>
                <a:latin typeface="+mn-lt"/>
                <a:ea typeface="+mn-ea"/>
                <a:cs typeface="+mn-cs"/>
              </a:endParaRPr>
            </a:p>
            <a:p>
              <a:pPr algn="l">
                <a:lnSpc>
                  <a:spcPts val="1950"/>
                </a:lnSpc>
              </a:pPr>
              <a:r>
                <a:rPr lang="zh-CN" sz="1350" dirty="0">
                  <a:solidFill>
                    <a:schemeClr val="dk1"/>
                  </a:solidFill>
                  <a:latin typeface="+mn-lt"/>
                  <a:ea typeface="+mn-ea"/>
                  <a:cs typeface="+mn-cs"/>
                </a:rPr>
                <a:t>层叠加的</a:t>
              </a:r>
            </a:p>
          </p:txBody>
        </p:sp>
      </p:grpSp>
      <p:grpSp>
        <p:nvGrpSpPr>
          <p:cNvPr id="19" name="p04-reading-b"/>
          <p:cNvGrpSpPr/>
          <p:nvPr/>
        </p:nvGrpSpPr>
        <p:grpSpPr>
          <a:xfrm>
            <a:off x="1262978" y="4291315"/>
            <a:ext cx="3398387" cy="1262140"/>
            <a:chOff x="382839" y="4302988"/>
            <a:chExt cx="4043301" cy="1262140"/>
          </a:xfrm>
        </p:grpSpPr>
        <p:sp>
          <p:nvSpPr>
            <p:cNvPr id="18" name="TextBox 18"/>
            <p:cNvSpPr txBox="1"/>
            <p:nvPr/>
          </p:nvSpPr>
          <p:spPr>
            <a:xfrm>
              <a:off x="382839" y="4302988"/>
              <a:ext cx="4043301" cy="1262140"/>
            </a:xfrm>
            <a:prstGeom prst="rect">
              <a:avLst/>
            </a:prstGeom>
            <a:noFill/>
            <a:ln>
              <a:noFill/>
            </a:ln>
          </p:spPr>
          <p:txBody>
            <a:bodyPr wrap="square" lIns="0" tIns="0" rIns="0" bIns="0" anchor="t" anchorCtr="0">
              <a:spAutoFit/>
            </a:bodyPr>
            <a:lstStyle/>
            <a:p>
              <a:pPr algn="l">
                <a:lnSpc>
                  <a:spcPts val="1950"/>
                </a:lnSpc>
              </a:pPr>
              <a:r>
                <a:rPr lang="zh-CN" sz="1350" dirty="0">
                  <a:solidFill>
                    <a:schemeClr val="dk1"/>
                  </a:solidFill>
                  <a:latin typeface="+mn-lt"/>
                  <a:ea typeface="+mn-ea"/>
                  <a:cs typeface="+mn-cs"/>
                </a:rPr>
                <a:t>测试工程师熟悉的是被测对</a:t>
              </a:r>
              <a:endParaRPr lang="en-US" altLang="zh-CN" sz="1350" dirty="0">
                <a:solidFill>
                  <a:schemeClr val="dk1"/>
                </a:solidFill>
                <a:latin typeface="+mn-lt"/>
                <a:ea typeface="+mn-ea"/>
                <a:cs typeface="+mn-cs"/>
              </a:endParaRPr>
            </a:p>
            <a:p>
              <a:pPr algn="l">
                <a:lnSpc>
                  <a:spcPts val="1950"/>
                </a:lnSpc>
              </a:pPr>
              <a:r>
                <a:rPr lang="zh-CN" sz="1350" dirty="0">
                  <a:solidFill>
                    <a:schemeClr val="dk1"/>
                  </a:solidFill>
                  <a:latin typeface="+mn-lt"/>
                  <a:ea typeface="+mn-ea"/>
                  <a:cs typeface="+mn-cs"/>
                </a:rPr>
                <a:t>象和测试方法，而不是驱动</a:t>
              </a:r>
              <a:endParaRPr lang="en-US" altLang="zh-CN" sz="1350" dirty="0">
                <a:solidFill>
                  <a:schemeClr val="dk1"/>
                </a:solidFill>
                <a:latin typeface="+mn-lt"/>
                <a:ea typeface="+mn-ea"/>
                <a:cs typeface="+mn-cs"/>
              </a:endParaRPr>
            </a:p>
            <a:p>
              <a:pPr algn="l">
                <a:lnSpc>
                  <a:spcPts val="1950"/>
                </a:lnSpc>
              </a:pPr>
              <a:r>
                <a:rPr lang="zh-CN" sz="1350" dirty="0">
                  <a:solidFill>
                    <a:schemeClr val="dk1"/>
                  </a:solidFill>
                  <a:latin typeface="+mn-lt"/>
                  <a:ea typeface="+mn-ea"/>
                  <a:cs typeface="+mn-cs"/>
                </a:rPr>
                <a:t>适配与软件工程，红线以上</a:t>
              </a:r>
              <a:endParaRPr lang="en-US" altLang="zh-CN" sz="1350" dirty="0">
                <a:solidFill>
                  <a:schemeClr val="dk1"/>
                </a:solidFill>
                <a:latin typeface="+mn-lt"/>
                <a:ea typeface="+mn-ea"/>
                <a:cs typeface="+mn-cs"/>
              </a:endParaRPr>
            </a:p>
            <a:p>
              <a:pPr algn="l">
                <a:lnSpc>
                  <a:spcPts val="1950"/>
                </a:lnSpc>
              </a:pPr>
              <a:r>
                <a:rPr lang="zh-CN" sz="1350" dirty="0">
                  <a:solidFill>
                    <a:schemeClr val="dk1"/>
                  </a:solidFill>
                  <a:latin typeface="+mn-lt"/>
                  <a:ea typeface="+mn-ea"/>
                  <a:cs typeface="+mn-cs"/>
                </a:rPr>
                <a:t>的层次只能交给</a:t>
              </a:r>
              <a:r>
                <a:rPr lang="zh-CN" altLang="en-US" sz="1350" dirty="0">
                  <a:solidFill>
                    <a:schemeClr val="dk1"/>
                  </a:solidFill>
                </a:rPr>
                <a:t>外包进行</a:t>
              </a:r>
              <a:r>
                <a:rPr lang="zh-CN" sz="1350" dirty="0">
                  <a:solidFill>
                    <a:schemeClr val="dk1"/>
                  </a:solidFill>
                  <a:latin typeface="+mn-lt"/>
                  <a:ea typeface="+mn-ea"/>
                  <a:cs typeface="+mn-cs"/>
                </a:rPr>
                <a:t>软</a:t>
              </a:r>
              <a:endParaRPr lang="en-US" altLang="zh-CN" sz="1350" dirty="0">
                <a:solidFill>
                  <a:schemeClr val="dk1"/>
                </a:solidFill>
                <a:latin typeface="+mn-lt"/>
                <a:ea typeface="+mn-ea"/>
                <a:cs typeface="+mn-cs"/>
              </a:endParaRPr>
            </a:p>
            <a:p>
              <a:pPr algn="l">
                <a:lnSpc>
                  <a:spcPts val="1950"/>
                </a:lnSpc>
              </a:pPr>
              <a:r>
                <a:rPr lang="zh-CN" sz="1350" dirty="0">
                  <a:solidFill>
                    <a:schemeClr val="dk1"/>
                  </a:solidFill>
                  <a:latin typeface="+mn-lt"/>
                  <a:ea typeface="+mn-ea"/>
                  <a:cs typeface="+mn-cs"/>
                </a:rPr>
                <a:t>件开发</a:t>
              </a:r>
            </a:p>
          </p:txBody>
        </p:sp>
      </p:grpSp>
      <p:pic>
        <p:nvPicPr>
          <p:cNvPr id="21" name="图片 20">
            <a:extLst>
              <a:ext uri="{FF2B5EF4-FFF2-40B4-BE49-F238E27FC236}">
                <a16:creationId xmlns:a16="http://schemas.microsoft.com/office/drawing/2014/main" id="{A253B16F-87BC-45C5-9ED4-F3508719A6D5}"/>
              </a:ext>
            </a:extLst>
          </p:cNvPr>
          <p:cNvPicPr>
            <a:picLocks noChangeAspect="1"/>
          </p:cNvPicPr>
          <p:nvPr/>
        </p:nvPicPr>
        <p:blipFill>
          <a:blip r:embed="rId3"/>
          <a:stretch>
            <a:fillRect/>
          </a:stretch>
        </p:blipFill>
        <p:spPr>
          <a:xfrm>
            <a:off x="4081248" y="1876690"/>
            <a:ext cx="6405372" cy="4829249"/>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05-header"/>
          <p:cNvGrpSpPr/>
          <p:nvPr/>
        </p:nvGrpSpPr>
        <p:grpSpPr>
          <a:xfrm>
            <a:off x="974598" y="844868"/>
            <a:ext cx="5655394" cy="766688"/>
            <a:chOff x="974598" y="844868"/>
            <a:chExt cx="5655394" cy="766688"/>
          </a:xfrm>
        </p:grpSpPr>
        <p:sp>
          <p:nvSpPr>
            <p:cNvPr id="3" name="TextBox 3"/>
            <p:cNvSpPr txBox="1"/>
            <p:nvPr/>
          </p:nvSpPr>
          <p:spPr>
            <a:xfrm>
              <a:off x="983742" y="844868"/>
              <a:ext cx="92240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困境与矛盾</a:t>
              </a:r>
            </a:p>
          </p:txBody>
        </p:sp>
        <p:sp>
          <p:nvSpPr>
            <p:cNvPr id="4" name="TextBox 4"/>
            <p:cNvSpPr txBox="1"/>
            <p:nvPr/>
          </p:nvSpPr>
          <p:spPr>
            <a:xfrm>
              <a:off x="974598" y="1126808"/>
              <a:ext cx="5655394" cy="484748"/>
            </a:xfrm>
            <a:prstGeom prst="rect">
              <a:avLst/>
            </a:prstGeom>
            <a:noFill/>
            <a:ln>
              <a:noFill/>
            </a:ln>
          </p:spPr>
          <p:txBody>
            <a:bodyPr wrap="none" lIns="0" tIns="0" rIns="0" bIns="0" anchor="t" anchorCtr="0">
              <a:spAutoFit/>
            </a:bodyPr>
            <a:lstStyle/>
            <a:p>
              <a:pPr algn="l"/>
              <a:r>
                <a:rPr lang="zh-CN" altLang="en-US" sz="3150" b="1" dirty="0">
                  <a:solidFill>
                    <a:schemeClr val="accent1"/>
                  </a:solidFill>
                  <a:latin typeface="+mj-lt"/>
                  <a:ea typeface="+mj-ea"/>
                  <a:cs typeface="+mj-cs"/>
                </a:rPr>
                <a:t>解决方案</a:t>
              </a:r>
              <a:r>
                <a:rPr lang="zh-CN" sz="3150" b="1" dirty="0">
                  <a:solidFill>
                    <a:schemeClr val="accent1"/>
                  </a:solidFill>
                  <a:latin typeface="+mj-lt"/>
                  <a:ea typeface="+mj-ea"/>
                  <a:cs typeface="+mj-cs"/>
                </a:rPr>
                <a:t>：先通用化，再</a:t>
              </a:r>
              <a:r>
                <a:rPr lang="zh-CN" altLang="en-US" sz="3150" b="1" dirty="0">
                  <a:solidFill>
                    <a:schemeClr val="accent1"/>
                  </a:solidFill>
                  <a:latin typeface="+mj-lt"/>
                  <a:ea typeface="+mj-ea"/>
                  <a:cs typeface="+mj-cs"/>
                </a:rPr>
                <a:t>智能化</a:t>
              </a:r>
              <a:endParaRPr lang="zh-CN" sz="3150" b="1" dirty="0">
                <a:solidFill>
                  <a:schemeClr val="accent1"/>
                </a:solidFill>
                <a:latin typeface="+mj-lt"/>
                <a:ea typeface="+mj-ea"/>
                <a:cs typeface="+mj-cs"/>
              </a:endParaRPr>
            </a:p>
          </p:txBody>
        </p:sp>
      </p:grpSp>
      <p:sp>
        <p:nvSpPr>
          <p:cNvPr id="6" name="Line 6"/>
          <p:cNvSpPr/>
          <p:nvPr/>
        </p:nvSpPr>
        <p:spPr>
          <a:xfrm>
            <a:off x="990600" y="1676400"/>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12" name="p05-step-1"/>
          <p:cNvGrpSpPr/>
          <p:nvPr/>
        </p:nvGrpSpPr>
        <p:grpSpPr>
          <a:xfrm>
            <a:off x="990600" y="1832922"/>
            <a:ext cx="2615181" cy="2185629"/>
            <a:chOff x="981456" y="1824990"/>
            <a:chExt cx="2615181" cy="2185629"/>
          </a:xfrm>
        </p:grpSpPr>
        <p:sp>
          <p:nvSpPr>
            <p:cNvPr id="7" name="TextBox 7"/>
            <p:cNvSpPr txBox="1"/>
            <p:nvPr/>
          </p:nvSpPr>
          <p:spPr>
            <a:xfrm>
              <a:off x="981456" y="1824990"/>
              <a:ext cx="160545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第一步 通用化</a:t>
              </a:r>
            </a:p>
          </p:txBody>
        </p:sp>
        <p:sp>
          <p:nvSpPr>
            <p:cNvPr id="8" name="TextBox 8"/>
            <p:cNvSpPr txBox="1"/>
            <p:nvPr/>
          </p:nvSpPr>
          <p:spPr>
            <a:xfrm>
              <a:off x="983742" y="2235518"/>
              <a:ext cx="2612895" cy="1775101"/>
            </a:xfrm>
            <a:prstGeom prst="rect">
              <a:avLst/>
            </a:prstGeom>
            <a:noFill/>
            <a:ln>
              <a:noFill/>
            </a:ln>
          </p:spPr>
          <p:txBody>
            <a:bodyPr wrap="none" lIns="0" tIns="0" rIns="0" bIns="0" anchor="t" anchorCtr="0">
              <a:spAutoFit/>
            </a:bodyPr>
            <a:lstStyle/>
            <a:p>
              <a:pPr marL="342900" indent="-342900" algn="l">
                <a:lnSpc>
                  <a:spcPts val="1950"/>
                </a:lnSpc>
                <a:buFont typeface="+mj-lt"/>
                <a:buAutoNum type="arabicPeriod"/>
              </a:pPr>
              <a:r>
                <a:rPr lang="zh-CN" sz="1350" dirty="0">
                  <a:solidFill>
                    <a:schemeClr val="dk1"/>
                  </a:solidFill>
                  <a:latin typeface="+mn-lt"/>
                  <a:ea typeface="+mn-ea"/>
                  <a:cs typeface="+mn-cs"/>
                </a:rPr>
                <a:t>硬件以</a:t>
              </a:r>
              <a:r>
                <a:rPr lang="en-US" altLang="zh-CN" sz="1350" dirty="0" err="1">
                  <a:solidFill>
                    <a:schemeClr val="dk1"/>
                  </a:solidFill>
                </a:rPr>
                <a:t>mcp</a:t>
              </a:r>
              <a:r>
                <a:rPr lang="zh-CN" altLang="en-US" sz="1350" dirty="0">
                  <a:solidFill>
                    <a:schemeClr val="dk1"/>
                  </a:solidFill>
                </a:rPr>
                <a:t>协议</a:t>
              </a:r>
              <a:r>
                <a:rPr lang="zh-CN" sz="1350" dirty="0">
                  <a:solidFill>
                    <a:schemeClr val="dk1"/>
                  </a:solidFill>
                  <a:latin typeface="+mn-lt"/>
                  <a:ea typeface="+mn-ea"/>
                  <a:cs typeface="+mn-cs"/>
                </a:rPr>
                <a:t>接入</a:t>
              </a:r>
              <a:r>
                <a:rPr lang="en-US" altLang="zh-CN" sz="1350" dirty="0">
                  <a:solidFill>
                    <a:schemeClr val="dk1"/>
                  </a:solidFill>
                  <a:latin typeface="+mn-lt"/>
                  <a:ea typeface="+mn-ea"/>
                  <a:cs typeface="+mn-cs"/>
                </a:rPr>
                <a:t>, </a:t>
              </a:r>
              <a:r>
                <a:rPr lang="zh-CN" altLang="en-US" sz="1350" dirty="0">
                  <a:solidFill>
                    <a:schemeClr val="dk1"/>
                  </a:solidFill>
                  <a:latin typeface="+mn-lt"/>
                  <a:ea typeface="+mn-ea"/>
                  <a:cs typeface="+mn-cs"/>
                </a:rPr>
                <a:t>可接入</a:t>
              </a:r>
              <a:br>
                <a:rPr lang="en-US" altLang="zh-CN" sz="1350" dirty="0">
                  <a:solidFill>
                    <a:schemeClr val="dk1"/>
                  </a:solidFill>
                  <a:latin typeface="+mn-lt"/>
                  <a:ea typeface="+mn-ea"/>
                  <a:cs typeface="+mn-cs"/>
                </a:rPr>
              </a:br>
              <a:r>
                <a:rPr lang="zh-CN" altLang="en-US" sz="1350" dirty="0">
                  <a:solidFill>
                    <a:schemeClr val="dk1"/>
                  </a:solidFill>
                  <a:latin typeface="+mn-lt"/>
                  <a:ea typeface="+mn-ea"/>
                  <a:cs typeface="+mn-cs"/>
                </a:rPr>
                <a:t>的硬件动作自由度最高</a:t>
              </a:r>
              <a:endParaRPr lang="en-US" altLang="zh-CN" sz="1350" dirty="0">
                <a:solidFill>
                  <a:schemeClr val="dk1"/>
                </a:solidFill>
                <a:latin typeface="+mn-lt"/>
                <a:ea typeface="+mn-ea"/>
                <a:cs typeface="+mn-cs"/>
              </a:endParaRPr>
            </a:p>
            <a:p>
              <a:pPr marL="342900" indent="-342900" algn="l">
                <a:lnSpc>
                  <a:spcPts val="1950"/>
                </a:lnSpc>
                <a:buFont typeface="+mj-lt"/>
                <a:buAutoNum type="arabicPeriod"/>
              </a:pPr>
              <a:r>
                <a:rPr lang="zh-CN" altLang="en-US" sz="1350" dirty="0">
                  <a:solidFill>
                    <a:schemeClr val="dk1"/>
                  </a:solidFill>
                  <a:latin typeface="+mn-lt"/>
                  <a:ea typeface="+mn-ea"/>
                  <a:cs typeface="+mn-cs"/>
                </a:rPr>
                <a:t>测试编排改成无代码方式进行</a:t>
              </a:r>
              <a:br>
                <a:rPr lang="en-US" altLang="zh-CN" sz="1350" dirty="0">
                  <a:solidFill>
                    <a:schemeClr val="dk1"/>
                  </a:solidFill>
                </a:rPr>
              </a:br>
              <a:r>
                <a:rPr lang="zh-CN" altLang="en-US" sz="1350" dirty="0">
                  <a:solidFill>
                    <a:schemeClr val="dk1"/>
                  </a:solidFill>
                </a:rPr>
                <a:t>测试中的激励和测量通过</a:t>
              </a:r>
              <a:r>
                <a:rPr lang="en-US" altLang="zh-CN" sz="1350" dirty="0" err="1">
                  <a:solidFill>
                    <a:schemeClr val="dk1"/>
                  </a:solidFill>
                </a:rPr>
                <a:t>mcp</a:t>
              </a:r>
              <a:br>
                <a:rPr lang="en-US" altLang="zh-CN" sz="1350" dirty="0">
                  <a:solidFill>
                    <a:schemeClr val="dk1"/>
                  </a:solidFill>
                </a:rPr>
              </a:br>
              <a:r>
                <a:rPr lang="zh-CN" altLang="en-US" sz="1350" dirty="0">
                  <a:solidFill>
                    <a:schemeClr val="dk1"/>
                  </a:solidFill>
                </a:rPr>
                <a:t>协议调用硬件实现</a:t>
              </a:r>
              <a:endParaRPr lang="en-US" altLang="zh-CN" sz="1350" dirty="0">
                <a:solidFill>
                  <a:schemeClr val="dk1"/>
                </a:solidFill>
              </a:endParaRPr>
            </a:p>
            <a:p>
              <a:pPr marL="342900" indent="-342900" algn="l">
                <a:lnSpc>
                  <a:spcPts val="1950"/>
                </a:lnSpc>
                <a:buFont typeface="+mj-lt"/>
                <a:buAutoNum type="arabicPeriod"/>
              </a:pPr>
              <a:r>
                <a:rPr lang="zh-CN" altLang="en-US" sz="1350" dirty="0">
                  <a:solidFill>
                    <a:schemeClr val="dk1"/>
                  </a:solidFill>
                </a:rPr>
                <a:t>报告根据模板生成</a:t>
              </a:r>
              <a:r>
                <a:rPr lang="en-US" altLang="zh-CN" sz="1350" dirty="0">
                  <a:solidFill>
                    <a:schemeClr val="dk1"/>
                  </a:solidFill>
                </a:rPr>
                <a:t>, </a:t>
              </a:r>
              <a:r>
                <a:rPr lang="zh-CN" altLang="en-US" sz="1350" dirty="0">
                  <a:solidFill>
                    <a:schemeClr val="dk1"/>
                  </a:solidFill>
                </a:rPr>
                <a:t>统一提供</a:t>
              </a:r>
              <a:br>
                <a:rPr lang="en-US" altLang="zh-CN" sz="1350" dirty="0">
                  <a:solidFill>
                    <a:schemeClr val="dk1"/>
                  </a:solidFill>
                </a:rPr>
              </a:br>
              <a:r>
                <a:rPr lang="zh-CN" altLang="en-US" sz="1350" dirty="0">
                  <a:solidFill>
                    <a:schemeClr val="dk1"/>
                  </a:solidFill>
                </a:rPr>
                <a:t>前端操作界面</a:t>
              </a:r>
              <a:endParaRPr lang="zh-CN" sz="1350" dirty="0">
                <a:solidFill>
                  <a:schemeClr val="dk1"/>
                </a:solidFill>
                <a:latin typeface="+mn-lt"/>
                <a:ea typeface="+mn-ea"/>
                <a:cs typeface="+mn-cs"/>
              </a:endParaRPr>
            </a:p>
          </p:txBody>
        </p:sp>
      </p:grpSp>
      <p:grpSp>
        <p:nvGrpSpPr>
          <p:cNvPr id="14" name="p05-step-1-numeral"/>
          <p:cNvGrpSpPr/>
          <p:nvPr/>
        </p:nvGrpSpPr>
        <p:grpSpPr>
          <a:xfrm>
            <a:off x="4349953" y="1668780"/>
            <a:ext cx="748894" cy="1847850"/>
            <a:chOff x="4349953" y="1668780"/>
            <a:chExt cx="748894" cy="1847850"/>
          </a:xfrm>
        </p:grpSpPr>
        <p:sp>
          <p:nvSpPr>
            <p:cNvPr id="13" name="TextBox 13"/>
            <p:cNvSpPr txBox="1"/>
            <p:nvPr/>
          </p:nvSpPr>
          <p:spPr>
            <a:xfrm>
              <a:off x="4349953" y="1668780"/>
              <a:ext cx="748894" cy="1847850"/>
            </a:xfrm>
            <a:prstGeom prst="rect">
              <a:avLst/>
            </a:prstGeom>
            <a:noFill/>
            <a:ln>
              <a:noFill/>
            </a:ln>
          </p:spPr>
          <p:txBody>
            <a:bodyPr wrap="none" lIns="0" tIns="0" rIns="0" bIns="0" anchor="t" anchorCtr="0">
              <a:spAutoFit/>
            </a:bodyPr>
            <a:lstStyle/>
            <a:p>
              <a:pPr algn="ctr"/>
              <a:r>
                <a:rPr lang="zh-CN" sz="9600" b="1" dirty="0">
                  <a:solidFill>
                    <a:schemeClr val="accent1"/>
                  </a:solidFill>
                  <a:latin typeface="+mn-lt"/>
                  <a:ea typeface="+mn-ea"/>
                  <a:cs typeface="+mn-cs"/>
                </a:rPr>
                <a:t>1</a:t>
              </a:r>
            </a:p>
          </p:txBody>
        </p:sp>
      </p:grpSp>
      <p:grpSp>
        <p:nvGrpSpPr>
          <p:cNvPr id="33" name="p05-capability-stack"/>
          <p:cNvGrpSpPr/>
          <p:nvPr/>
        </p:nvGrpSpPr>
        <p:grpSpPr>
          <a:xfrm>
            <a:off x="5181600" y="1828800"/>
            <a:ext cx="2209800" cy="3067050"/>
            <a:chOff x="5181600" y="1828800"/>
            <a:chExt cx="2209800" cy="3067050"/>
          </a:xfrm>
        </p:grpSpPr>
        <p:sp>
          <p:nvSpPr>
            <p:cNvPr id="15" name="Rectangle 15"/>
            <p:cNvSpPr/>
            <p:nvPr/>
          </p:nvSpPr>
          <p:spPr>
            <a:xfrm>
              <a:off x="5334000" y="1828800"/>
              <a:ext cx="1905000" cy="438150"/>
            </a:xfrm>
            <a:prstGeom prst="rect">
              <a:avLst/>
            </a:prstGeom>
            <a:solidFill>
              <a:schemeClr val="lt1"/>
            </a:solidFill>
            <a:ln w="9525">
              <a:solidFill>
                <a:schemeClr val="accent6"/>
              </a:solidFill>
            </a:ln>
          </p:spPr>
        </p:sp>
        <p:sp>
          <p:nvSpPr>
            <p:cNvPr id="16" name="Rectangle 16"/>
            <p:cNvSpPr/>
            <p:nvPr/>
          </p:nvSpPr>
          <p:spPr>
            <a:xfrm>
              <a:off x="5334000" y="2266950"/>
              <a:ext cx="1905000" cy="438150"/>
            </a:xfrm>
            <a:prstGeom prst="rect">
              <a:avLst/>
            </a:prstGeom>
            <a:solidFill>
              <a:schemeClr val="lt1"/>
            </a:solidFill>
            <a:ln w="9525">
              <a:solidFill>
                <a:schemeClr val="accent6"/>
              </a:solidFill>
            </a:ln>
          </p:spPr>
        </p:sp>
        <p:sp>
          <p:nvSpPr>
            <p:cNvPr id="17" name="Rectangle 17"/>
            <p:cNvSpPr/>
            <p:nvPr/>
          </p:nvSpPr>
          <p:spPr>
            <a:xfrm>
              <a:off x="5334000" y="2705100"/>
              <a:ext cx="1905000" cy="438150"/>
            </a:xfrm>
            <a:prstGeom prst="rect">
              <a:avLst/>
            </a:prstGeom>
            <a:solidFill>
              <a:schemeClr val="lt1"/>
            </a:solidFill>
            <a:ln w="9525">
              <a:solidFill>
                <a:schemeClr val="accent6"/>
              </a:solidFill>
            </a:ln>
          </p:spPr>
        </p:sp>
        <p:sp>
          <p:nvSpPr>
            <p:cNvPr id="18" name="Rectangle 18"/>
            <p:cNvSpPr/>
            <p:nvPr/>
          </p:nvSpPr>
          <p:spPr>
            <a:xfrm>
              <a:off x="5334000" y="3143250"/>
              <a:ext cx="1905000" cy="438150"/>
            </a:xfrm>
            <a:prstGeom prst="rect">
              <a:avLst/>
            </a:prstGeom>
            <a:solidFill>
              <a:schemeClr val="lt1"/>
            </a:solidFill>
            <a:ln w="9525">
              <a:solidFill>
                <a:schemeClr val="accent6"/>
              </a:solidFill>
            </a:ln>
          </p:spPr>
        </p:sp>
        <p:sp>
          <p:nvSpPr>
            <p:cNvPr id="19" name="Rectangle 19"/>
            <p:cNvSpPr/>
            <p:nvPr/>
          </p:nvSpPr>
          <p:spPr>
            <a:xfrm>
              <a:off x="5334000" y="3581400"/>
              <a:ext cx="1905000" cy="438150"/>
            </a:xfrm>
            <a:prstGeom prst="rect">
              <a:avLst/>
            </a:prstGeom>
            <a:solidFill>
              <a:schemeClr val="lt1"/>
            </a:solidFill>
            <a:ln w="9525">
              <a:solidFill>
                <a:schemeClr val="accent6"/>
              </a:solidFill>
            </a:ln>
          </p:spPr>
        </p:sp>
        <p:sp>
          <p:nvSpPr>
            <p:cNvPr id="20" name="Rectangle 20"/>
            <p:cNvSpPr/>
            <p:nvPr/>
          </p:nvSpPr>
          <p:spPr>
            <a:xfrm>
              <a:off x="5334000" y="4019550"/>
              <a:ext cx="1905000" cy="438150"/>
            </a:xfrm>
            <a:prstGeom prst="rect">
              <a:avLst/>
            </a:prstGeom>
            <a:solidFill>
              <a:schemeClr val="lt2"/>
            </a:solidFill>
            <a:ln w="9525">
              <a:solidFill>
                <a:schemeClr val="accent1"/>
              </a:solidFill>
            </a:ln>
          </p:spPr>
        </p:sp>
        <p:sp>
          <p:nvSpPr>
            <p:cNvPr id="21" name="Rectangle 21"/>
            <p:cNvSpPr/>
            <p:nvPr/>
          </p:nvSpPr>
          <p:spPr>
            <a:xfrm>
              <a:off x="5334000" y="4457700"/>
              <a:ext cx="1905000" cy="438150"/>
            </a:xfrm>
            <a:prstGeom prst="rect">
              <a:avLst/>
            </a:prstGeom>
            <a:solidFill>
              <a:schemeClr val="lt2"/>
            </a:solidFill>
            <a:ln w="9525">
              <a:solidFill>
                <a:schemeClr val="accent1"/>
              </a:solidFill>
            </a:ln>
          </p:spPr>
        </p:sp>
        <p:sp>
          <p:nvSpPr>
            <p:cNvPr id="22" name="TextBox 22"/>
            <p:cNvSpPr txBox="1"/>
            <p:nvPr/>
          </p:nvSpPr>
          <p:spPr>
            <a:xfrm>
              <a:off x="5734431" y="1959292"/>
              <a:ext cx="1104138"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硬件驱动适配</a:t>
              </a:r>
            </a:p>
          </p:txBody>
        </p:sp>
        <p:sp>
          <p:nvSpPr>
            <p:cNvPr id="23" name="TextBox 23"/>
            <p:cNvSpPr txBox="1"/>
            <p:nvPr/>
          </p:nvSpPr>
          <p:spPr>
            <a:xfrm>
              <a:off x="5643562" y="2397442"/>
              <a:ext cx="1285875"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报告和操作界面</a:t>
              </a:r>
            </a:p>
          </p:txBody>
        </p:sp>
        <p:sp>
          <p:nvSpPr>
            <p:cNvPr id="24" name="TextBox 24"/>
            <p:cNvSpPr txBox="1"/>
            <p:nvPr/>
          </p:nvSpPr>
          <p:spPr>
            <a:xfrm>
              <a:off x="5546714" y="2835592"/>
              <a:ext cx="1479571" cy="207749"/>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测试</a:t>
              </a:r>
              <a:r>
                <a:rPr lang="zh-CN" altLang="en-US" sz="1350" dirty="0">
                  <a:solidFill>
                    <a:schemeClr val="accent5"/>
                  </a:solidFill>
                  <a:latin typeface="+mn-lt"/>
                  <a:ea typeface="+mn-ea"/>
                  <a:cs typeface="+mn-cs"/>
                </a:rPr>
                <a:t>流程</a:t>
              </a:r>
              <a:r>
                <a:rPr lang="zh-CN" sz="1350" dirty="0">
                  <a:solidFill>
                    <a:schemeClr val="accent5"/>
                  </a:solidFill>
                  <a:latin typeface="+mn-lt"/>
                  <a:ea typeface="+mn-ea"/>
                  <a:cs typeface="+mn-cs"/>
                </a:rPr>
                <a:t>&amp;</a:t>
              </a:r>
              <a:r>
                <a:rPr lang="zh-CN" altLang="en-US" sz="1350" dirty="0">
                  <a:solidFill>
                    <a:schemeClr val="accent5"/>
                  </a:solidFill>
                </a:rPr>
                <a:t>判据</a:t>
              </a:r>
              <a:r>
                <a:rPr lang="zh-CN" sz="1350" dirty="0">
                  <a:solidFill>
                    <a:schemeClr val="accent5"/>
                  </a:solidFill>
                  <a:latin typeface="+mn-lt"/>
                  <a:ea typeface="+mn-ea"/>
                  <a:cs typeface="+mn-cs"/>
                </a:rPr>
                <a:t>代码</a:t>
              </a:r>
            </a:p>
          </p:txBody>
        </p:sp>
        <p:sp>
          <p:nvSpPr>
            <p:cNvPr id="25" name="TextBox 25"/>
            <p:cNvSpPr txBox="1"/>
            <p:nvPr/>
          </p:nvSpPr>
          <p:spPr>
            <a:xfrm>
              <a:off x="5916168" y="3273742"/>
              <a:ext cx="740664"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协议解析</a:t>
              </a:r>
            </a:p>
          </p:txBody>
        </p:sp>
        <p:sp>
          <p:nvSpPr>
            <p:cNvPr id="26" name="TextBox 26"/>
            <p:cNvSpPr txBox="1"/>
            <p:nvPr/>
          </p:nvSpPr>
          <p:spPr>
            <a:xfrm>
              <a:off x="5734431" y="3711892"/>
              <a:ext cx="1104138"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硬件资源映射</a:t>
              </a:r>
            </a:p>
          </p:txBody>
        </p:sp>
        <p:sp>
          <p:nvSpPr>
            <p:cNvPr id="27" name="TextBox 27"/>
            <p:cNvSpPr txBox="1"/>
            <p:nvPr/>
          </p:nvSpPr>
          <p:spPr>
            <a:xfrm>
              <a:off x="5916168" y="4150042"/>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物理接线</a:t>
              </a:r>
            </a:p>
          </p:txBody>
        </p:sp>
        <p:sp>
          <p:nvSpPr>
            <p:cNvPr id="28" name="TextBox 28"/>
            <p:cNvSpPr txBox="1"/>
            <p:nvPr/>
          </p:nvSpPr>
          <p:spPr>
            <a:xfrm>
              <a:off x="5916168" y="4588192"/>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现场联调</a:t>
              </a:r>
            </a:p>
          </p:txBody>
        </p:sp>
        <p:sp>
          <p:nvSpPr>
            <p:cNvPr id="30" name="Freeform 30"/>
            <p:cNvSpPr/>
            <p:nvPr/>
          </p:nvSpPr>
          <p:spPr>
            <a:xfrm>
              <a:off x="5181600" y="1828800"/>
              <a:ext cx="102422" cy="1314450"/>
            </a:xfrm>
            <a:prstGeom prst="leftBracket">
              <a:avLst/>
            </a:prstGeom>
            <a:noFill/>
            <a:ln w="19050">
              <a:solidFill>
                <a:schemeClr val="accent3"/>
              </a:solidFill>
            </a:ln>
          </p:spPr>
        </p:sp>
        <p:sp>
          <p:nvSpPr>
            <p:cNvPr id="31" name="Freeform 31"/>
            <p:cNvSpPr/>
            <p:nvPr/>
          </p:nvSpPr>
          <p:spPr>
            <a:xfrm>
              <a:off x="7258050" y="2705100"/>
              <a:ext cx="133350" cy="1314450"/>
            </a:xfrm>
            <a:prstGeom prst="rightBracket">
              <a:avLst/>
            </a:prstGeom>
            <a:noFill/>
            <a:ln w="19050">
              <a:solidFill>
                <a:schemeClr val="accent3"/>
              </a:solidFill>
            </a:ln>
          </p:spPr>
        </p:sp>
      </p:grpSp>
      <p:grpSp>
        <p:nvGrpSpPr>
          <p:cNvPr id="35" name="p05-step-2-numeral"/>
          <p:cNvGrpSpPr/>
          <p:nvPr/>
        </p:nvGrpSpPr>
        <p:grpSpPr>
          <a:xfrm>
            <a:off x="7474153" y="2630805"/>
            <a:ext cx="748894" cy="1847850"/>
            <a:chOff x="7474153" y="2630805"/>
            <a:chExt cx="748894" cy="1847850"/>
          </a:xfrm>
        </p:grpSpPr>
        <p:sp>
          <p:nvSpPr>
            <p:cNvPr id="34" name="TextBox 34"/>
            <p:cNvSpPr txBox="1"/>
            <p:nvPr/>
          </p:nvSpPr>
          <p:spPr>
            <a:xfrm>
              <a:off x="7474153" y="2630805"/>
              <a:ext cx="748894" cy="1847850"/>
            </a:xfrm>
            <a:prstGeom prst="rect">
              <a:avLst/>
            </a:prstGeom>
            <a:noFill/>
            <a:ln>
              <a:noFill/>
            </a:ln>
          </p:spPr>
          <p:txBody>
            <a:bodyPr wrap="none" lIns="0" tIns="0" rIns="0" bIns="0" anchor="t" anchorCtr="0">
              <a:spAutoFit/>
            </a:bodyPr>
            <a:lstStyle/>
            <a:p>
              <a:pPr algn="ctr"/>
              <a:r>
                <a:rPr lang="zh-CN" sz="9600" b="1" dirty="0">
                  <a:solidFill>
                    <a:schemeClr val="accent1"/>
                  </a:solidFill>
                  <a:latin typeface="+mn-lt"/>
                  <a:ea typeface="+mn-ea"/>
                  <a:cs typeface="+mn-cs"/>
                </a:rPr>
                <a:t>2</a:t>
              </a:r>
            </a:p>
          </p:txBody>
        </p:sp>
      </p:grpSp>
      <p:grpSp>
        <p:nvGrpSpPr>
          <p:cNvPr id="41" name="p05-step-2"/>
          <p:cNvGrpSpPr/>
          <p:nvPr/>
        </p:nvGrpSpPr>
        <p:grpSpPr>
          <a:xfrm>
            <a:off x="8913105" y="2994828"/>
            <a:ext cx="2268932" cy="2114302"/>
            <a:chOff x="8372856" y="1824990"/>
            <a:chExt cx="2268932" cy="2114302"/>
          </a:xfrm>
        </p:grpSpPr>
        <p:sp>
          <p:nvSpPr>
            <p:cNvPr id="36" name="TextBox 36"/>
            <p:cNvSpPr txBox="1"/>
            <p:nvPr/>
          </p:nvSpPr>
          <p:spPr>
            <a:xfrm>
              <a:off x="8372856" y="1824990"/>
              <a:ext cx="160545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第二步 智能化</a:t>
              </a:r>
            </a:p>
          </p:txBody>
        </p:sp>
        <p:sp>
          <p:nvSpPr>
            <p:cNvPr id="37" name="TextBox 37"/>
            <p:cNvSpPr txBox="1"/>
            <p:nvPr/>
          </p:nvSpPr>
          <p:spPr>
            <a:xfrm>
              <a:off x="8375142" y="2235518"/>
              <a:ext cx="2266646" cy="1518621"/>
            </a:xfrm>
            <a:prstGeom prst="rect">
              <a:avLst/>
            </a:prstGeom>
            <a:noFill/>
            <a:ln>
              <a:noFill/>
            </a:ln>
          </p:spPr>
          <p:txBody>
            <a:bodyPr wrap="none" lIns="0" tIns="0" rIns="0" bIns="0" anchor="t" anchorCtr="0">
              <a:spAutoFit/>
            </a:bodyPr>
            <a:lstStyle/>
            <a:p>
              <a:pPr marL="342900" indent="-342900" algn="l">
                <a:lnSpc>
                  <a:spcPts val="1950"/>
                </a:lnSpc>
                <a:buFont typeface="+mj-lt"/>
                <a:buAutoNum type="arabicPeriod"/>
              </a:pPr>
              <a:r>
                <a:rPr lang="en-US" altLang="zh-CN" sz="1350" dirty="0">
                  <a:solidFill>
                    <a:schemeClr val="dk1"/>
                  </a:solidFill>
                </a:rPr>
                <a:t>AI</a:t>
              </a:r>
              <a:r>
                <a:rPr lang="zh-CN" altLang="en-US" sz="1350" dirty="0">
                  <a:solidFill>
                    <a:schemeClr val="dk1"/>
                  </a:solidFill>
                </a:rPr>
                <a:t>根据硬件资料编写代码</a:t>
              </a:r>
              <a:br>
                <a:rPr lang="en-US" altLang="zh-CN" sz="1350" dirty="0">
                  <a:solidFill>
                    <a:schemeClr val="dk1"/>
                  </a:solidFill>
                </a:rPr>
              </a:br>
              <a:r>
                <a:rPr lang="zh-CN" altLang="en-US" sz="1350" dirty="0">
                  <a:solidFill>
                    <a:schemeClr val="dk1"/>
                  </a:solidFill>
                </a:rPr>
                <a:t>实现测试硬件的适配</a:t>
              </a:r>
              <a:endParaRPr lang="en-US" altLang="zh-CN" sz="1350" dirty="0">
                <a:solidFill>
                  <a:schemeClr val="dk1"/>
                </a:solidFill>
              </a:endParaRPr>
            </a:p>
            <a:p>
              <a:pPr marL="342900" indent="-342900" algn="l">
                <a:lnSpc>
                  <a:spcPts val="1950"/>
                </a:lnSpc>
                <a:buFont typeface="+mj-lt"/>
                <a:buAutoNum type="arabicPeriod"/>
              </a:pPr>
              <a:r>
                <a:rPr lang="en-US" altLang="zh-CN" sz="1350" dirty="0">
                  <a:solidFill>
                    <a:schemeClr val="dk1"/>
                  </a:solidFill>
                </a:rPr>
                <a:t>AI</a:t>
              </a:r>
              <a:r>
                <a:rPr lang="zh-CN" altLang="en-US" sz="1350" dirty="0">
                  <a:solidFill>
                    <a:schemeClr val="dk1"/>
                  </a:solidFill>
                </a:rPr>
                <a:t>根据测试资源生成接线</a:t>
              </a:r>
              <a:br>
                <a:rPr lang="en-US" altLang="zh-CN" sz="1350" dirty="0">
                  <a:solidFill>
                    <a:schemeClr val="dk1"/>
                  </a:solidFill>
                </a:rPr>
              </a:br>
              <a:r>
                <a:rPr lang="zh-CN" altLang="en-US" sz="1350" dirty="0">
                  <a:solidFill>
                    <a:schemeClr val="dk1"/>
                  </a:solidFill>
                </a:rPr>
                <a:t>方案</a:t>
              </a:r>
              <a:endParaRPr lang="en-US" altLang="zh-CN" sz="1350" dirty="0">
                <a:solidFill>
                  <a:schemeClr val="dk1"/>
                </a:solidFill>
              </a:endParaRPr>
            </a:p>
            <a:p>
              <a:pPr marL="342900" indent="-342900" algn="l">
                <a:lnSpc>
                  <a:spcPts val="1950"/>
                </a:lnSpc>
                <a:buFont typeface="+mj-lt"/>
                <a:buAutoNum type="arabicPeriod"/>
              </a:pPr>
              <a:r>
                <a:rPr lang="en-US" altLang="zh-CN" sz="1350" dirty="0">
                  <a:solidFill>
                    <a:schemeClr val="dk1"/>
                  </a:solidFill>
                  <a:latin typeface="+mn-lt"/>
                  <a:ea typeface="+mn-ea"/>
                  <a:cs typeface="+mn-cs"/>
                </a:rPr>
                <a:t>AI</a:t>
              </a:r>
              <a:r>
                <a:rPr lang="zh-CN" altLang="en-US" sz="1350" dirty="0">
                  <a:solidFill>
                    <a:schemeClr val="dk1"/>
                  </a:solidFill>
                  <a:latin typeface="+mn-lt"/>
                  <a:ea typeface="+mn-ea"/>
                  <a:cs typeface="+mn-cs"/>
                </a:rPr>
                <a:t>根据被测对象功能编排</a:t>
              </a:r>
              <a:br>
                <a:rPr lang="en-US" altLang="zh-CN" sz="1350" dirty="0">
                  <a:solidFill>
                    <a:schemeClr val="dk1"/>
                  </a:solidFill>
                  <a:latin typeface="+mn-lt"/>
                  <a:ea typeface="+mn-ea"/>
                  <a:cs typeface="+mn-cs"/>
                </a:rPr>
              </a:br>
              <a:r>
                <a:rPr lang="zh-CN" altLang="en-US" sz="1350" dirty="0">
                  <a:solidFill>
                    <a:schemeClr val="dk1"/>
                  </a:solidFill>
                  <a:latin typeface="+mn-lt"/>
                  <a:ea typeface="+mn-ea"/>
                  <a:cs typeface="+mn-cs"/>
                </a:rPr>
                <a:t>测试流程</a:t>
              </a:r>
              <a:endParaRPr lang="zh-CN" sz="1350" dirty="0">
                <a:solidFill>
                  <a:schemeClr val="dk1"/>
                </a:solidFill>
                <a:latin typeface="+mn-lt"/>
                <a:ea typeface="+mn-ea"/>
                <a:cs typeface="+mn-cs"/>
              </a:endParaRPr>
            </a:p>
          </p:txBody>
        </p:sp>
        <p:sp>
          <p:nvSpPr>
            <p:cNvPr id="40" name="TextBox 40"/>
            <p:cNvSpPr txBox="1"/>
            <p:nvPr/>
          </p:nvSpPr>
          <p:spPr>
            <a:xfrm>
              <a:off x="8375142" y="3702368"/>
              <a:ext cx="65" cy="236924"/>
            </a:xfrm>
            <a:prstGeom prst="rect">
              <a:avLst/>
            </a:prstGeom>
            <a:noFill/>
            <a:ln>
              <a:noFill/>
            </a:ln>
          </p:spPr>
          <p:txBody>
            <a:bodyPr wrap="none" lIns="0" tIns="0" rIns="0" bIns="0" anchor="t" anchorCtr="0">
              <a:spAutoFit/>
            </a:bodyPr>
            <a:lstStyle/>
            <a:p>
              <a:pPr algn="l">
                <a:lnSpc>
                  <a:spcPts val="1950"/>
                </a:lnSpc>
              </a:pPr>
              <a:endParaRPr lang="zh-CN" sz="1350" dirty="0">
                <a:solidFill>
                  <a:schemeClr val="accent5"/>
                </a:solidFill>
                <a:latin typeface="+mn-lt"/>
                <a:ea typeface="+mn-ea"/>
                <a:cs typeface="+mn-cs"/>
              </a:endParaRPr>
            </a:p>
          </p:txBody>
        </p:sp>
      </p:grpSp>
      <p:sp>
        <p:nvSpPr>
          <p:cNvPr id="42" name="Line 42"/>
          <p:cNvSpPr/>
          <p:nvPr/>
        </p:nvSpPr>
        <p:spPr>
          <a:xfrm>
            <a:off x="990600" y="5410200"/>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44" name="p05-result"/>
          <p:cNvGrpSpPr/>
          <p:nvPr/>
        </p:nvGrpSpPr>
        <p:grpSpPr>
          <a:xfrm>
            <a:off x="978408" y="5455920"/>
            <a:ext cx="9092233" cy="359842"/>
            <a:chOff x="978408" y="5455920"/>
            <a:chExt cx="9092233" cy="359842"/>
          </a:xfrm>
        </p:grpSpPr>
        <p:sp>
          <p:nvSpPr>
            <p:cNvPr id="43" name="TextBox 43"/>
            <p:cNvSpPr txBox="1"/>
            <p:nvPr/>
          </p:nvSpPr>
          <p:spPr>
            <a:xfrm>
              <a:off x="978408" y="5455920"/>
              <a:ext cx="9092233" cy="359842"/>
            </a:xfrm>
            <a:prstGeom prst="rect">
              <a:avLst/>
            </a:prstGeom>
            <a:noFill/>
            <a:ln>
              <a:noFill/>
            </a:ln>
          </p:spPr>
          <p:txBody>
            <a:bodyPr wrap="none" lIns="0" tIns="0" rIns="0" bIns="0" anchor="t" anchorCtr="0">
              <a:spAutoFit/>
            </a:bodyPr>
            <a:lstStyle/>
            <a:p>
              <a:pPr algn="l">
                <a:lnSpc>
                  <a:spcPts val="3000"/>
                </a:lnSpc>
              </a:pPr>
              <a:r>
                <a:rPr lang="zh-CN" sz="2400" b="1" dirty="0">
                  <a:solidFill>
                    <a:schemeClr val="accent2"/>
                  </a:solidFill>
                  <a:latin typeface="+mj-lt"/>
                  <a:ea typeface="+mj-ea"/>
                  <a:cs typeface="+mj-cs"/>
                </a:rPr>
                <a:t>测试工程师只需要做</a:t>
              </a:r>
              <a:r>
                <a:rPr lang="en-US" altLang="zh-CN" sz="2400" b="1" dirty="0">
                  <a:solidFill>
                    <a:schemeClr val="accent2"/>
                  </a:solidFill>
                  <a:latin typeface="+mj-lt"/>
                  <a:ea typeface="+mj-ea"/>
                  <a:cs typeface="+mj-cs"/>
                </a:rPr>
                <a:t>: </a:t>
              </a:r>
              <a:r>
                <a:rPr lang="zh-CN" altLang="en-US" sz="2400" b="1" dirty="0">
                  <a:solidFill>
                    <a:schemeClr val="accent2"/>
                  </a:solidFill>
                  <a:latin typeface="+mj-lt"/>
                  <a:ea typeface="+mj-ea"/>
                  <a:cs typeface="+mj-cs"/>
                </a:rPr>
                <a:t>提供资料</a:t>
              </a:r>
              <a:r>
                <a:rPr lang="en-US" altLang="zh-CN" sz="2400" b="1" dirty="0">
                  <a:solidFill>
                    <a:schemeClr val="accent2"/>
                  </a:solidFill>
                  <a:latin typeface="+mj-lt"/>
                  <a:ea typeface="+mj-ea"/>
                  <a:cs typeface="+mj-cs"/>
                </a:rPr>
                <a:t>, </a:t>
              </a:r>
              <a:r>
                <a:rPr lang="zh-CN" sz="2400" b="1" dirty="0">
                  <a:solidFill>
                    <a:schemeClr val="accent2"/>
                  </a:solidFill>
                  <a:latin typeface="+mj-lt"/>
                  <a:ea typeface="+mj-ea"/>
                  <a:cs typeface="+mj-cs"/>
                </a:rPr>
                <a:t>说清楚要测什么</a:t>
              </a:r>
              <a:r>
                <a:rPr lang="en-US" altLang="zh-CN" sz="2400" b="1" dirty="0">
                  <a:solidFill>
                    <a:schemeClr val="accent2"/>
                  </a:solidFill>
                  <a:latin typeface="+mj-lt"/>
                  <a:ea typeface="+mj-ea"/>
                  <a:cs typeface="+mj-cs"/>
                </a:rPr>
                <a:t>, </a:t>
              </a:r>
              <a:r>
                <a:rPr lang="zh-CN" altLang="en-US" sz="2400" b="1" dirty="0">
                  <a:solidFill>
                    <a:schemeClr val="accent2"/>
                  </a:solidFill>
                  <a:latin typeface="+mj-lt"/>
                  <a:ea typeface="+mj-ea"/>
                  <a:cs typeface="+mj-cs"/>
                </a:rPr>
                <a:t>然后连接被测对象</a:t>
              </a:r>
              <a:endParaRPr lang="zh-CN" sz="2400" b="1" dirty="0">
                <a:solidFill>
                  <a:schemeClr val="accent2"/>
                </a:solidFill>
                <a:latin typeface="+mj-lt"/>
                <a:ea typeface="+mj-ea"/>
                <a:cs typeface="+mj-cs"/>
              </a:endParaRP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06-header"/>
          <p:cNvGrpSpPr/>
          <p:nvPr/>
        </p:nvGrpSpPr>
        <p:grpSpPr>
          <a:xfrm>
            <a:off x="974598" y="844868"/>
            <a:ext cx="1615827" cy="750658"/>
            <a:chOff x="974598" y="844868"/>
            <a:chExt cx="1615827" cy="750658"/>
          </a:xfrm>
        </p:grpSpPr>
        <p:sp>
          <p:nvSpPr>
            <p:cNvPr id="3" name="TextBox 3"/>
            <p:cNvSpPr txBox="1"/>
            <p:nvPr/>
          </p:nvSpPr>
          <p:spPr>
            <a:xfrm>
              <a:off x="983742" y="844868"/>
              <a:ext cx="140400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第一步 · 通用化</a:t>
              </a:r>
            </a:p>
          </p:txBody>
        </p:sp>
        <p:sp>
          <p:nvSpPr>
            <p:cNvPr id="4" name="TextBox 4"/>
            <p:cNvSpPr txBox="1"/>
            <p:nvPr/>
          </p:nvSpPr>
          <p:spPr>
            <a:xfrm>
              <a:off x="974598" y="1126808"/>
              <a:ext cx="1615827" cy="468718"/>
            </a:xfrm>
            <a:prstGeom prst="rect">
              <a:avLst/>
            </a:prstGeom>
            <a:noFill/>
            <a:ln>
              <a:noFill/>
            </a:ln>
          </p:spPr>
          <p:txBody>
            <a:bodyPr wrap="none" lIns="0" tIns="0" rIns="0" bIns="0" anchor="t" anchorCtr="0">
              <a:spAutoFit/>
            </a:bodyPr>
            <a:lstStyle/>
            <a:p>
              <a:pPr algn="l">
                <a:lnSpc>
                  <a:spcPts val="3900"/>
                </a:lnSpc>
              </a:pPr>
              <a:r>
                <a:rPr lang="zh-CN" sz="3150" b="1" dirty="0">
                  <a:solidFill>
                    <a:schemeClr val="accent1"/>
                  </a:solidFill>
                  <a:latin typeface="+mj-lt"/>
                  <a:ea typeface="+mj-ea"/>
                  <a:cs typeface="+mj-cs"/>
                </a:rPr>
                <a:t>总体架构</a:t>
              </a:r>
            </a:p>
          </p:txBody>
        </p:sp>
      </p:grpSp>
      <p:sp>
        <p:nvSpPr>
          <p:cNvPr id="6" name="Line 6"/>
          <p:cNvSpPr/>
          <p:nvPr/>
        </p:nvSpPr>
        <p:spPr>
          <a:xfrm>
            <a:off x="1014412" y="1656009"/>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11" name="p06-claim-1"/>
          <p:cNvGrpSpPr/>
          <p:nvPr/>
        </p:nvGrpSpPr>
        <p:grpSpPr>
          <a:xfrm>
            <a:off x="938954" y="2008255"/>
            <a:ext cx="2883408" cy="511683"/>
            <a:chOff x="990600" y="2464118"/>
            <a:chExt cx="2883408" cy="511683"/>
          </a:xfrm>
        </p:grpSpPr>
        <p:grpSp>
          <p:nvGrpSpPr>
            <p:cNvPr id="9" name="Group 9"/>
            <p:cNvGrpSpPr/>
            <p:nvPr/>
          </p:nvGrpSpPr>
          <p:grpSpPr>
            <a:xfrm>
              <a:off x="990600" y="2464594"/>
              <a:ext cx="209550" cy="157162"/>
              <a:chOff x="990600" y="2464594"/>
              <a:chExt cx="209550" cy="157162"/>
            </a:xfrm>
          </p:grpSpPr>
          <p:sp>
            <p:nvSpPr>
              <p:cNvPr id="7" name="Freeform 7"/>
              <p:cNvSpPr/>
              <p:nvPr/>
            </p:nvSpPr>
            <p:spPr>
              <a:xfrm>
                <a:off x="990600" y="2464594"/>
                <a:ext cx="209550" cy="65484"/>
              </a:xfrm>
              <a:custGeom>
                <a:avLst/>
                <a:gdLst/>
                <a:ahLst/>
                <a:cxnLst/>
                <a:rect l="l" t="t" r="r" b="b"/>
                <a:pathLst>
                  <a:path w="209550" h="65484">
                    <a:moveTo>
                      <a:pt x="209550" y="0"/>
                    </a:moveTo>
                    <a:lnTo>
                      <a:pt x="0" y="0"/>
                    </a:lnTo>
                    <a:lnTo>
                      <a:pt x="0" y="65484"/>
                    </a:lnTo>
                    <a:lnTo>
                      <a:pt x="209550" y="65484"/>
                    </a:lnTo>
                    <a:lnTo>
                      <a:pt x="209550" y="0"/>
                    </a:lnTo>
                    <a:close/>
                    <a:moveTo>
                      <a:pt x="52388" y="32742"/>
                    </a:moveTo>
                    <a:cubicBezTo>
                      <a:pt x="52388" y="39975"/>
                      <a:pt x="46524" y="45839"/>
                      <a:pt x="39291" y="45839"/>
                    </a:cubicBezTo>
                    <a:cubicBezTo>
                      <a:pt x="32057" y="45839"/>
                      <a:pt x="26194" y="39975"/>
                      <a:pt x="26194" y="32742"/>
                    </a:cubicBezTo>
                    <a:cubicBezTo>
                      <a:pt x="26194" y="25509"/>
                      <a:pt x="32057" y="19645"/>
                      <a:pt x="39291" y="19645"/>
                    </a:cubicBezTo>
                    <a:cubicBezTo>
                      <a:pt x="46524" y="19645"/>
                      <a:pt x="52388" y="25509"/>
                      <a:pt x="52388" y="32742"/>
                    </a:cubicBezTo>
                    <a:close/>
                  </a:path>
                </a:pathLst>
              </a:custGeom>
              <a:solidFill>
                <a:schemeClr val="accent3"/>
              </a:solidFill>
              <a:ln>
                <a:noFill/>
              </a:ln>
            </p:spPr>
          </p:sp>
          <p:sp>
            <p:nvSpPr>
              <p:cNvPr id="8" name="Freeform 8"/>
              <p:cNvSpPr/>
              <p:nvPr/>
            </p:nvSpPr>
            <p:spPr>
              <a:xfrm>
                <a:off x="990600" y="2556272"/>
                <a:ext cx="209550" cy="65484"/>
              </a:xfrm>
              <a:custGeom>
                <a:avLst/>
                <a:gdLst/>
                <a:ahLst/>
                <a:cxnLst/>
                <a:rect l="l" t="t" r="r" b="b"/>
                <a:pathLst>
                  <a:path w="209550" h="65484">
                    <a:moveTo>
                      <a:pt x="209550" y="0"/>
                    </a:moveTo>
                    <a:lnTo>
                      <a:pt x="0" y="0"/>
                    </a:lnTo>
                    <a:lnTo>
                      <a:pt x="0" y="65484"/>
                    </a:lnTo>
                    <a:lnTo>
                      <a:pt x="209550" y="65484"/>
                    </a:lnTo>
                    <a:lnTo>
                      <a:pt x="209550" y="0"/>
                    </a:lnTo>
                    <a:close/>
                    <a:moveTo>
                      <a:pt x="39291" y="45839"/>
                    </a:moveTo>
                    <a:cubicBezTo>
                      <a:pt x="46524" y="45839"/>
                      <a:pt x="52388" y="39976"/>
                      <a:pt x="52388" y="32742"/>
                    </a:cubicBezTo>
                    <a:cubicBezTo>
                      <a:pt x="52388" y="25509"/>
                      <a:pt x="46524" y="19645"/>
                      <a:pt x="39291" y="19645"/>
                    </a:cubicBezTo>
                    <a:cubicBezTo>
                      <a:pt x="32057" y="19645"/>
                      <a:pt x="26194" y="25509"/>
                      <a:pt x="26194" y="32742"/>
                    </a:cubicBezTo>
                    <a:cubicBezTo>
                      <a:pt x="26194" y="39976"/>
                      <a:pt x="32057" y="45839"/>
                      <a:pt x="39291" y="45839"/>
                    </a:cubicBezTo>
                    <a:close/>
                  </a:path>
                </a:pathLst>
              </a:custGeom>
              <a:solidFill>
                <a:schemeClr val="accent3"/>
              </a:solidFill>
              <a:ln>
                <a:noFill/>
              </a:ln>
            </p:spPr>
          </p:sp>
        </p:grpSp>
        <p:sp>
          <p:nvSpPr>
            <p:cNvPr id="10" name="TextBox 10"/>
            <p:cNvSpPr txBox="1"/>
            <p:nvPr/>
          </p:nvSpPr>
          <p:spPr>
            <a:xfrm>
              <a:off x="1288542" y="2464118"/>
              <a:ext cx="25854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本地服务器部署 LLM 服务，</a:t>
              </a:r>
              <a:br>
                <a:rPr dirty="0"/>
              </a:br>
              <a:r>
                <a:rPr lang="zh-CN" sz="1350" dirty="0">
                  <a:solidFill>
                    <a:schemeClr val="dk1"/>
                  </a:solidFill>
                  <a:latin typeface="+mn-lt"/>
                  <a:ea typeface="+mn-ea"/>
                  <a:cs typeface="+mn-cs"/>
                </a:rPr>
                <a:t>测试终端运行智能化通用测试软件</a:t>
              </a:r>
            </a:p>
          </p:txBody>
        </p:sp>
      </p:grpSp>
      <p:grpSp>
        <p:nvGrpSpPr>
          <p:cNvPr id="14" name="p06-claim-2"/>
          <p:cNvGrpSpPr/>
          <p:nvPr/>
        </p:nvGrpSpPr>
        <p:grpSpPr>
          <a:xfrm>
            <a:off x="938954" y="3429000"/>
            <a:ext cx="2840546" cy="537401"/>
            <a:chOff x="990600" y="3181350"/>
            <a:chExt cx="2840546" cy="537401"/>
          </a:xfrm>
        </p:grpSpPr>
        <p:sp>
          <p:nvSpPr>
            <p:cNvPr id="12" name="Freeform 12"/>
            <p:cNvSpPr/>
            <p:nvPr/>
          </p:nvSpPr>
          <p:spPr>
            <a:xfrm>
              <a:off x="990600" y="3181350"/>
              <a:ext cx="183356" cy="209550"/>
            </a:xfrm>
            <a:custGeom>
              <a:avLst/>
              <a:gdLst/>
              <a:ahLst/>
              <a:cxnLst/>
              <a:rect l="l" t="t" r="r" b="b"/>
              <a:pathLst>
                <a:path w="183356" h="209550">
                  <a:moveTo>
                    <a:pt x="144066" y="78581"/>
                  </a:moveTo>
                  <a:cubicBezTo>
                    <a:pt x="165766" y="78581"/>
                    <a:pt x="183356" y="60990"/>
                    <a:pt x="183356" y="39291"/>
                  </a:cubicBezTo>
                  <a:cubicBezTo>
                    <a:pt x="183356" y="17591"/>
                    <a:pt x="165766" y="0"/>
                    <a:pt x="144066" y="0"/>
                  </a:cubicBezTo>
                  <a:cubicBezTo>
                    <a:pt x="122366" y="0"/>
                    <a:pt x="104775" y="17591"/>
                    <a:pt x="104775" y="39291"/>
                  </a:cubicBezTo>
                  <a:cubicBezTo>
                    <a:pt x="104775" y="42221"/>
                    <a:pt x="105096" y="45075"/>
                    <a:pt x="105704" y="47822"/>
                  </a:cubicBezTo>
                  <a:lnTo>
                    <a:pt x="63764" y="74035"/>
                  </a:lnTo>
                  <a:cubicBezTo>
                    <a:pt x="57050" y="68683"/>
                    <a:pt x="48544" y="65484"/>
                    <a:pt x="39291" y="65484"/>
                  </a:cubicBezTo>
                  <a:cubicBezTo>
                    <a:pt x="17591" y="65484"/>
                    <a:pt x="0" y="83075"/>
                    <a:pt x="0" y="104775"/>
                  </a:cubicBezTo>
                  <a:cubicBezTo>
                    <a:pt x="0" y="126475"/>
                    <a:pt x="17591" y="144066"/>
                    <a:pt x="39291" y="144066"/>
                  </a:cubicBezTo>
                  <a:cubicBezTo>
                    <a:pt x="48544" y="144066"/>
                    <a:pt x="57050" y="140867"/>
                    <a:pt x="63764" y="135515"/>
                  </a:cubicBezTo>
                  <a:lnTo>
                    <a:pt x="105704" y="161728"/>
                  </a:lnTo>
                  <a:cubicBezTo>
                    <a:pt x="105096" y="164474"/>
                    <a:pt x="104775" y="167330"/>
                    <a:pt x="104775" y="170259"/>
                  </a:cubicBezTo>
                  <a:cubicBezTo>
                    <a:pt x="104775" y="191960"/>
                    <a:pt x="122366" y="209550"/>
                    <a:pt x="144066" y="209550"/>
                  </a:cubicBezTo>
                  <a:cubicBezTo>
                    <a:pt x="165766" y="209550"/>
                    <a:pt x="183356" y="191960"/>
                    <a:pt x="183356" y="170259"/>
                  </a:cubicBezTo>
                  <a:cubicBezTo>
                    <a:pt x="183356" y="148559"/>
                    <a:pt x="165766" y="130969"/>
                    <a:pt x="144066" y="130969"/>
                  </a:cubicBezTo>
                  <a:cubicBezTo>
                    <a:pt x="134813" y="130969"/>
                    <a:pt x="126306" y="134167"/>
                    <a:pt x="119593" y="139520"/>
                  </a:cubicBezTo>
                  <a:lnTo>
                    <a:pt x="77652" y="113307"/>
                  </a:lnTo>
                  <a:cubicBezTo>
                    <a:pt x="78261" y="110560"/>
                    <a:pt x="78581" y="107705"/>
                    <a:pt x="78581" y="104775"/>
                  </a:cubicBezTo>
                  <a:cubicBezTo>
                    <a:pt x="78581" y="101845"/>
                    <a:pt x="78261" y="98990"/>
                    <a:pt x="77652" y="96243"/>
                  </a:cubicBezTo>
                  <a:lnTo>
                    <a:pt x="119593" y="70031"/>
                  </a:lnTo>
                  <a:cubicBezTo>
                    <a:pt x="126306" y="75383"/>
                    <a:pt x="134813" y="78581"/>
                    <a:pt x="144066" y="78581"/>
                  </a:cubicBezTo>
                  <a:close/>
                </a:path>
              </a:pathLst>
            </a:custGeom>
            <a:solidFill>
              <a:schemeClr val="accent3"/>
            </a:solidFill>
            <a:ln>
              <a:noFill/>
            </a:ln>
          </p:spPr>
        </p:sp>
        <p:sp>
          <p:nvSpPr>
            <p:cNvPr id="13" name="TextBox 13"/>
            <p:cNvSpPr txBox="1"/>
            <p:nvPr/>
          </p:nvSpPr>
          <p:spPr>
            <a:xfrm>
              <a:off x="1288542" y="3207068"/>
              <a:ext cx="2542604"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测试终端通过局域网和 MCP 协议</a:t>
              </a:r>
              <a:br>
                <a:rPr dirty="0"/>
              </a:br>
              <a:r>
                <a:rPr lang="zh-CN" sz="1350" dirty="0">
                  <a:solidFill>
                    <a:schemeClr val="dk1"/>
                  </a:solidFill>
                  <a:latin typeface="+mn-lt"/>
                  <a:ea typeface="+mn-ea"/>
                  <a:cs typeface="+mn-cs"/>
                </a:rPr>
                <a:t>连接任意硬件测试资源</a:t>
              </a:r>
            </a:p>
          </p:txBody>
        </p:sp>
      </p:grpSp>
      <p:grpSp>
        <p:nvGrpSpPr>
          <p:cNvPr id="17" name="p06-claim-3"/>
          <p:cNvGrpSpPr/>
          <p:nvPr/>
        </p:nvGrpSpPr>
        <p:grpSpPr>
          <a:xfrm>
            <a:off x="938954" y="4827560"/>
            <a:ext cx="2848320" cy="518417"/>
            <a:chOff x="990600" y="3924300"/>
            <a:chExt cx="2848320" cy="518417"/>
          </a:xfrm>
        </p:grpSpPr>
        <p:sp>
          <p:nvSpPr>
            <p:cNvPr id="15" name="Freeform 15"/>
            <p:cNvSpPr/>
            <p:nvPr/>
          </p:nvSpPr>
          <p:spPr>
            <a:xfrm>
              <a:off x="990600" y="3924300"/>
              <a:ext cx="209550" cy="196453"/>
            </a:xfrm>
            <a:custGeom>
              <a:avLst/>
              <a:gdLst/>
              <a:ahLst/>
              <a:cxnLst/>
              <a:rect l="l" t="t" r="r" b="b"/>
              <a:pathLst>
                <a:path w="209550" h="196453">
                  <a:moveTo>
                    <a:pt x="117872" y="0"/>
                  </a:moveTo>
                  <a:lnTo>
                    <a:pt x="117872" y="26194"/>
                  </a:lnTo>
                  <a:lnTo>
                    <a:pt x="170259" y="26194"/>
                  </a:lnTo>
                  <a:lnTo>
                    <a:pt x="209550" y="111323"/>
                  </a:lnTo>
                  <a:lnTo>
                    <a:pt x="170259" y="196453"/>
                  </a:lnTo>
                  <a:lnTo>
                    <a:pt x="39291" y="196453"/>
                  </a:lnTo>
                  <a:lnTo>
                    <a:pt x="0" y="111323"/>
                  </a:lnTo>
                  <a:lnTo>
                    <a:pt x="39291" y="26194"/>
                  </a:lnTo>
                  <a:lnTo>
                    <a:pt x="91678" y="26194"/>
                  </a:lnTo>
                  <a:lnTo>
                    <a:pt x="91678" y="0"/>
                  </a:lnTo>
                  <a:lnTo>
                    <a:pt x="117872" y="0"/>
                  </a:lnTo>
                  <a:close/>
                  <a:moveTo>
                    <a:pt x="60219" y="153736"/>
                  </a:moveTo>
                  <a:lnTo>
                    <a:pt x="104775" y="160591"/>
                  </a:lnTo>
                  <a:lnTo>
                    <a:pt x="149332" y="153736"/>
                  </a:lnTo>
                  <a:lnTo>
                    <a:pt x="145348" y="127847"/>
                  </a:lnTo>
                  <a:lnTo>
                    <a:pt x="104775" y="134088"/>
                  </a:lnTo>
                  <a:lnTo>
                    <a:pt x="64202" y="127847"/>
                  </a:lnTo>
                  <a:lnTo>
                    <a:pt x="60219" y="153736"/>
                  </a:lnTo>
                  <a:close/>
                  <a:moveTo>
                    <a:pt x="91678" y="88404"/>
                  </a:moveTo>
                  <a:cubicBezTo>
                    <a:pt x="91678" y="97445"/>
                    <a:pt x="84349" y="104775"/>
                    <a:pt x="75307" y="104775"/>
                  </a:cubicBezTo>
                  <a:cubicBezTo>
                    <a:pt x="66265" y="104775"/>
                    <a:pt x="58936" y="97445"/>
                    <a:pt x="58936" y="88404"/>
                  </a:cubicBezTo>
                  <a:cubicBezTo>
                    <a:pt x="58936" y="79362"/>
                    <a:pt x="66265" y="72033"/>
                    <a:pt x="75307" y="72033"/>
                  </a:cubicBezTo>
                  <a:cubicBezTo>
                    <a:pt x="84349" y="72033"/>
                    <a:pt x="91678" y="79362"/>
                    <a:pt x="91678" y="88404"/>
                  </a:cubicBezTo>
                  <a:close/>
                  <a:moveTo>
                    <a:pt x="134243" y="104775"/>
                  </a:moveTo>
                  <a:cubicBezTo>
                    <a:pt x="143285" y="104775"/>
                    <a:pt x="150614" y="97445"/>
                    <a:pt x="150614" y="88404"/>
                  </a:cubicBezTo>
                  <a:cubicBezTo>
                    <a:pt x="150614" y="79362"/>
                    <a:pt x="143285" y="72033"/>
                    <a:pt x="134243" y="72033"/>
                  </a:cubicBezTo>
                  <a:cubicBezTo>
                    <a:pt x="125201" y="72033"/>
                    <a:pt x="117872" y="79362"/>
                    <a:pt x="117872" y="88404"/>
                  </a:cubicBezTo>
                  <a:cubicBezTo>
                    <a:pt x="117872" y="97445"/>
                    <a:pt x="125201" y="104775"/>
                    <a:pt x="134243" y="104775"/>
                  </a:cubicBezTo>
                  <a:close/>
                </a:path>
              </a:pathLst>
            </a:custGeom>
            <a:solidFill>
              <a:schemeClr val="accent3"/>
            </a:solidFill>
            <a:ln>
              <a:noFill/>
            </a:ln>
          </p:spPr>
        </p:sp>
        <p:sp>
          <p:nvSpPr>
            <p:cNvPr id="16" name="TextBox 16"/>
            <p:cNvSpPr txBox="1"/>
            <p:nvPr/>
          </p:nvSpPr>
          <p:spPr>
            <a:xfrm>
              <a:off x="1288542" y="3950018"/>
              <a:ext cx="2550378" cy="492699"/>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测试终端调用 LLM 服务，替代人</a:t>
              </a:r>
              <a:br>
                <a:rPr lang="en-US" altLang="zh-CN" sz="1350" dirty="0">
                  <a:solidFill>
                    <a:schemeClr val="dk1"/>
                  </a:solidFill>
                  <a:latin typeface="+mn-lt"/>
                  <a:ea typeface="+mn-ea"/>
                  <a:cs typeface="+mn-cs"/>
                </a:rPr>
              </a:br>
              <a:r>
                <a:rPr lang="zh-CN" sz="1350" dirty="0">
                  <a:solidFill>
                    <a:schemeClr val="dk1"/>
                  </a:solidFill>
                  <a:latin typeface="+mn-lt"/>
                  <a:ea typeface="+mn-ea"/>
                  <a:cs typeface="+mn-cs"/>
                </a:rPr>
                <a:t>工编写测试流程和硬件适配代码</a:t>
              </a:r>
            </a:p>
          </p:txBody>
        </p:sp>
      </p:grpSp>
      <p:grpSp>
        <p:nvGrpSpPr>
          <p:cNvPr id="24" name="p06-architecture"/>
          <p:cNvGrpSpPr/>
          <p:nvPr/>
        </p:nvGrpSpPr>
        <p:grpSpPr>
          <a:xfrm>
            <a:off x="4391769" y="1694109"/>
            <a:ext cx="7407882" cy="4677711"/>
            <a:chOff x="5267325" y="2362200"/>
            <a:chExt cx="6238875" cy="3810000"/>
          </a:xfrm>
        </p:grpSpPr>
        <p:pic>
          <p:nvPicPr>
            <p:cNvPr id="23" name="Image 23"/>
            <p:cNvPicPr>
              <a:picLocks noChangeAspect="1"/>
            </p:cNvPicPr>
            <p:nvPr/>
          </p:nvPicPr>
          <p:blipFill>
            <a:blip r:embed="rId3"/>
            <a:stretch>
              <a:fillRect/>
            </a:stretch>
          </p:blipFill>
          <p:spPr>
            <a:xfrm>
              <a:off x="5267325" y="2362200"/>
              <a:ext cx="6238875" cy="38100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07-header"/>
          <p:cNvGrpSpPr/>
          <p:nvPr/>
        </p:nvGrpSpPr>
        <p:grpSpPr>
          <a:xfrm>
            <a:off x="974598" y="844868"/>
            <a:ext cx="7420301" cy="750658"/>
            <a:chOff x="974598" y="844868"/>
            <a:chExt cx="7420301" cy="750658"/>
          </a:xfrm>
        </p:grpSpPr>
        <p:sp>
          <p:nvSpPr>
            <p:cNvPr id="3" name="TextBox 3"/>
            <p:cNvSpPr txBox="1"/>
            <p:nvPr/>
          </p:nvSpPr>
          <p:spPr>
            <a:xfrm>
              <a:off x="983742" y="844868"/>
              <a:ext cx="140400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第一步 · 通用化</a:t>
              </a:r>
            </a:p>
          </p:txBody>
        </p:sp>
        <p:sp>
          <p:nvSpPr>
            <p:cNvPr id="4" name="TextBox 4"/>
            <p:cNvSpPr txBox="1"/>
            <p:nvPr/>
          </p:nvSpPr>
          <p:spPr>
            <a:xfrm>
              <a:off x="974598" y="1126808"/>
              <a:ext cx="7420301" cy="468718"/>
            </a:xfrm>
            <a:prstGeom prst="rect">
              <a:avLst/>
            </a:prstGeom>
            <a:noFill/>
            <a:ln>
              <a:noFill/>
            </a:ln>
          </p:spPr>
          <p:txBody>
            <a:bodyPr wrap="none" lIns="0" tIns="0" rIns="0" bIns="0" anchor="t" anchorCtr="0">
              <a:spAutoFit/>
            </a:bodyPr>
            <a:lstStyle/>
            <a:p>
              <a:pPr algn="l">
                <a:lnSpc>
                  <a:spcPts val="3900"/>
                </a:lnSpc>
              </a:pPr>
              <a:r>
                <a:rPr lang="zh-CN" sz="3150" b="1" dirty="0">
                  <a:solidFill>
                    <a:schemeClr val="accent1"/>
                  </a:solidFill>
                  <a:latin typeface="+mj-lt"/>
                  <a:ea typeface="+mj-ea"/>
                  <a:cs typeface="+mj-cs"/>
                </a:rPr>
                <a:t>设备管理：一个</a:t>
              </a:r>
              <a:r>
                <a:rPr lang="en-US" altLang="zh-CN" sz="3150" b="1" dirty="0">
                  <a:solidFill>
                    <a:schemeClr val="accent1"/>
                  </a:solidFill>
                  <a:latin typeface="+mj-lt"/>
                  <a:ea typeface="+mj-ea"/>
                  <a:cs typeface="+mj-cs"/>
                </a:rPr>
                <a:t>MCP</a:t>
              </a:r>
              <a:r>
                <a:rPr lang="zh-CN" altLang="en-US" sz="3150" b="1" dirty="0">
                  <a:solidFill>
                    <a:schemeClr val="accent1"/>
                  </a:solidFill>
                  <a:latin typeface="+mj-lt"/>
                  <a:ea typeface="+mj-ea"/>
                  <a:cs typeface="+mj-cs"/>
                </a:rPr>
                <a:t>服务器</a:t>
              </a:r>
              <a:r>
                <a:rPr lang="zh-CN" sz="3150" b="1" dirty="0">
                  <a:solidFill>
                    <a:schemeClr val="accent1"/>
                  </a:solidFill>
                  <a:latin typeface="+mj-lt"/>
                  <a:ea typeface="+mj-ea"/>
                  <a:cs typeface="+mj-cs"/>
                </a:rPr>
                <a:t>托管一个硬件</a:t>
              </a:r>
            </a:p>
          </p:txBody>
        </p:sp>
      </p:grpSp>
      <p:sp>
        <p:nvSpPr>
          <p:cNvPr id="6" name="Line 6"/>
          <p:cNvSpPr/>
          <p:nvPr/>
        </p:nvSpPr>
        <p:spPr>
          <a:xfrm>
            <a:off x="990600" y="1702206"/>
            <a:ext cx="8439150" cy="9525"/>
          </a:xfrm>
          <a:custGeom>
            <a:avLst/>
            <a:gdLst/>
            <a:ahLst/>
            <a:cxnLst/>
            <a:rect l="l" t="t" r="r" b="b"/>
            <a:pathLst>
              <a:path w="8439150" h="9525">
                <a:moveTo>
                  <a:pt x="0" y="0"/>
                </a:moveTo>
                <a:lnTo>
                  <a:pt x="8439150" y="0"/>
                </a:lnTo>
              </a:path>
            </a:pathLst>
          </a:custGeom>
          <a:noFill/>
          <a:ln w="9525">
            <a:solidFill>
              <a:schemeClr val="accent6"/>
            </a:solidFill>
          </a:ln>
        </p:spPr>
      </p:sp>
      <p:grpSp>
        <p:nvGrpSpPr>
          <p:cNvPr id="9" name="p07-claim-1"/>
          <p:cNvGrpSpPr/>
          <p:nvPr/>
        </p:nvGrpSpPr>
        <p:grpSpPr>
          <a:xfrm>
            <a:off x="990600" y="1944882"/>
            <a:ext cx="2698861" cy="524304"/>
            <a:chOff x="1003697" y="2413397"/>
            <a:chExt cx="2698861" cy="524304"/>
          </a:xfrm>
        </p:grpSpPr>
        <p:sp>
          <p:nvSpPr>
            <p:cNvPr id="7" name="Freeform 7"/>
            <p:cNvSpPr/>
            <p:nvPr/>
          </p:nvSpPr>
          <p:spPr>
            <a:xfrm>
              <a:off x="1003697" y="2413397"/>
              <a:ext cx="183356" cy="183356"/>
            </a:xfrm>
            <a:custGeom>
              <a:avLst/>
              <a:gdLst/>
              <a:ahLst/>
              <a:cxnLst/>
              <a:rect l="l" t="t" r="r" b="b"/>
              <a:pathLst>
                <a:path w="183356" h="183356">
                  <a:moveTo>
                    <a:pt x="78581" y="0"/>
                  </a:moveTo>
                  <a:lnTo>
                    <a:pt x="39291" y="0"/>
                  </a:lnTo>
                  <a:lnTo>
                    <a:pt x="0" y="65484"/>
                  </a:lnTo>
                  <a:lnTo>
                    <a:pt x="0" y="183356"/>
                  </a:lnTo>
                  <a:lnTo>
                    <a:pt x="183356" y="183356"/>
                  </a:lnTo>
                  <a:lnTo>
                    <a:pt x="183356" y="65484"/>
                  </a:lnTo>
                  <a:lnTo>
                    <a:pt x="144066" y="0"/>
                  </a:lnTo>
                  <a:lnTo>
                    <a:pt x="104775" y="0"/>
                  </a:lnTo>
                  <a:lnTo>
                    <a:pt x="104775" y="65484"/>
                  </a:lnTo>
                  <a:lnTo>
                    <a:pt x="78581" y="65484"/>
                  </a:lnTo>
                  <a:lnTo>
                    <a:pt x="78581" y="0"/>
                  </a:lnTo>
                  <a:close/>
                </a:path>
              </a:pathLst>
            </a:custGeom>
            <a:solidFill>
              <a:schemeClr val="accent3"/>
            </a:solidFill>
            <a:ln>
              <a:noFill/>
            </a:ln>
          </p:spPr>
        </p:sp>
        <p:sp>
          <p:nvSpPr>
            <p:cNvPr id="8" name="TextBox 8"/>
            <p:cNvSpPr txBox="1"/>
            <p:nvPr/>
          </p:nvSpPr>
          <p:spPr>
            <a:xfrm>
              <a:off x="1288542" y="2426018"/>
              <a:ext cx="24140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一个服务器进程托管一个硬件，</a:t>
              </a:r>
              <a:br>
                <a:rPr dirty="0"/>
              </a:br>
              <a:r>
                <a:rPr lang="zh-CN" sz="1350" dirty="0">
                  <a:solidFill>
                    <a:schemeClr val="dk1"/>
                  </a:solidFill>
                  <a:latin typeface="+mn-lt"/>
                  <a:ea typeface="+mn-ea"/>
                  <a:cs typeface="+mn-cs"/>
                </a:rPr>
                <a:t>可被任意测试终端占用之后使用</a:t>
              </a:r>
            </a:p>
          </p:txBody>
        </p:sp>
      </p:grpSp>
      <p:grpSp>
        <p:nvGrpSpPr>
          <p:cNvPr id="12" name="p07-claim-2"/>
          <p:cNvGrpSpPr/>
          <p:nvPr/>
        </p:nvGrpSpPr>
        <p:grpSpPr>
          <a:xfrm>
            <a:off x="983742" y="2697905"/>
            <a:ext cx="2746248" cy="511683"/>
            <a:chOff x="990600" y="3168968"/>
            <a:chExt cx="2746248" cy="511683"/>
          </a:xfrm>
        </p:grpSpPr>
        <p:sp>
          <p:nvSpPr>
            <p:cNvPr id="10" name="Freeform 10"/>
            <p:cNvSpPr/>
            <p:nvPr/>
          </p:nvSpPr>
          <p:spPr>
            <a:xfrm>
              <a:off x="990600" y="3169444"/>
              <a:ext cx="209550" cy="170259"/>
            </a:xfrm>
            <a:custGeom>
              <a:avLst/>
              <a:gdLst/>
              <a:ahLst/>
              <a:cxnLst/>
              <a:rect l="l" t="t" r="r" b="b"/>
              <a:pathLst>
                <a:path w="209550" h="170259">
                  <a:moveTo>
                    <a:pt x="0" y="0"/>
                  </a:moveTo>
                  <a:lnTo>
                    <a:pt x="46963" y="0"/>
                  </a:lnTo>
                  <a:cubicBezTo>
                    <a:pt x="58822" y="0"/>
                    <a:pt x="70195" y="4711"/>
                    <a:pt x="78581" y="13097"/>
                  </a:cubicBezTo>
                  <a:cubicBezTo>
                    <a:pt x="86967" y="21483"/>
                    <a:pt x="91678" y="32856"/>
                    <a:pt x="91678" y="44715"/>
                  </a:cubicBezTo>
                  <a:lnTo>
                    <a:pt x="91678" y="117872"/>
                  </a:lnTo>
                  <a:lnTo>
                    <a:pt x="117872" y="117872"/>
                  </a:lnTo>
                  <a:lnTo>
                    <a:pt x="117872" y="44715"/>
                  </a:lnTo>
                  <a:cubicBezTo>
                    <a:pt x="117872" y="32856"/>
                    <a:pt x="122583" y="21483"/>
                    <a:pt x="130969" y="13097"/>
                  </a:cubicBezTo>
                  <a:cubicBezTo>
                    <a:pt x="139355" y="4711"/>
                    <a:pt x="150728" y="0"/>
                    <a:pt x="162587" y="0"/>
                  </a:cubicBezTo>
                  <a:lnTo>
                    <a:pt x="209550" y="0"/>
                  </a:lnTo>
                  <a:lnTo>
                    <a:pt x="209550" y="144066"/>
                  </a:lnTo>
                  <a:lnTo>
                    <a:pt x="144066" y="144066"/>
                  </a:lnTo>
                  <a:lnTo>
                    <a:pt x="117872" y="170259"/>
                  </a:lnTo>
                  <a:lnTo>
                    <a:pt x="91678" y="170259"/>
                  </a:lnTo>
                  <a:lnTo>
                    <a:pt x="65484" y="144066"/>
                  </a:lnTo>
                  <a:lnTo>
                    <a:pt x="0" y="144066"/>
                  </a:lnTo>
                  <a:lnTo>
                    <a:pt x="0" y="0"/>
                  </a:lnTo>
                  <a:close/>
                </a:path>
              </a:pathLst>
            </a:custGeom>
            <a:solidFill>
              <a:schemeClr val="accent3"/>
            </a:solidFill>
            <a:ln>
              <a:noFill/>
            </a:ln>
          </p:spPr>
        </p:sp>
        <p:sp>
          <p:nvSpPr>
            <p:cNvPr id="11" name="TextBox 11"/>
            <p:cNvSpPr txBox="1"/>
            <p:nvPr/>
          </p:nvSpPr>
          <p:spPr>
            <a:xfrm>
              <a:off x="1288542" y="3168968"/>
              <a:ext cx="244830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MCP 服务器提供硬件调用接口和</a:t>
              </a:r>
              <a:br>
                <a:rPr dirty="0"/>
              </a:br>
              <a:r>
                <a:rPr lang="zh-CN" sz="1350" dirty="0">
                  <a:solidFill>
                    <a:schemeClr val="dk1"/>
                  </a:solidFill>
                  <a:latin typeface="+mn-lt"/>
                  <a:ea typeface="+mn-ea"/>
                  <a:cs typeface="+mn-cs"/>
                </a:rPr>
                <a:t>使用说明，为 AI 提供工具调用</a:t>
              </a:r>
            </a:p>
          </p:txBody>
        </p:sp>
      </p:grpSp>
      <p:sp>
        <p:nvSpPr>
          <p:cNvPr id="13" name="Line 13"/>
          <p:cNvSpPr/>
          <p:nvPr/>
        </p:nvSpPr>
        <p:spPr>
          <a:xfrm>
            <a:off x="974598" y="3450597"/>
            <a:ext cx="2755392" cy="45719"/>
          </a:xfrm>
          <a:custGeom>
            <a:avLst/>
            <a:gdLst/>
            <a:ahLst/>
            <a:cxnLst/>
            <a:rect l="l" t="t" r="r" b="b"/>
            <a:pathLst>
              <a:path w="3143250" h="9525">
                <a:moveTo>
                  <a:pt x="0" y="0"/>
                </a:moveTo>
                <a:lnTo>
                  <a:pt x="3143250" y="0"/>
                </a:lnTo>
              </a:path>
            </a:pathLst>
          </a:custGeom>
          <a:noFill/>
          <a:ln w="9525">
            <a:solidFill>
              <a:schemeClr val="accent6"/>
            </a:solidFill>
          </a:ln>
        </p:spPr>
      </p:sp>
      <p:grpSp>
        <p:nvGrpSpPr>
          <p:cNvPr id="17" name="p07-sidenote-a"/>
          <p:cNvGrpSpPr/>
          <p:nvPr/>
        </p:nvGrpSpPr>
        <p:grpSpPr>
          <a:xfrm>
            <a:off x="971698" y="3602455"/>
            <a:ext cx="2596865" cy="1619617"/>
            <a:chOff x="983742" y="3981450"/>
            <a:chExt cx="2493164" cy="1497472"/>
          </a:xfrm>
        </p:grpSpPr>
        <p:sp>
          <p:nvSpPr>
            <p:cNvPr id="14" name="Freeform 14"/>
            <p:cNvSpPr/>
            <p:nvPr/>
          </p:nvSpPr>
          <p:spPr>
            <a:xfrm>
              <a:off x="1014412" y="3981450"/>
              <a:ext cx="142875" cy="190500"/>
            </a:xfrm>
            <a:custGeom>
              <a:avLst/>
              <a:gdLst/>
              <a:ahLst/>
              <a:cxnLst/>
              <a:rect l="l" t="t" r="r" b="b"/>
              <a:pathLst>
                <a:path w="142875" h="190500">
                  <a:moveTo>
                    <a:pt x="35719" y="136922"/>
                  </a:moveTo>
                  <a:lnTo>
                    <a:pt x="35719" y="172641"/>
                  </a:lnTo>
                  <a:lnTo>
                    <a:pt x="53578" y="190500"/>
                  </a:lnTo>
                  <a:lnTo>
                    <a:pt x="89297" y="190500"/>
                  </a:lnTo>
                  <a:lnTo>
                    <a:pt x="107156" y="172641"/>
                  </a:lnTo>
                  <a:lnTo>
                    <a:pt x="107156" y="136922"/>
                  </a:lnTo>
                  <a:lnTo>
                    <a:pt x="121915" y="122163"/>
                  </a:lnTo>
                  <a:cubicBezTo>
                    <a:pt x="135336" y="108743"/>
                    <a:pt x="142875" y="90504"/>
                    <a:pt x="142875" y="71525"/>
                  </a:cubicBezTo>
                  <a:cubicBezTo>
                    <a:pt x="142875" y="32071"/>
                    <a:pt x="110891" y="0"/>
                    <a:pt x="71438" y="0"/>
                  </a:cubicBezTo>
                  <a:cubicBezTo>
                    <a:pt x="31984" y="0"/>
                    <a:pt x="0" y="32071"/>
                    <a:pt x="0" y="71525"/>
                  </a:cubicBezTo>
                  <a:cubicBezTo>
                    <a:pt x="0" y="90504"/>
                    <a:pt x="7540" y="108743"/>
                    <a:pt x="20960" y="122163"/>
                  </a:cubicBezTo>
                  <a:lnTo>
                    <a:pt x="35719" y="136922"/>
                  </a:lnTo>
                  <a:close/>
                  <a:moveTo>
                    <a:pt x="59531" y="117562"/>
                  </a:moveTo>
                  <a:lnTo>
                    <a:pt x="59531" y="71438"/>
                  </a:lnTo>
                  <a:lnTo>
                    <a:pt x="83344" y="71438"/>
                  </a:lnTo>
                  <a:lnTo>
                    <a:pt x="83344" y="117562"/>
                  </a:lnTo>
                  <a:cubicBezTo>
                    <a:pt x="103884" y="112275"/>
                    <a:pt x="119062" y="93629"/>
                    <a:pt x="119062" y="71438"/>
                  </a:cubicBezTo>
                  <a:cubicBezTo>
                    <a:pt x="119062" y="45135"/>
                    <a:pt x="97740" y="23812"/>
                    <a:pt x="71438" y="23812"/>
                  </a:cubicBezTo>
                  <a:cubicBezTo>
                    <a:pt x="45135" y="23812"/>
                    <a:pt x="23812" y="45135"/>
                    <a:pt x="23812" y="71438"/>
                  </a:cubicBezTo>
                  <a:cubicBezTo>
                    <a:pt x="23812" y="93629"/>
                    <a:pt x="38990" y="112275"/>
                    <a:pt x="59531" y="117562"/>
                  </a:cubicBezTo>
                  <a:close/>
                </a:path>
              </a:pathLst>
            </a:custGeom>
            <a:solidFill>
              <a:schemeClr val="accent2"/>
            </a:solidFill>
            <a:ln>
              <a:noFill/>
            </a:ln>
          </p:spPr>
        </p:sp>
        <p:sp>
          <p:nvSpPr>
            <p:cNvPr id="15" name="TextBox 15"/>
            <p:cNvSpPr txBox="1"/>
            <p:nvPr/>
          </p:nvSpPr>
          <p:spPr>
            <a:xfrm>
              <a:off x="1250442" y="3988118"/>
              <a:ext cx="840619"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决策—理由</a:t>
              </a:r>
            </a:p>
          </p:txBody>
        </p:sp>
        <p:sp>
          <p:nvSpPr>
            <p:cNvPr id="16" name="TextBox 16"/>
            <p:cNvSpPr txBox="1"/>
            <p:nvPr/>
          </p:nvSpPr>
          <p:spPr>
            <a:xfrm>
              <a:off x="983742" y="4311968"/>
              <a:ext cx="2493164" cy="1166954"/>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一个进程只托管一个硬件</a:t>
              </a:r>
              <a:r>
                <a:rPr lang="en-US" altLang="zh-CN" sz="1350" dirty="0">
                  <a:solidFill>
                    <a:schemeClr val="accent5"/>
                  </a:solidFill>
                </a:rPr>
                <a:t>: </a:t>
              </a:r>
              <a:br>
                <a:rPr dirty="0"/>
              </a:br>
              <a:r>
                <a:rPr lang="zh-CN" sz="1350" dirty="0">
                  <a:solidFill>
                    <a:schemeClr val="accent5"/>
                  </a:solidFill>
                  <a:latin typeface="+mn-lt"/>
                  <a:ea typeface="+mn-ea"/>
                  <a:cs typeface="+mn-cs"/>
                </a:rPr>
                <a:t>占用与释放的边界和硬件的物理</a:t>
              </a:r>
              <a:br>
                <a:rPr dirty="0"/>
              </a:br>
              <a:r>
                <a:rPr lang="zh-CN" sz="1350" dirty="0">
                  <a:solidFill>
                    <a:schemeClr val="accent5"/>
                  </a:solidFill>
                  <a:latin typeface="+mn-lt"/>
                  <a:ea typeface="+mn-ea"/>
                  <a:cs typeface="+mn-cs"/>
                </a:rPr>
                <a:t>边界重合，一台设备崩了不会拖垮</a:t>
              </a:r>
              <a:br>
                <a:rPr dirty="0"/>
              </a:br>
              <a:r>
                <a:rPr lang="zh-CN" sz="1350" dirty="0">
                  <a:solidFill>
                    <a:schemeClr val="accent5"/>
                  </a:solidFill>
                  <a:latin typeface="+mn-lt"/>
                  <a:ea typeface="+mn-ea"/>
                  <a:cs typeface="+mn-cs"/>
                </a:rPr>
                <a:t>整台机器的其他测试，硬件插拔也</a:t>
              </a:r>
              <a:br>
                <a:rPr dirty="0"/>
              </a:br>
              <a:r>
                <a:rPr lang="zh-CN" sz="1350" dirty="0">
                  <a:solidFill>
                    <a:schemeClr val="accent5"/>
                  </a:solidFill>
                  <a:latin typeface="+mn-lt"/>
                  <a:ea typeface="+mn-ea"/>
                  <a:cs typeface="+mn-cs"/>
                </a:rPr>
                <a:t>不需要改动其他服务。</a:t>
              </a:r>
            </a:p>
          </p:txBody>
        </p:sp>
      </p:grpSp>
      <p:grpSp>
        <p:nvGrpSpPr>
          <p:cNvPr id="19" name="p07-service-list"/>
          <p:cNvGrpSpPr/>
          <p:nvPr/>
        </p:nvGrpSpPr>
        <p:grpSpPr>
          <a:xfrm>
            <a:off x="3777853" y="2221034"/>
            <a:ext cx="6156224" cy="4004506"/>
            <a:chOff x="1640704" y="2179730"/>
            <a:chExt cx="4914900" cy="2486025"/>
          </a:xfrm>
        </p:grpSpPr>
        <p:pic>
          <p:nvPicPr>
            <p:cNvPr id="18" name="Image 18"/>
            <p:cNvPicPr>
              <a:picLocks noChangeAspect="1"/>
            </p:cNvPicPr>
            <p:nvPr/>
          </p:nvPicPr>
          <p:blipFill>
            <a:blip r:embed="rId3"/>
            <a:stretch>
              <a:fillRect/>
            </a:stretch>
          </p:blipFill>
          <p:spPr>
            <a:xfrm>
              <a:off x="1640704" y="2179730"/>
              <a:ext cx="4914900" cy="2486025"/>
            </a:xfrm>
            <a:prstGeom prst="rect">
              <a:avLst/>
            </a:prstGeom>
          </p:spPr>
        </p:pic>
      </p:grpSp>
      <p:grpSp>
        <p:nvGrpSpPr>
          <p:cNvPr id="24" name="p07-sidenote-b"/>
          <p:cNvGrpSpPr/>
          <p:nvPr/>
        </p:nvGrpSpPr>
        <p:grpSpPr>
          <a:xfrm>
            <a:off x="1003656" y="5325324"/>
            <a:ext cx="2943113" cy="1317127"/>
            <a:chOff x="4507992" y="5057775"/>
            <a:chExt cx="2913927" cy="1317127"/>
          </a:xfrm>
        </p:grpSpPr>
        <p:sp>
          <p:nvSpPr>
            <p:cNvPr id="21" name="Freeform 21"/>
            <p:cNvSpPr/>
            <p:nvPr/>
          </p:nvSpPr>
          <p:spPr>
            <a:xfrm>
              <a:off x="4538662" y="5057775"/>
              <a:ext cx="142875" cy="190500"/>
            </a:xfrm>
            <a:custGeom>
              <a:avLst/>
              <a:gdLst/>
              <a:ahLst/>
              <a:cxnLst/>
              <a:rect l="l" t="t" r="r" b="b"/>
              <a:pathLst>
                <a:path w="142875" h="190500">
                  <a:moveTo>
                    <a:pt x="35719" y="136922"/>
                  </a:moveTo>
                  <a:lnTo>
                    <a:pt x="35719" y="172641"/>
                  </a:lnTo>
                  <a:lnTo>
                    <a:pt x="53578" y="190500"/>
                  </a:lnTo>
                  <a:lnTo>
                    <a:pt x="89297" y="190500"/>
                  </a:lnTo>
                  <a:lnTo>
                    <a:pt x="107156" y="172641"/>
                  </a:lnTo>
                  <a:lnTo>
                    <a:pt x="107156" y="136922"/>
                  </a:lnTo>
                  <a:lnTo>
                    <a:pt x="121915" y="122163"/>
                  </a:lnTo>
                  <a:cubicBezTo>
                    <a:pt x="135336" y="108743"/>
                    <a:pt x="142875" y="90504"/>
                    <a:pt x="142875" y="71525"/>
                  </a:cubicBezTo>
                  <a:cubicBezTo>
                    <a:pt x="142875" y="32071"/>
                    <a:pt x="110891" y="0"/>
                    <a:pt x="71438" y="0"/>
                  </a:cubicBezTo>
                  <a:cubicBezTo>
                    <a:pt x="31984" y="0"/>
                    <a:pt x="0" y="32071"/>
                    <a:pt x="0" y="71525"/>
                  </a:cubicBezTo>
                  <a:cubicBezTo>
                    <a:pt x="0" y="90504"/>
                    <a:pt x="7540" y="108743"/>
                    <a:pt x="20960" y="122163"/>
                  </a:cubicBezTo>
                  <a:lnTo>
                    <a:pt x="35719" y="136922"/>
                  </a:lnTo>
                  <a:close/>
                  <a:moveTo>
                    <a:pt x="59531" y="117562"/>
                  </a:moveTo>
                  <a:lnTo>
                    <a:pt x="59531" y="71438"/>
                  </a:lnTo>
                  <a:lnTo>
                    <a:pt x="83344" y="71438"/>
                  </a:lnTo>
                  <a:lnTo>
                    <a:pt x="83344" y="117562"/>
                  </a:lnTo>
                  <a:cubicBezTo>
                    <a:pt x="103884" y="112275"/>
                    <a:pt x="119062" y="93629"/>
                    <a:pt x="119062" y="71438"/>
                  </a:cubicBezTo>
                  <a:cubicBezTo>
                    <a:pt x="119062" y="45135"/>
                    <a:pt x="97740" y="23812"/>
                    <a:pt x="71438" y="23812"/>
                  </a:cubicBezTo>
                  <a:cubicBezTo>
                    <a:pt x="45135" y="23812"/>
                    <a:pt x="23812" y="45135"/>
                    <a:pt x="23812" y="71438"/>
                  </a:cubicBezTo>
                  <a:cubicBezTo>
                    <a:pt x="23812" y="93629"/>
                    <a:pt x="38990" y="112275"/>
                    <a:pt x="59531" y="117562"/>
                  </a:cubicBezTo>
                  <a:close/>
                </a:path>
              </a:pathLst>
            </a:custGeom>
            <a:solidFill>
              <a:schemeClr val="accent2"/>
            </a:solidFill>
            <a:ln>
              <a:noFill/>
            </a:ln>
          </p:spPr>
        </p:sp>
        <p:sp>
          <p:nvSpPr>
            <p:cNvPr id="22" name="TextBox 22"/>
            <p:cNvSpPr txBox="1"/>
            <p:nvPr/>
          </p:nvSpPr>
          <p:spPr>
            <a:xfrm>
              <a:off x="4774692" y="5064442"/>
              <a:ext cx="840619"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决策—理由</a:t>
              </a:r>
            </a:p>
          </p:txBody>
        </p:sp>
        <p:sp>
          <p:nvSpPr>
            <p:cNvPr id="23" name="TextBox 23"/>
            <p:cNvSpPr txBox="1"/>
            <p:nvPr/>
          </p:nvSpPr>
          <p:spPr>
            <a:xfrm>
              <a:off x="4507992" y="5369242"/>
              <a:ext cx="2913927" cy="1005660"/>
            </a:xfrm>
            <a:prstGeom prst="rect">
              <a:avLst/>
            </a:prstGeom>
            <a:noFill/>
            <a:ln>
              <a:noFill/>
            </a:ln>
          </p:spPr>
          <p:txBody>
            <a:bodyPr wrap="none" lIns="0" tIns="0" rIns="0" bIns="0" anchor="t" anchorCtr="0">
              <a:spAutoFit/>
            </a:bodyPr>
            <a:lstStyle/>
            <a:p>
              <a:pPr algn="l">
                <a:lnSpc>
                  <a:spcPts val="1950"/>
                </a:lnSpc>
              </a:pPr>
              <a:r>
                <a:rPr lang="zh-CN" altLang="en-US" sz="1350" dirty="0">
                  <a:solidFill>
                    <a:schemeClr val="accent5"/>
                  </a:solidFill>
                </a:rPr>
                <a:t>使用</a:t>
              </a:r>
              <a:r>
                <a:rPr lang="en-US" altLang="zh-CN" sz="1350" dirty="0">
                  <a:solidFill>
                    <a:schemeClr val="accent5"/>
                  </a:solidFill>
                </a:rPr>
                <a:t>MCP(</a:t>
              </a:r>
              <a:r>
                <a:rPr lang="zh-CN" altLang="en-US" sz="1350" dirty="0">
                  <a:solidFill>
                    <a:schemeClr val="accent5"/>
                  </a:solidFill>
                </a:rPr>
                <a:t>模型上下文协议</a:t>
              </a:r>
              <a:r>
                <a:rPr lang="en-US" altLang="zh-CN" sz="1350" dirty="0">
                  <a:solidFill>
                    <a:schemeClr val="accent5"/>
                  </a:solidFill>
                </a:rPr>
                <a:t>)</a:t>
              </a:r>
              <a:r>
                <a:rPr lang="zh-CN" altLang="en-US" sz="1350" dirty="0">
                  <a:solidFill>
                    <a:schemeClr val="accent5"/>
                  </a:solidFill>
                </a:rPr>
                <a:t>协议</a:t>
              </a:r>
              <a:r>
                <a:rPr lang="en-US" altLang="zh-CN" sz="1350" dirty="0">
                  <a:solidFill>
                    <a:schemeClr val="accent5"/>
                  </a:solidFill>
                </a:rPr>
                <a:t>: </a:t>
              </a:r>
            </a:p>
            <a:p>
              <a:pPr algn="l">
                <a:lnSpc>
                  <a:spcPts val="1950"/>
                </a:lnSpc>
              </a:pPr>
              <a:r>
                <a:rPr lang="zh-CN" altLang="en-US" sz="1350" dirty="0">
                  <a:solidFill>
                    <a:schemeClr val="accent5"/>
                  </a:solidFill>
                </a:rPr>
                <a:t>每个接口自带名称、说明和参数，</a:t>
              </a:r>
              <a:r>
                <a:rPr lang="en-US" altLang="zh-CN" sz="1350" dirty="0">
                  <a:solidFill>
                    <a:schemeClr val="accent5"/>
                  </a:solidFill>
                </a:rPr>
                <a:t>AI</a:t>
              </a:r>
              <a:br>
                <a:rPr lang="en-US" altLang="zh-CN" sz="1350" dirty="0">
                  <a:solidFill>
                    <a:schemeClr val="accent5"/>
                  </a:solidFill>
                </a:rPr>
              </a:br>
              <a:r>
                <a:rPr lang="zh-CN" altLang="en-US" sz="1350" dirty="0">
                  <a:solidFill>
                    <a:schemeClr val="accent5"/>
                  </a:solidFill>
                </a:rPr>
                <a:t>客户端连上就能自动发现有哪些能力、</a:t>
              </a:r>
              <a:br>
                <a:rPr lang="en-US" altLang="zh-CN" sz="1350" dirty="0">
                  <a:solidFill>
                    <a:schemeClr val="accent5"/>
                  </a:solidFill>
                </a:rPr>
              </a:br>
              <a:r>
                <a:rPr lang="zh-CN" altLang="en-US" sz="1350" dirty="0">
                  <a:solidFill>
                    <a:schemeClr val="accent5"/>
                  </a:solidFill>
                </a:rPr>
                <a:t>该怎么调，不需要额外写文档</a:t>
              </a:r>
            </a:p>
          </p:txBody>
        </p:sp>
      </p:grpSp>
      <p:grpSp>
        <p:nvGrpSpPr>
          <p:cNvPr id="27" name="p07-service-layers"/>
          <p:cNvGrpSpPr/>
          <p:nvPr/>
        </p:nvGrpSpPr>
        <p:grpSpPr>
          <a:xfrm>
            <a:off x="10127038" y="961627"/>
            <a:ext cx="1733550" cy="5581650"/>
            <a:chOff x="9772650" y="590550"/>
            <a:chExt cx="1733550" cy="5581650"/>
          </a:xfrm>
        </p:grpSpPr>
        <p:pic>
          <p:nvPicPr>
            <p:cNvPr id="26" name="Image 26"/>
            <p:cNvPicPr>
              <a:picLocks noChangeAspect="1"/>
            </p:cNvPicPr>
            <p:nvPr/>
          </p:nvPicPr>
          <p:blipFill>
            <a:blip r:embed="rId4"/>
            <a:stretch>
              <a:fillRect/>
            </a:stretch>
          </p:blipFill>
          <p:spPr>
            <a:xfrm>
              <a:off x="9772650" y="590550"/>
              <a:ext cx="1733550" cy="558165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08-header"/>
          <p:cNvGrpSpPr/>
          <p:nvPr/>
        </p:nvGrpSpPr>
        <p:grpSpPr>
          <a:xfrm>
            <a:off x="974598" y="844868"/>
            <a:ext cx="7240905" cy="898017"/>
            <a:chOff x="974598" y="844868"/>
            <a:chExt cx="7240905" cy="898017"/>
          </a:xfrm>
        </p:grpSpPr>
        <p:sp>
          <p:nvSpPr>
            <p:cNvPr id="3" name="TextBox 3"/>
            <p:cNvSpPr txBox="1"/>
            <p:nvPr/>
          </p:nvSpPr>
          <p:spPr>
            <a:xfrm>
              <a:off x="983742" y="844868"/>
              <a:ext cx="140400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第一步 · 通用化</a:t>
              </a:r>
            </a:p>
          </p:txBody>
        </p:sp>
        <p:sp>
          <p:nvSpPr>
            <p:cNvPr id="4" name="TextBox 4"/>
            <p:cNvSpPr txBox="1"/>
            <p:nvPr/>
          </p:nvSpPr>
          <p:spPr>
            <a:xfrm>
              <a:off x="974598" y="1126808"/>
              <a:ext cx="724090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工位接线：把端口资源映射到物理针脚</a:t>
              </a:r>
            </a:p>
          </p:txBody>
        </p:sp>
      </p:grpSp>
      <p:sp>
        <p:nvSpPr>
          <p:cNvPr id="6" name="Line 6"/>
          <p:cNvSpPr/>
          <p:nvPr/>
        </p:nvSpPr>
        <p:spPr>
          <a:xfrm>
            <a:off x="990600" y="1676400"/>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9" name="p08-claim-1"/>
          <p:cNvGrpSpPr/>
          <p:nvPr/>
        </p:nvGrpSpPr>
        <p:grpSpPr>
          <a:xfrm>
            <a:off x="1003697" y="1962150"/>
            <a:ext cx="6863569" cy="233467"/>
            <a:chOff x="1003697" y="1962150"/>
            <a:chExt cx="6863569" cy="233467"/>
          </a:xfrm>
        </p:grpSpPr>
        <p:sp>
          <p:nvSpPr>
            <p:cNvPr id="7" name="Freeform 7"/>
            <p:cNvSpPr/>
            <p:nvPr/>
          </p:nvSpPr>
          <p:spPr>
            <a:xfrm>
              <a:off x="1003697" y="1962150"/>
              <a:ext cx="183356" cy="209550"/>
            </a:xfrm>
            <a:custGeom>
              <a:avLst/>
              <a:gdLst/>
              <a:ahLst/>
              <a:cxnLst/>
              <a:rect l="l" t="t" r="r" b="b"/>
              <a:pathLst>
                <a:path w="183356" h="209550">
                  <a:moveTo>
                    <a:pt x="65484" y="0"/>
                  </a:moveTo>
                  <a:lnTo>
                    <a:pt x="65484" y="52388"/>
                  </a:lnTo>
                  <a:lnTo>
                    <a:pt x="117872" y="52388"/>
                  </a:lnTo>
                  <a:lnTo>
                    <a:pt x="117872" y="0"/>
                  </a:lnTo>
                  <a:lnTo>
                    <a:pt x="144066" y="0"/>
                  </a:lnTo>
                  <a:lnTo>
                    <a:pt x="144066" y="52388"/>
                  </a:lnTo>
                  <a:lnTo>
                    <a:pt x="183356" y="52388"/>
                  </a:lnTo>
                  <a:lnTo>
                    <a:pt x="183356" y="78581"/>
                  </a:lnTo>
                  <a:lnTo>
                    <a:pt x="157162" y="78581"/>
                  </a:lnTo>
                  <a:lnTo>
                    <a:pt x="157162" y="104775"/>
                  </a:lnTo>
                  <a:cubicBezTo>
                    <a:pt x="157162" y="136456"/>
                    <a:pt x="134665" y="162882"/>
                    <a:pt x="104775" y="168950"/>
                  </a:cubicBezTo>
                  <a:lnTo>
                    <a:pt x="104775" y="209550"/>
                  </a:lnTo>
                  <a:lnTo>
                    <a:pt x="78581" y="209550"/>
                  </a:lnTo>
                  <a:lnTo>
                    <a:pt x="78581" y="168950"/>
                  </a:lnTo>
                  <a:cubicBezTo>
                    <a:pt x="48691" y="162882"/>
                    <a:pt x="26194" y="136456"/>
                    <a:pt x="26194" y="104775"/>
                  </a:cubicBezTo>
                  <a:lnTo>
                    <a:pt x="26194" y="78581"/>
                  </a:lnTo>
                  <a:lnTo>
                    <a:pt x="0" y="78581"/>
                  </a:lnTo>
                  <a:lnTo>
                    <a:pt x="0" y="52388"/>
                  </a:lnTo>
                  <a:lnTo>
                    <a:pt x="39291" y="52388"/>
                  </a:lnTo>
                  <a:lnTo>
                    <a:pt x="39291" y="0"/>
                  </a:lnTo>
                  <a:lnTo>
                    <a:pt x="65484" y="0"/>
                  </a:lnTo>
                  <a:close/>
                </a:path>
              </a:pathLst>
            </a:custGeom>
            <a:solidFill>
              <a:schemeClr val="accent3"/>
            </a:solidFill>
            <a:ln>
              <a:noFill/>
            </a:ln>
          </p:spPr>
        </p:sp>
        <p:sp>
          <p:nvSpPr>
            <p:cNvPr id="8" name="TextBox 8"/>
            <p:cNvSpPr txBox="1"/>
            <p:nvPr/>
          </p:nvSpPr>
          <p:spPr>
            <a:xfrm>
              <a:off x="1288542" y="1987868"/>
              <a:ext cx="6578724" cy="207749"/>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硬件对象有端口和针脚属性，工位接线表示测试资源和被测对象</a:t>
              </a:r>
              <a:r>
                <a:rPr lang="zh-CN" altLang="en-US" sz="1350" dirty="0">
                  <a:solidFill>
                    <a:schemeClr val="dk1"/>
                  </a:solidFill>
                  <a:latin typeface="+mn-lt"/>
                  <a:ea typeface="+mn-ea"/>
                  <a:cs typeface="+mn-cs"/>
                </a:rPr>
                <a:t>针脚之间</a:t>
              </a:r>
              <a:r>
                <a:rPr lang="zh-CN" sz="1350" dirty="0">
                  <a:solidFill>
                    <a:schemeClr val="dk1"/>
                  </a:solidFill>
                  <a:latin typeface="+mn-lt"/>
                  <a:ea typeface="+mn-ea"/>
                  <a:cs typeface="+mn-cs"/>
                </a:rPr>
                <a:t>的连接关系</a:t>
              </a:r>
            </a:p>
          </p:txBody>
        </p:sp>
      </p:grpSp>
      <p:grpSp>
        <p:nvGrpSpPr>
          <p:cNvPr id="12" name="p08-claim-2"/>
          <p:cNvGrpSpPr/>
          <p:nvPr/>
        </p:nvGrpSpPr>
        <p:grpSpPr>
          <a:xfrm>
            <a:off x="990600" y="2419350"/>
            <a:ext cx="5036820" cy="289751"/>
            <a:chOff x="990600" y="2419350"/>
            <a:chExt cx="5036820" cy="289751"/>
          </a:xfrm>
        </p:grpSpPr>
        <p:sp>
          <p:nvSpPr>
            <p:cNvPr id="10" name="Freeform 10"/>
            <p:cNvSpPr/>
            <p:nvPr/>
          </p:nvSpPr>
          <p:spPr>
            <a:xfrm>
              <a:off x="990600" y="2419350"/>
              <a:ext cx="183356" cy="209550"/>
            </a:xfrm>
            <a:custGeom>
              <a:avLst/>
              <a:gdLst/>
              <a:ahLst/>
              <a:cxnLst/>
              <a:rect l="l" t="t" r="r" b="b"/>
              <a:pathLst>
                <a:path w="183356" h="209550">
                  <a:moveTo>
                    <a:pt x="144066" y="78581"/>
                  </a:moveTo>
                  <a:cubicBezTo>
                    <a:pt x="165766" y="78581"/>
                    <a:pt x="183356" y="60990"/>
                    <a:pt x="183356" y="39291"/>
                  </a:cubicBezTo>
                  <a:cubicBezTo>
                    <a:pt x="183356" y="17591"/>
                    <a:pt x="165766" y="0"/>
                    <a:pt x="144066" y="0"/>
                  </a:cubicBezTo>
                  <a:cubicBezTo>
                    <a:pt x="122366" y="0"/>
                    <a:pt x="104775" y="17591"/>
                    <a:pt x="104775" y="39291"/>
                  </a:cubicBezTo>
                  <a:cubicBezTo>
                    <a:pt x="104775" y="42221"/>
                    <a:pt x="105096" y="45075"/>
                    <a:pt x="105704" y="47822"/>
                  </a:cubicBezTo>
                  <a:lnTo>
                    <a:pt x="63764" y="74035"/>
                  </a:lnTo>
                  <a:cubicBezTo>
                    <a:pt x="57050" y="68683"/>
                    <a:pt x="48544" y="65484"/>
                    <a:pt x="39291" y="65484"/>
                  </a:cubicBezTo>
                  <a:cubicBezTo>
                    <a:pt x="17591" y="65484"/>
                    <a:pt x="0" y="83075"/>
                    <a:pt x="0" y="104775"/>
                  </a:cubicBezTo>
                  <a:cubicBezTo>
                    <a:pt x="0" y="126475"/>
                    <a:pt x="17591" y="144066"/>
                    <a:pt x="39291" y="144066"/>
                  </a:cubicBezTo>
                  <a:cubicBezTo>
                    <a:pt x="48544" y="144066"/>
                    <a:pt x="57050" y="140867"/>
                    <a:pt x="63764" y="135515"/>
                  </a:cubicBezTo>
                  <a:lnTo>
                    <a:pt x="105704" y="161728"/>
                  </a:lnTo>
                  <a:cubicBezTo>
                    <a:pt x="105096" y="164474"/>
                    <a:pt x="104775" y="167330"/>
                    <a:pt x="104775" y="170259"/>
                  </a:cubicBezTo>
                  <a:cubicBezTo>
                    <a:pt x="104775" y="191960"/>
                    <a:pt x="122366" y="209550"/>
                    <a:pt x="144066" y="209550"/>
                  </a:cubicBezTo>
                  <a:cubicBezTo>
                    <a:pt x="165766" y="209550"/>
                    <a:pt x="183356" y="191960"/>
                    <a:pt x="183356" y="170259"/>
                  </a:cubicBezTo>
                  <a:cubicBezTo>
                    <a:pt x="183356" y="148559"/>
                    <a:pt x="165766" y="130969"/>
                    <a:pt x="144066" y="130969"/>
                  </a:cubicBezTo>
                  <a:cubicBezTo>
                    <a:pt x="134813" y="130969"/>
                    <a:pt x="126306" y="134167"/>
                    <a:pt x="119593" y="139520"/>
                  </a:cubicBezTo>
                  <a:lnTo>
                    <a:pt x="77652" y="113307"/>
                  </a:lnTo>
                  <a:cubicBezTo>
                    <a:pt x="78261" y="110560"/>
                    <a:pt x="78581" y="107705"/>
                    <a:pt x="78581" y="104775"/>
                  </a:cubicBezTo>
                  <a:cubicBezTo>
                    <a:pt x="78581" y="101845"/>
                    <a:pt x="78261" y="98990"/>
                    <a:pt x="77652" y="96243"/>
                  </a:cubicBezTo>
                  <a:lnTo>
                    <a:pt x="119593" y="70031"/>
                  </a:lnTo>
                  <a:cubicBezTo>
                    <a:pt x="126306" y="75383"/>
                    <a:pt x="134813" y="78581"/>
                    <a:pt x="144066" y="78581"/>
                  </a:cubicBezTo>
                  <a:close/>
                </a:path>
              </a:pathLst>
            </a:custGeom>
            <a:solidFill>
              <a:schemeClr val="accent3"/>
            </a:solidFill>
            <a:ln>
              <a:noFill/>
            </a:ln>
          </p:spPr>
        </p:sp>
        <p:sp>
          <p:nvSpPr>
            <p:cNvPr id="11" name="TextBox 11"/>
            <p:cNvSpPr txBox="1"/>
            <p:nvPr/>
          </p:nvSpPr>
          <p:spPr>
            <a:xfrm>
              <a:off x="1288542" y="2445068"/>
              <a:ext cx="4738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画布展示端口之间的连接，列表列出每一个针脚之间的连接</a:t>
              </a:r>
            </a:p>
          </p:txBody>
        </p:sp>
      </p:grpSp>
      <p:grpSp>
        <p:nvGrpSpPr>
          <p:cNvPr id="18" name="p08-claim-3"/>
          <p:cNvGrpSpPr/>
          <p:nvPr/>
        </p:nvGrpSpPr>
        <p:grpSpPr>
          <a:xfrm>
            <a:off x="1003697" y="2889647"/>
            <a:ext cx="4471889" cy="220370"/>
            <a:chOff x="1003697" y="2889647"/>
            <a:chExt cx="4471889" cy="220370"/>
          </a:xfrm>
        </p:grpSpPr>
        <p:grpSp>
          <p:nvGrpSpPr>
            <p:cNvPr id="16" name="Group 16"/>
            <p:cNvGrpSpPr/>
            <p:nvPr/>
          </p:nvGrpSpPr>
          <p:grpSpPr>
            <a:xfrm>
              <a:off x="1003697" y="2889647"/>
              <a:ext cx="183357" cy="183357"/>
              <a:chOff x="1003697" y="2889647"/>
              <a:chExt cx="183357" cy="183357"/>
            </a:xfrm>
          </p:grpSpPr>
          <p:sp>
            <p:nvSpPr>
              <p:cNvPr id="13" name="Freeform 13"/>
              <p:cNvSpPr/>
              <p:nvPr/>
            </p:nvSpPr>
            <p:spPr>
              <a:xfrm>
                <a:off x="1003697" y="2889647"/>
                <a:ext cx="52388" cy="52388"/>
              </a:xfrm>
              <a:custGeom>
                <a:avLst/>
                <a:gdLst/>
                <a:ahLst/>
                <a:cxnLst/>
                <a:rect l="l" t="t" r="r" b="b"/>
                <a:pathLst>
                  <a:path w="52388" h="52388">
                    <a:moveTo>
                      <a:pt x="52388" y="26194"/>
                    </a:moveTo>
                    <a:cubicBezTo>
                      <a:pt x="52388" y="40660"/>
                      <a:pt x="40660" y="52388"/>
                      <a:pt x="26194" y="52388"/>
                    </a:cubicBezTo>
                    <a:cubicBezTo>
                      <a:pt x="11727" y="52388"/>
                      <a:pt x="0" y="40660"/>
                      <a:pt x="0" y="26194"/>
                    </a:cubicBezTo>
                    <a:cubicBezTo>
                      <a:pt x="0" y="11727"/>
                      <a:pt x="11727" y="0"/>
                      <a:pt x="26194" y="0"/>
                    </a:cubicBezTo>
                    <a:cubicBezTo>
                      <a:pt x="40660" y="0"/>
                      <a:pt x="52388" y="11727"/>
                      <a:pt x="52388" y="26194"/>
                    </a:cubicBezTo>
                    <a:close/>
                  </a:path>
                </a:pathLst>
              </a:custGeom>
              <a:solidFill>
                <a:schemeClr val="accent3"/>
              </a:solidFill>
              <a:ln>
                <a:noFill/>
              </a:ln>
            </p:spPr>
          </p:sp>
          <p:sp>
            <p:nvSpPr>
              <p:cNvPr id="14" name="Freeform 14"/>
              <p:cNvSpPr/>
              <p:nvPr/>
            </p:nvSpPr>
            <p:spPr>
              <a:xfrm>
                <a:off x="1134666" y="3020616"/>
                <a:ext cx="52388" cy="52388"/>
              </a:xfrm>
              <a:custGeom>
                <a:avLst/>
                <a:gdLst/>
                <a:ahLst/>
                <a:cxnLst/>
                <a:rect l="l" t="t" r="r" b="b"/>
                <a:pathLst>
                  <a:path w="52388" h="52388">
                    <a:moveTo>
                      <a:pt x="52388" y="26194"/>
                    </a:moveTo>
                    <a:cubicBezTo>
                      <a:pt x="52388" y="40661"/>
                      <a:pt x="40661" y="52388"/>
                      <a:pt x="26194" y="52388"/>
                    </a:cubicBezTo>
                    <a:cubicBezTo>
                      <a:pt x="11727" y="52388"/>
                      <a:pt x="0" y="40661"/>
                      <a:pt x="0" y="26194"/>
                    </a:cubicBezTo>
                    <a:cubicBezTo>
                      <a:pt x="0" y="11727"/>
                      <a:pt x="11727" y="0"/>
                      <a:pt x="26194" y="0"/>
                    </a:cubicBezTo>
                    <a:cubicBezTo>
                      <a:pt x="40661" y="0"/>
                      <a:pt x="52388" y="11727"/>
                      <a:pt x="52388" y="26194"/>
                    </a:cubicBezTo>
                    <a:close/>
                  </a:path>
                </a:pathLst>
              </a:custGeom>
              <a:solidFill>
                <a:schemeClr val="accent3"/>
              </a:solidFill>
              <a:ln>
                <a:noFill/>
              </a:ln>
            </p:spPr>
          </p:sp>
          <p:sp>
            <p:nvSpPr>
              <p:cNvPr id="15" name="Freeform 15"/>
              <p:cNvSpPr/>
              <p:nvPr/>
            </p:nvSpPr>
            <p:spPr>
              <a:xfrm>
                <a:off x="1016794" y="2889647"/>
                <a:ext cx="157162" cy="183356"/>
              </a:xfrm>
              <a:custGeom>
                <a:avLst/>
                <a:gdLst/>
                <a:ahLst/>
                <a:cxnLst/>
                <a:rect l="l" t="t" r="r" b="b"/>
                <a:pathLst>
                  <a:path w="157162" h="183356">
                    <a:moveTo>
                      <a:pt x="91678" y="45839"/>
                    </a:moveTo>
                    <a:cubicBezTo>
                      <a:pt x="91678" y="34989"/>
                      <a:pt x="100474" y="26194"/>
                      <a:pt x="111323" y="26194"/>
                    </a:cubicBezTo>
                    <a:cubicBezTo>
                      <a:pt x="122173" y="26194"/>
                      <a:pt x="130969" y="34989"/>
                      <a:pt x="130969" y="45839"/>
                    </a:cubicBezTo>
                    <a:lnTo>
                      <a:pt x="130969" y="104775"/>
                    </a:lnTo>
                    <a:lnTo>
                      <a:pt x="157162" y="104775"/>
                    </a:lnTo>
                    <a:lnTo>
                      <a:pt x="157162" y="45839"/>
                    </a:lnTo>
                    <a:cubicBezTo>
                      <a:pt x="157162" y="20523"/>
                      <a:pt x="136640" y="0"/>
                      <a:pt x="111323" y="0"/>
                    </a:cubicBezTo>
                    <a:cubicBezTo>
                      <a:pt x="86007" y="0"/>
                      <a:pt x="65484" y="20523"/>
                      <a:pt x="65484" y="45839"/>
                    </a:cubicBezTo>
                    <a:lnTo>
                      <a:pt x="65484" y="137517"/>
                    </a:lnTo>
                    <a:cubicBezTo>
                      <a:pt x="65484" y="148367"/>
                      <a:pt x="56689" y="157162"/>
                      <a:pt x="45839" y="157162"/>
                    </a:cubicBezTo>
                    <a:cubicBezTo>
                      <a:pt x="34989" y="157162"/>
                      <a:pt x="26194" y="148367"/>
                      <a:pt x="26194" y="137517"/>
                    </a:cubicBezTo>
                    <a:lnTo>
                      <a:pt x="26194" y="78581"/>
                    </a:lnTo>
                    <a:lnTo>
                      <a:pt x="0" y="78581"/>
                    </a:lnTo>
                    <a:lnTo>
                      <a:pt x="0" y="137517"/>
                    </a:lnTo>
                    <a:cubicBezTo>
                      <a:pt x="0" y="162833"/>
                      <a:pt x="20523" y="183356"/>
                      <a:pt x="45839" y="183356"/>
                    </a:cubicBezTo>
                    <a:cubicBezTo>
                      <a:pt x="71155" y="183356"/>
                      <a:pt x="91678" y="162833"/>
                      <a:pt x="91678" y="137517"/>
                    </a:cubicBezTo>
                    <a:lnTo>
                      <a:pt x="91678" y="45839"/>
                    </a:lnTo>
                    <a:close/>
                  </a:path>
                </a:pathLst>
              </a:custGeom>
              <a:solidFill>
                <a:schemeClr val="accent3"/>
              </a:solidFill>
              <a:ln>
                <a:noFill/>
              </a:ln>
            </p:spPr>
          </p:sp>
        </p:grpSp>
        <p:sp>
          <p:nvSpPr>
            <p:cNvPr id="17" name="TextBox 17"/>
            <p:cNvSpPr txBox="1"/>
            <p:nvPr/>
          </p:nvSpPr>
          <p:spPr>
            <a:xfrm>
              <a:off x="1288542" y="2902268"/>
              <a:ext cx="4187044" cy="207749"/>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和特定测试流程绑定，为 AI </a:t>
              </a:r>
              <a:r>
                <a:rPr lang="zh-CN" altLang="en-US" sz="1350" dirty="0">
                  <a:solidFill>
                    <a:schemeClr val="dk1"/>
                  </a:solidFill>
                  <a:latin typeface="+mn-lt"/>
                  <a:ea typeface="+mn-ea"/>
                  <a:cs typeface="+mn-cs"/>
                </a:rPr>
                <a:t>完成测试编排</a:t>
              </a:r>
              <a:r>
                <a:rPr lang="zh-CN" sz="1350" dirty="0">
                  <a:solidFill>
                    <a:schemeClr val="dk1"/>
                  </a:solidFill>
                  <a:latin typeface="+mn-lt"/>
                  <a:ea typeface="+mn-ea"/>
                  <a:cs typeface="+mn-cs"/>
                </a:rPr>
                <a:t>提供上下文</a:t>
              </a:r>
            </a:p>
          </p:txBody>
        </p:sp>
      </p:grpSp>
      <p:sp>
        <p:nvSpPr>
          <p:cNvPr id="19" name="Line 19"/>
          <p:cNvSpPr/>
          <p:nvPr/>
        </p:nvSpPr>
        <p:spPr>
          <a:xfrm flipV="1">
            <a:off x="983742" y="3230872"/>
            <a:ext cx="9793794" cy="92440"/>
          </a:xfrm>
          <a:custGeom>
            <a:avLst/>
            <a:gdLst/>
            <a:ahLst/>
            <a:cxnLst/>
            <a:rect l="l" t="t" r="r" b="b"/>
            <a:pathLst>
              <a:path w="6657975" h="9525">
                <a:moveTo>
                  <a:pt x="0" y="0"/>
                </a:moveTo>
                <a:lnTo>
                  <a:pt x="6657975" y="0"/>
                </a:lnTo>
              </a:path>
            </a:pathLst>
          </a:custGeom>
          <a:noFill/>
          <a:ln w="9525">
            <a:solidFill>
              <a:schemeClr val="accent6"/>
            </a:solidFill>
          </a:ln>
        </p:spPr>
      </p:sp>
      <p:grpSp>
        <p:nvGrpSpPr>
          <p:cNvPr id="25" name="p08-canvas-view"/>
          <p:cNvGrpSpPr/>
          <p:nvPr/>
        </p:nvGrpSpPr>
        <p:grpSpPr>
          <a:xfrm>
            <a:off x="817435" y="3463805"/>
            <a:ext cx="5209985" cy="3265712"/>
            <a:chOff x="8029575" y="1905000"/>
            <a:chExt cx="3476625" cy="2076450"/>
          </a:xfrm>
        </p:grpSpPr>
        <p:pic>
          <p:nvPicPr>
            <p:cNvPr id="24" name="Image 24"/>
            <p:cNvPicPr>
              <a:picLocks noChangeAspect="1"/>
            </p:cNvPicPr>
            <p:nvPr/>
          </p:nvPicPr>
          <p:blipFill>
            <a:blip r:embed="rId3"/>
            <a:stretch>
              <a:fillRect/>
            </a:stretch>
          </p:blipFill>
          <p:spPr>
            <a:xfrm>
              <a:off x="8029575" y="1905000"/>
              <a:ext cx="3476625" cy="2076450"/>
            </a:xfrm>
            <a:prstGeom prst="rect">
              <a:avLst/>
            </a:prstGeom>
          </p:spPr>
        </p:pic>
      </p:grpSp>
      <p:grpSp>
        <p:nvGrpSpPr>
          <p:cNvPr id="28" name="p08-list-view"/>
          <p:cNvGrpSpPr/>
          <p:nvPr/>
        </p:nvGrpSpPr>
        <p:grpSpPr>
          <a:xfrm>
            <a:off x="6164582" y="3471100"/>
            <a:ext cx="4686435" cy="3218083"/>
            <a:chOff x="8029575" y="4095750"/>
            <a:chExt cx="3476625" cy="2076450"/>
          </a:xfrm>
        </p:grpSpPr>
        <p:pic>
          <p:nvPicPr>
            <p:cNvPr id="27" name="Image 27"/>
            <p:cNvPicPr>
              <a:picLocks noChangeAspect="1"/>
            </p:cNvPicPr>
            <p:nvPr/>
          </p:nvPicPr>
          <p:blipFill>
            <a:blip r:embed="rId4"/>
            <a:stretch>
              <a:fillRect/>
            </a:stretch>
          </p:blipFill>
          <p:spPr>
            <a:xfrm>
              <a:off x="8029575" y="4095750"/>
              <a:ext cx="3476625" cy="207645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10-header"/>
          <p:cNvGrpSpPr/>
          <p:nvPr/>
        </p:nvGrpSpPr>
        <p:grpSpPr>
          <a:xfrm>
            <a:off x="974598" y="844868"/>
            <a:ext cx="2423740" cy="750658"/>
            <a:chOff x="974598" y="844868"/>
            <a:chExt cx="2423740" cy="750658"/>
          </a:xfrm>
        </p:grpSpPr>
        <p:sp>
          <p:nvSpPr>
            <p:cNvPr id="3" name="TextBox 3"/>
            <p:cNvSpPr txBox="1"/>
            <p:nvPr/>
          </p:nvSpPr>
          <p:spPr>
            <a:xfrm>
              <a:off x="983742" y="844868"/>
              <a:ext cx="140400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第一步 · 通用化</a:t>
              </a:r>
            </a:p>
          </p:txBody>
        </p:sp>
        <p:sp>
          <p:nvSpPr>
            <p:cNvPr id="4" name="TextBox 4"/>
            <p:cNvSpPr txBox="1"/>
            <p:nvPr/>
          </p:nvSpPr>
          <p:spPr>
            <a:xfrm>
              <a:off x="974598" y="1126808"/>
              <a:ext cx="2423740" cy="468718"/>
            </a:xfrm>
            <a:prstGeom prst="rect">
              <a:avLst/>
            </a:prstGeom>
            <a:noFill/>
            <a:ln>
              <a:noFill/>
            </a:ln>
          </p:spPr>
          <p:txBody>
            <a:bodyPr wrap="none" lIns="0" tIns="0" rIns="0" bIns="0" anchor="t" anchorCtr="0">
              <a:spAutoFit/>
            </a:bodyPr>
            <a:lstStyle/>
            <a:p>
              <a:pPr algn="l">
                <a:lnSpc>
                  <a:spcPts val="3900"/>
                </a:lnSpc>
              </a:pPr>
              <a:r>
                <a:rPr lang="zh-CN" sz="3150" b="1" dirty="0">
                  <a:solidFill>
                    <a:schemeClr val="accent1"/>
                  </a:solidFill>
                  <a:latin typeface="+mj-lt"/>
                  <a:ea typeface="+mj-ea"/>
                  <a:cs typeface="+mj-cs"/>
                </a:rPr>
                <a:t>通用测试语义</a:t>
              </a:r>
            </a:p>
          </p:txBody>
        </p:sp>
      </p:grpSp>
      <p:sp>
        <p:nvSpPr>
          <p:cNvPr id="6" name="Line 6"/>
          <p:cNvSpPr/>
          <p:nvPr/>
        </p:nvSpPr>
        <p:spPr>
          <a:xfrm>
            <a:off x="983742" y="1657438"/>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17" name="p10-zone-band"/>
          <p:cNvGrpSpPr/>
          <p:nvPr/>
        </p:nvGrpSpPr>
        <p:grpSpPr>
          <a:xfrm>
            <a:off x="990600" y="1965095"/>
            <a:ext cx="6286500" cy="381000"/>
            <a:chOff x="990600" y="2247900"/>
            <a:chExt cx="6286500" cy="381000"/>
          </a:xfrm>
        </p:grpSpPr>
        <p:sp>
          <p:nvSpPr>
            <p:cNvPr id="7" name="Rectangle 7"/>
            <p:cNvSpPr/>
            <p:nvPr/>
          </p:nvSpPr>
          <p:spPr>
            <a:xfrm>
              <a:off x="990600" y="2247900"/>
              <a:ext cx="1714500" cy="381000"/>
            </a:xfrm>
            <a:prstGeom prst="rect">
              <a:avLst/>
            </a:prstGeom>
            <a:solidFill>
              <a:schemeClr val="lt2"/>
            </a:solidFill>
            <a:ln>
              <a:noFill/>
            </a:ln>
          </p:spPr>
        </p:sp>
        <p:sp>
          <p:nvSpPr>
            <p:cNvPr id="8" name="Rectangle 8"/>
            <p:cNvSpPr/>
            <p:nvPr/>
          </p:nvSpPr>
          <p:spPr>
            <a:xfrm>
              <a:off x="3276600" y="2247900"/>
              <a:ext cx="1714500" cy="381000"/>
            </a:xfrm>
            <a:prstGeom prst="rect">
              <a:avLst/>
            </a:prstGeom>
            <a:solidFill>
              <a:schemeClr val="lt2"/>
            </a:solidFill>
            <a:ln>
              <a:noFill/>
            </a:ln>
          </p:spPr>
        </p:sp>
        <p:sp>
          <p:nvSpPr>
            <p:cNvPr id="9" name="Rectangle 9"/>
            <p:cNvSpPr/>
            <p:nvPr/>
          </p:nvSpPr>
          <p:spPr>
            <a:xfrm>
              <a:off x="5562600" y="2247900"/>
              <a:ext cx="1714500" cy="381000"/>
            </a:xfrm>
            <a:prstGeom prst="rect">
              <a:avLst/>
            </a:prstGeom>
            <a:solidFill>
              <a:schemeClr val="lt2"/>
            </a:solidFill>
            <a:ln>
              <a:noFill/>
            </a:ln>
          </p:spPr>
        </p:sp>
        <p:sp>
          <p:nvSpPr>
            <p:cNvPr id="10" name="Line 10"/>
            <p:cNvSpPr/>
            <p:nvPr/>
          </p:nvSpPr>
          <p:spPr>
            <a:xfrm>
              <a:off x="2781300" y="2438400"/>
              <a:ext cx="400050" cy="9525"/>
            </a:xfrm>
            <a:custGeom>
              <a:avLst/>
              <a:gdLst/>
              <a:ahLst/>
              <a:cxnLst/>
              <a:rect l="l" t="t" r="r" b="b"/>
              <a:pathLst>
                <a:path w="400050" h="9525">
                  <a:moveTo>
                    <a:pt x="0" y="0"/>
                  </a:moveTo>
                  <a:lnTo>
                    <a:pt x="400050" y="0"/>
                  </a:lnTo>
                </a:path>
              </a:pathLst>
            </a:custGeom>
            <a:noFill/>
            <a:ln w="14288">
              <a:solidFill>
                <a:schemeClr val="accent1"/>
              </a:solidFill>
            </a:ln>
          </p:spPr>
        </p:sp>
        <p:sp>
          <p:nvSpPr>
            <p:cNvPr id="11" name="Polygon 11"/>
            <p:cNvSpPr/>
            <p:nvPr/>
          </p:nvSpPr>
          <p:spPr>
            <a:xfrm>
              <a:off x="3181350" y="2381250"/>
              <a:ext cx="95250" cy="114300"/>
            </a:xfrm>
            <a:custGeom>
              <a:avLst/>
              <a:gdLst/>
              <a:ahLst/>
              <a:cxnLst/>
              <a:rect l="l" t="t" r="r" b="b"/>
              <a:pathLst>
                <a:path w="95250" h="114300">
                  <a:moveTo>
                    <a:pt x="95250" y="57150"/>
                  </a:moveTo>
                  <a:lnTo>
                    <a:pt x="0" y="0"/>
                  </a:lnTo>
                  <a:lnTo>
                    <a:pt x="0" y="114300"/>
                  </a:lnTo>
                  <a:close/>
                </a:path>
              </a:pathLst>
            </a:custGeom>
            <a:solidFill>
              <a:schemeClr val="accent1"/>
            </a:solidFill>
            <a:ln>
              <a:noFill/>
            </a:ln>
          </p:spPr>
        </p:sp>
        <p:sp>
          <p:nvSpPr>
            <p:cNvPr id="12" name="Line 12"/>
            <p:cNvSpPr/>
            <p:nvPr/>
          </p:nvSpPr>
          <p:spPr>
            <a:xfrm>
              <a:off x="5067300" y="2438400"/>
              <a:ext cx="400050" cy="9525"/>
            </a:xfrm>
            <a:custGeom>
              <a:avLst/>
              <a:gdLst/>
              <a:ahLst/>
              <a:cxnLst/>
              <a:rect l="l" t="t" r="r" b="b"/>
              <a:pathLst>
                <a:path w="400050" h="9525">
                  <a:moveTo>
                    <a:pt x="0" y="0"/>
                  </a:moveTo>
                  <a:lnTo>
                    <a:pt x="400050" y="0"/>
                  </a:lnTo>
                </a:path>
              </a:pathLst>
            </a:custGeom>
            <a:noFill/>
            <a:ln w="14288">
              <a:solidFill>
                <a:schemeClr val="accent1"/>
              </a:solidFill>
            </a:ln>
          </p:spPr>
        </p:sp>
        <p:sp>
          <p:nvSpPr>
            <p:cNvPr id="13" name="Polygon 13"/>
            <p:cNvSpPr/>
            <p:nvPr/>
          </p:nvSpPr>
          <p:spPr>
            <a:xfrm>
              <a:off x="5467350" y="2381250"/>
              <a:ext cx="95250" cy="114300"/>
            </a:xfrm>
            <a:custGeom>
              <a:avLst/>
              <a:gdLst/>
              <a:ahLst/>
              <a:cxnLst/>
              <a:rect l="l" t="t" r="r" b="b"/>
              <a:pathLst>
                <a:path w="95250" h="114300">
                  <a:moveTo>
                    <a:pt x="95250" y="57150"/>
                  </a:moveTo>
                  <a:lnTo>
                    <a:pt x="0" y="0"/>
                  </a:lnTo>
                  <a:lnTo>
                    <a:pt x="0" y="114300"/>
                  </a:lnTo>
                  <a:close/>
                </a:path>
              </a:pathLst>
            </a:custGeom>
            <a:solidFill>
              <a:schemeClr val="accent1"/>
            </a:solidFill>
            <a:ln>
              <a:noFill/>
            </a:ln>
          </p:spPr>
        </p:sp>
        <p:sp>
          <p:nvSpPr>
            <p:cNvPr id="14" name="TextBox 14"/>
            <p:cNvSpPr txBox="1"/>
            <p:nvPr/>
          </p:nvSpPr>
          <p:spPr>
            <a:xfrm>
              <a:off x="1259434" y="2349818"/>
              <a:ext cx="1176833"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准备 prepare</a:t>
              </a:r>
            </a:p>
          </p:txBody>
        </p:sp>
        <p:sp>
          <p:nvSpPr>
            <p:cNvPr id="15" name="TextBox 15"/>
            <p:cNvSpPr txBox="1"/>
            <p:nvPr/>
          </p:nvSpPr>
          <p:spPr>
            <a:xfrm>
              <a:off x="3695367" y="2349818"/>
              <a:ext cx="876967"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测试 test</a:t>
              </a:r>
            </a:p>
          </p:txBody>
        </p:sp>
        <p:sp>
          <p:nvSpPr>
            <p:cNvPr id="16" name="TextBox 16"/>
            <p:cNvSpPr txBox="1"/>
            <p:nvPr/>
          </p:nvSpPr>
          <p:spPr>
            <a:xfrm>
              <a:off x="5831434" y="2349818"/>
              <a:ext cx="1176833"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清理 cleanup</a:t>
              </a:r>
            </a:p>
          </p:txBody>
        </p:sp>
      </p:grpSp>
      <p:grpSp>
        <p:nvGrpSpPr>
          <p:cNvPr id="27" name="p10-ledger"/>
          <p:cNvGrpSpPr/>
          <p:nvPr/>
        </p:nvGrpSpPr>
        <p:grpSpPr>
          <a:xfrm>
            <a:off x="1037625" y="2622101"/>
            <a:ext cx="6223826" cy="290600"/>
            <a:chOff x="983742" y="2826068"/>
            <a:chExt cx="6223826" cy="290600"/>
          </a:xfrm>
        </p:grpSpPr>
        <p:sp>
          <p:nvSpPr>
            <p:cNvPr id="21" name="TextBox 21"/>
            <p:cNvSpPr txBox="1"/>
            <p:nvPr/>
          </p:nvSpPr>
          <p:spPr>
            <a:xfrm>
              <a:off x="983742" y="2826068"/>
              <a:ext cx="377190"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清理</a:t>
              </a:r>
            </a:p>
          </p:txBody>
        </p:sp>
        <p:sp>
          <p:nvSpPr>
            <p:cNvPr id="22" name="TextBox 22"/>
            <p:cNvSpPr txBox="1"/>
            <p:nvPr/>
          </p:nvSpPr>
          <p:spPr>
            <a:xfrm>
              <a:off x="2202942" y="2852635"/>
              <a:ext cx="500462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Pass、Fail、中止三种情况下都执行，设备最终回到安全状态</a:t>
              </a:r>
            </a:p>
          </p:txBody>
        </p:sp>
      </p:grpSp>
      <p:grpSp>
        <p:nvGrpSpPr>
          <p:cNvPr id="54" name="p10-step-taxonomy"/>
          <p:cNvGrpSpPr/>
          <p:nvPr/>
        </p:nvGrpSpPr>
        <p:grpSpPr>
          <a:xfrm>
            <a:off x="974598" y="3180648"/>
            <a:ext cx="10515600" cy="2537651"/>
            <a:chOff x="990600" y="3657600"/>
            <a:chExt cx="10515600" cy="2537651"/>
          </a:xfrm>
        </p:grpSpPr>
        <p:sp>
          <p:nvSpPr>
            <p:cNvPr id="28" name="Rectangle 28"/>
            <p:cNvSpPr/>
            <p:nvPr/>
          </p:nvSpPr>
          <p:spPr>
            <a:xfrm>
              <a:off x="990600" y="3657600"/>
              <a:ext cx="10515600" cy="266700"/>
            </a:xfrm>
            <a:prstGeom prst="rect">
              <a:avLst/>
            </a:prstGeom>
            <a:solidFill>
              <a:schemeClr val="lt2"/>
            </a:solidFill>
            <a:ln>
              <a:noFill/>
            </a:ln>
          </p:spPr>
        </p:sp>
        <p:sp>
          <p:nvSpPr>
            <p:cNvPr id="29" name="Rectangle 29"/>
            <p:cNvSpPr/>
            <p:nvPr/>
          </p:nvSpPr>
          <p:spPr>
            <a:xfrm>
              <a:off x="990600" y="3657600"/>
              <a:ext cx="10515600" cy="2514600"/>
            </a:xfrm>
            <a:prstGeom prst="rect">
              <a:avLst/>
            </a:prstGeom>
            <a:noFill/>
            <a:ln w="14288">
              <a:solidFill>
                <a:schemeClr val="accent6"/>
              </a:solidFill>
            </a:ln>
          </p:spPr>
        </p:sp>
        <p:grpSp>
          <p:nvGrpSpPr>
            <p:cNvPr id="36" name="Group 36"/>
            <p:cNvGrpSpPr/>
            <p:nvPr/>
          </p:nvGrpSpPr>
          <p:grpSpPr>
            <a:xfrm>
              <a:off x="990600" y="3657600"/>
              <a:ext cx="10515600" cy="2514600"/>
              <a:chOff x="990600" y="3657600"/>
              <a:chExt cx="10515600" cy="2514600"/>
            </a:xfrm>
          </p:grpSpPr>
          <p:sp>
            <p:nvSpPr>
              <p:cNvPr id="30" name="Line 30"/>
              <p:cNvSpPr/>
              <p:nvPr/>
            </p:nvSpPr>
            <p:spPr>
              <a:xfrm>
                <a:off x="2038350" y="3657600"/>
                <a:ext cx="9525" cy="2514600"/>
              </a:xfrm>
              <a:custGeom>
                <a:avLst/>
                <a:gdLst/>
                <a:ahLst/>
                <a:cxnLst/>
                <a:rect l="l" t="t" r="r" b="b"/>
                <a:pathLst>
                  <a:path w="9525" h="2514600">
                    <a:moveTo>
                      <a:pt x="0" y="0"/>
                    </a:moveTo>
                    <a:lnTo>
                      <a:pt x="0" y="2514600"/>
                    </a:lnTo>
                  </a:path>
                </a:pathLst>
              </a:custGeom>
              <a:noFill/>
              <a:ln w="9525">
                <a:solidFill>
                  <a:schemeClr val="accent6"/>
                </a:solidFill>
              </a:ln>
            </p:spPr>
          </p:sp>
          <p:sp>
            <p:nvSpPr>
              <p:cNvPr id="31" name="Line 31"/>
              <p:cNvSpPr/>
              <p:nvPr/>
            </p:nvSpPr>
            <p:spPr>
              <a:xfrm>
                <a:off x="7372350" y="3657600"/>
                <a:ext cx="9525" cy="2514600"/>
              </a:xfrm>
              <a:custGeom>
                <a:avLst/>
                <a:gdLst/>
                <a:ahLst/>
                <a:cxnLst/>
                <a:rect l="l" t="t" r="r" b="b"/>
                <a:pathLst>
                  <a:path w="9525" h="2514600">
                    <a:moveTo>
                      <a:pt x="0" y="0"/>
                    </a:moveTo>
                    <a:lnTo>
                      <a:pt x="0" y="2514600"/>
                    </a:lnTo>
                  </a:path>
                </a:pathLst>
              </a:custGeom>
              <a:noFill/>
              <a:ln w="9525">
                <a:solidFill>
                  <a:schemeClr val="accent6"/>
                </a:solidFill>
              </a:ln>
            </p:spPr>
          </p:sp>
          <p:sp>
            <p:nvSpPr>
              <p:cNvPr id="32" name="Line 32"/>
              <p:cNvSpPr/>
              <p:nvPr/>
            </p:nvSpPr>
            <p:spPr>
              <a:xfrm>
                <a:off x="990600" y="3924300"/>
                <a:ext cx="10515600" cy="9525"/>
              </a:xfrm>
              <a:custGeom>
                <a:avLst/>
                <a:gdLst/>
                <a:ahLst/>
                <a:cxnLst/>
                <a:rect l="l" t="t" r="r" b="b"/>
                <a:pathLst>
                  <a:path w="10515600" h="9525">
                    <a:moveTo>
                      <a:pt x="0" y="0"/>
                    </a:moveTo>
                    <a:lnTo>
                      <a:pt x="10515600" y="0"/>
                    </a:lnTo>
                  </a:path>
                </a:pathLst>
              </a:custGeom>
              <a:noFill/>
              <a:ln w="9525">
                <a:solidFill>
                  <a:schemeClr val="accent6"/>
                </a:solidFill>
              </a:ln>
            </p:spPr>
          </p:sp>
          <p:sp>
            <p:nvSpPr>
              <p:cNvPr id="33" name="Line 33"/>
              <p:cNvSpPr/>
              <p:nvPr/>
            </p:nvSpPr>
            <p:spPr>
              <a:xfrm>
                <a:off x="990600" y="4486275"/>
                <a:ext cx="10515600" cy="9525"/>
              </a:xfrm>
              <a:custGeom>
                <a:avLst/>
                <a:gdLst/>
                <a:ahLst/>
                <a:cxnLst/>
                <a:rect l="l" t="t" r="r" b="b"/>
                <a:pathLst>
                  <a:path w="10515600" h="9525">
                    <a:moveTo>
                      <a:pt x="0" y="0"/>
                    </a:moveTo>
                    <a:lnTo>
                      <a:pt x="10515600" y="0"/>
                    </a:lnTo>
                  </a:path>
                </a:pathLst>
              </a:custGeom>
              <a:noFill/>
              <a:ln w="9525">
                <a:solidFill>
                  <a:schemeClr val="accent6"/>
                </a:solidFill>
              </a:ln>
            </p:spPr>
          </p:sp>
          <p:sp>
            <p:nvSpPr>
              <p:cNvPr id="34" name="Line 34"/>
              <p:cNvSpPr/>
              <p:nvPr/>
            </p:nvSpPr>
            <p:spPr>
              <a:xfrm>
                <a:off x="990600" y="5048250"/>
                <a:ext cx="10515600" cy="9525"/>
              </a:xfrm>
              <a:custGeom>
                <a:avLst/>
                <a:gdLst/>
                <a:ahLst/>
                <a:cxnLst/>
                <a:rect l="l" t="t" r="r" b="b"/>
                <a:pathLst>
                  <a:path w="10515600" h="9525">
                    <a:moveTo>
                      <a:pt x="0" y="0"/>
                    </a:moveTo>
                    <a:lnTo>
                      <a:pt x="10515600" y="0"/>
                    </a:lnTo>
                  </a:path>
                </a:pathLst>
              </a:custGeom>
              <a:noFill/>
              <a:ln w="9525">
                <a:solidFill>
                  <a:schemeClr val="accent6"/>
                </a:solidFill>
              </a:ln>
            </p:spPr>
          </p:sp>
          <p:sp>
            <p:nvSpPr>
              <p:cNvPr id="35" name="Line 35"/>
              <p:cNvSpPr/>
              <p:nvPr/>
            </p:nvSpPr>
            <p:spPr>
              <a:xfrm>
                <a:off x="990600" y="5610225"/>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grpSp>
          <p:nvGrpSpPr>
            <p:cNvPr id="40" name="Group 40"/>
            <p:cNvGrpSpPr/>
            <p:nvPr/>
          </p:nvGrpSpPr>
          <p:grpSpPr>
            <a:xfrm>
              <a:off x="1117092" y="3702368"/>
              <a:ext cx="6758940" cy="264033"/>
              <a:chOff x="1117092" y="3702368"/>
              <a:chExt cx="6758940" cy="264033"/>
            </a:xfrm>
          </p:grpSpPr>
          <p:sp>
            <p:nvSpPr>
              <p:cNvPr id="37" name="TextBox 37"/>
              <p:cNvSpPr txBox="1"/>
              <p:nvPr/>
            </p:nvSpPr>
            <p:spPr>
              <a:xfrm>
                <a:off x="1117092" y="3702368"/>
                <a:ext cx="377190" cy="264033"/>
              </a:xfrm>
              <a:prstGeom prst="rect">
                <a:avLst/>
              </a:prstGeom>
              <a:noFill/>
              <a:ln>
                <a:noFill/>
              </a:ln>
            </p:spPr>
            <p:txBody>
              <a:bodyPr wrap="none" lIns="0" tIns="0" rIns="0" bIns="0" anchor="t" anchorCtr="0">
                <a:spAutoFit/>
              </a:bodyPr>
              <a:lstStyle/>
              <a:p>
                <a:pPr algn="l"/>
                <a:r>
                  <a:rPr lang="zh-CN" sz="1350" b="1" dirty="0">
                    <a:solidFill>
                      <a:schemeClr val="accent5"/>
                    </a:solidFill>
                    <a:latin typeface="+mn-lt"/>
                    <a:ea typeface="+mn-ea"/>
                    <a:cs typeface="+mn-cs"/>
                  </a:rPr>
                  <a:t>类别</a:t>
                </a:r>
              </a:p>
            </p:txBody>
          </p:sp>
          <p:sp>
            <p:nvSpPr>
              <p:cNvPr id="38" name="TextBox 38"/>
              <p:cNvSpPr txBox="1"/>
              <p:nvPr/>
            </p:nvSpPr>
            <p:spPr>
              <a:xfrm>
                <a:off x="2164842" y="3702368"/>
                <a:ext cx="377190" cy="264033"/>
              </a:xfrm>
              <a:prstGeom prst="rect">
                <a:avLst/>
              </a:prstGeom>
              <a:noFill/>
              <a:ln>
                <a:noFill/>
              </a:ln>
            </p:spPr>
            <p:txBody>
              <a:bodyPr wrap="none" lIns="0" tIns="0" rIns="0" bIns="0" anchor="t" anchorCtr="0">
                <a:spAutoFit/>
              </a:bodyPr>
              <a:lstStyle/>
              <a:p>
                <a:pPr algn="l"/>
                <a:r>
                  <a:rPr lang="zh-CN" sz="1350" b="1" dirty="0">
                    <a:solidFill>
                      <a:schemeClr val="accent5"/>
                    </a:solidFill>
                    <a:latin typeface="+mn-lt"/>
                    <a:ea typeface="+mn-ea"/>
                    <a:cs typeface="+mn-cs"/>
                  </a:rPr>
                  <a:t>步骤</a:t>
                </a:r>
              </a:p>
            </p:txBody>
          </p:sp>
          <p:sp>
            <p:nvSpPr>
              <p:cNvPr id="39" name="TextBox 39"/>
              <p:cNvSpPr txBox="1"/>
              <p:nvPr/>
            </p:nvSpPr>
            <p:spPr>
              <a:xfrm>
                <a:off x="7498842" y="3702368"/>
                <a:ext cx="377190" cy="264033"/>
              </a:xfrm>
              <a:prstGeom prst="rect">
                <a:avLst/>
              </a:prstGeom>
              <a:noFill/>
              <a:ln>
                <a:noFill/>
              </a:ln>
            </p:spPr>
            <p:txBody>
              <a:bodyPr wrap="none" lIns="0" tIns="0" rIns="0" bIns="0" anchor="t" anchorCtr="0">
                <a:spAutoFit/>
              </a:bodyPr>
              <a:lstStyle/>
              <a:p>
                <a:pPr algn="l"/>
                <a:r>
                  <a:rPr lang="zh-CN" sz="1350" b="1" dirty="0">
                    <a:solidFill>
                      <a:schemeClr val="accent5"/>
                    </a:solidFill>
                    <a:latin typeface="+mn-lt"/>
                    <a:ea typeface="+mn-ea"/>
                    <a:cs typeface="+mn-cs"/>
                  </a:rPr>
                  <a:t>作用</a:t>
                </a:r>
              </a:p>
            </p:txBody>
          </p:sp>
        </p:grpSp>
        <p:grpSp>
          <p:nvGrpSpPr>
            <p:cNvPr id="53" name="Group 53"/>
            <p:cNvGrpSpPr/>
            <p:nvPr/>
          </p:nvGrpSpPr>
          <p:grpSpPr>
            <a:xfrm>
              <a:off x="1117092" y="3997642"/>
              <a:ext cx="9738741" cy="2197609"/>
              <a:chOff x="1117092" y="3997642"/>
              <a:chExt cx="9738741" cy="2197609"/>
            </a:xfrm>
          </p:grpSpPr>
          <p:sp>
            <p:nvSpPr>
              <p:cNvPr id="41" name="TextBox 41"/>
              <p:cNvSpPr txBox="1"/>
              <p:nvPr/>
            </p:nvSpPr>
            <p:spPr>
              <a:xfrm>
                <a:off x="1117092" y="3997642"/>
                <a:ext cx="692497" cy="236219"/>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流程</a:t>
                </a:r>
                <a:r>
                  <a:rPr lang="zh-CN" altLang="en-US" sz="1350" dirty="0">
                    <a:solidFill>
                      <a:schemeClr val="dk1"/>
                    </a:solidFill>
                    <a:latin typeface="+mn-lt"/>
                    <a:ea typeface="+mn-ea"/>
                    <a:cs typeface="+mn-cs"/>
                  </a:rPr>
                  <a:t>控制</a:t>
                </a:r>
                <a:endParaRPr lang="zh-CN" sz="1350" dirty="0">
                  <a:solidFill>
                    <a:schemeClr val="dk1"/>
                  </a:solidFill>
                  <a:latin typeface="+mn-lt"/>
                  <a:ea typeface="+mn-ea"/>
                  <a:cs typeface="+mn-cs"/>
                </a:endParaRPr>
              </a:p>
            </p:txBody>
          </p:sp>
          <p:sp>
            <p:nvSpPr>
              <p:cNvPr id="42" name="TextBox 42"/>
              <p:cNvSpPr txBox="1"/>
              <p:nvPr/>
            </p:nvSpPr>
            <p:spPr>
              <a:xfrm>
                <a:off x="2164842" y="3997642"/>
                <a:ext cx="4428554"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顺序 Sequence、分组 Group、条件 If、重复 Repeat、</a:t>
                </a:r>
                <a:br/>
                <a:r>
                  <a:rPr lang="zh-CN" sz="1350" dirty="0">
                    <a:solidFill>
                      <a:schemeClr val="dk1"/>
                    </a:solidFill>
                    <a:latin typeface="+mn-lt"/>
                    <a:ea typeface="+mn-ea"/>
                    <a:cs typeface="+mn-cs"/>
                  </a:rPr>
                  <a:t>遍历 ForEach、并行 Parallel、重试 Retry</a:t>
                </a:r>
              </a:p>
            </p:txBody>
          </p:sp>
          <p:sp>
            <p:nvSpPr>
              <p:cNvPr id="43" name="TextBox 43"/>
              <p:cNvSpPr txBox="1"/>
              <p:nvPr/>
            </p:nvSpPr>
            <p:spPr>
              <a:xfrm>
                <a:off x="7498842" y="3997642"/>
                <a:ext cx="219456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组织子步骤、决定执行顺序</a:t>
                </a:r>
              </a:p>
            </p:txBody>
          </p:sp>
          <p:sp>
            <p:nvSpPr>
              <p:cNvPr id="44" name="TextBox 44"/>
              <p:cNvSpPr txBox="1"/>
              <p:nvPr/>
            </p:nvSpPr>
            <p:spPr>
              <a:xfrm>
                <a:off x="1117092" y="455961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数据</a:t>
                </a:r>
              </a:p>
            </p:txBody>
          </p:sp>
          <p:sp>
            <p:nvSpPr>
              <p:cNvPr id="45" name="TextBox 45"/>
              <p:cNvSpPr txBox="1"/>
              <p:nvPr/>
            </p:nvSpPr>
            <p:spPr>
              <a:xfrm>
                <a:off x="2164842" y="4559618"/>
                <a:ext cx="3879914"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设置变量 SetVariable、计算表达式 Evaluate、</a:t>
                </a:r>
                <a:br/>
                <a:r>
                  <a:rPr lang="zh-CN" sz="1350" dirty="0">
                    <a:solidFill>
                      <a:schemeClr val="dk1"/>
                    </a:solidFill>
                    <a:latin typeface="+mn-lt"/>
                    <a:ea typeface="+mn-ea"/>
                    <a:cs typeface="+mn-cs"/>
                  </a:rPr>
                  <a:t>延时 Delay、等待条件 WaitUntil</a:t>
                </a:r>
              </a:p>
            </p:txBody>
          </p:sp>
          <p:sp>
            <p:nvSpPr>
              <p:cNvPr id="46" name="TextBox 46"/>
              <p:cNvSpPr txBox="1"/>
              <p:nvPr/>
            </p:nvSpPr>
            <p:spPr>
              <a:xfrm>
                <a:off x="7498842" y="4559618"/>
                <a:ext cx="2077492" cy="207749"/>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在步骤之间传递和加工数据</a:t>
                </a:r>
              </a:p>
            </p:txBody>
          </p:sp>
          <p:sp>
            <p:nvSpPr>
              <p:cNvPr id="47" name="TextBox 47"/>
              <p:cNvSpPr txBox="1"/>
              <p:nvPr/>
            </p:nvSpPr>
            <p:spPr>
              <a:xfrm>
                <a:off x="1117092" y="5121592"/>
                <a:ext cx="37719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硬件</a:t>
                </a:r>
              </a:p>
            </p:txBody>
          </p:sp>
          <p:sp>
            <p:nvSpPr>
              <p:cNvPr id="48" name="TextBox 48"/>
              <p:cNvSpPr txBox="1"/>
              <p:nvPr/>
            </p:nvSpPr>
            <p:spPr>
              <a:xfrm>
                <a:off x="2164842" y="5121592"/>
                <a:ext cx="221609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调用设备工具 InvokeTool</a:t>
                </a:r>
              </a:p>
            </p:txBody>
          </p:sp>
          <p:sp>
            <p:nvSpPr>
              <p:cNvPr id="49" name="TextBox 49"/>
              <p:cNvSpPr txBox="1"/>
              <p:nvPr/>
            </p:nvSpPr>
            <p:spPr>
              <a:xfrm>
                <a:off x="7498842" y="5121592"/>
                <a:ext cx="327983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唯一接触硬件的步骤，绑定 hardwareId、</a:t>
                </a:r>
                <a:br/>
                <a:r>
                  <a:rPr lang="zh-CN" sz="1350" dirty="0">
                    <a:solidFill>
                      <a:schemeClr val="dk1"/>
                    </a:solidFill>
                    <a:latin typeface="+mn-lt"/>
                    <a:ea typeface="+mn-ea"/>
                    <a:cs typeface="+mn-cs"/>
                  </a:rPr>
                  <a:t>toolName、参数、超时、错误策略</a:t>
                </a:r>
              </a:p>
            </p:txBody>
          </p:sp>
          <p:sp>
            <p:nvSpPr>
              <p:cNvPr id="50" name="TextBox 50"/>
              <p:cNvSpPr txBox="1"/>
              <p:nvPr/>
            </p:nvSpPr>
            <p:spPr>
              <a:xfrm>
                <a:off x="1117092" y="56835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判定</a:t>
                </a:r>
              </a:p>
            </p:txBody>
          </p:sp>
          <p:sp>
            <p:nvSpPr>
              <p:cNvPr id="51" name="TextBox 51"/>
              <p:cNvSpPr txBox="1"/>
              <p:nvPr/>
            </p:nvSpPr>
            <p:spPr>
              <a:xfrm>
                <a:off x="2164842" y="5683568"/>
                <a:ext cx="363131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等于 Equal、范围 Range、容差 Tolerance、</a:t>
                </a:r>
                <a:br/>
                <a:r>
                  <a:rPr lang="zh-CN" sz="1350" dirty="0">
                    <a:solidFill>
                      <a:schemeClr val="dk1"/>
                    </a:solidFill>
                    <a:latin typeface="+mn-lt"/>
                    <a:ea typeface="+mn-ea"/>
                    <a:cs typeface="+mn-cs"/>
                  </a:rPr>
                  <a:t>位掩码 Bitmask、发布结果 PublishResult</a:t>
                </a:r>
              </a:p>
            </p:txBody>
          </p:sp>
          <p:sp>
            <p:nvSpPr>
              <p:cNvPr id="52" name="TextBox 52"/>
              <p:cNvSpPr txBox="1"/>
              <p:nvPr/>
            </p:nvSpPr>
            <p:spPr>
              <a:xfrm>
                <a:off x="7498842" y="5683568"/>
                <a:ext cx="335699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把测量值变成 Pass/Fail，可挂到需求编号</a:t>
                </a:r>
                <a:br/>
                <a:r>
                  <a:rPr lang="zh-CN" sz="1350" dirty="0">
                    <a:solidFill>
                      <a:schemeClr val="dk1"/>
                    </a:solidFill>
                    <a:latin typeface="+mn-lt"/>
                    <a:ea typeface="+mn-ea"/>
                    <a:cs typeface="+mn-cs"/>
                  </a:rPr>
                  <a:t>上统计覆盖</a:t>
                </a:r>
              </a:p>
            </p:txBody>
          </p:sp>
        </p:gr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09-header"/>
          <p:cNvGrpSpPr/>
          <p:nvPr/>
        </p:nvGrpSpPr>
        <p:grpSpPr>
          <a:xfrm>
            <a:off x="974598" y="844868"/>
            <a:ext cx="2423740" cy="750658"/>
            <a:chOff x="974598" y="844868"/>
            <a:chExt cx="2423740" cy="750658"/>
          </a:xfrm>
        </p:grpSpPr>
        <p:sp>
          <p:nvSpPr>
            <p:cNvPr id="3" name="TextBox 3"/>
            <p:cNvSpPr txBox="1"/>
            <p:nvPr/>
          </p:nvSpPr>
          <p:spPr>
            <a:xfrm>
              <a:off x="983742" y="844868"/>
              <a:ext cx="140400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第一步 · 通用化</a:t>
              </a:r>
            </a:p>
          </p:txBody>
        </p:sp>
        <p:sp>
          <p:nvSpPr>
            <p:cNvPr id="4" name="TextBox 4"/>
            <p:cNvSpPr txBox="1"/>
            <p:nvPr/>
          </p:nvSpPr>
          <p:spPr>
            <a:xfrm>
              <a:off x="974598" y="1126808"/>
              <a:ext cx="2423740" cy="468718"/>
            </a:xfrm>
            <a:prstGeom prst="rect">
              <a:avLst/>
            </a:prstGeom>
            <a:noFill/>
            <a:ln>
              <a:noFill/>
            </a:ln>
          </p:spPr>
          <p:txBody>
            <a:bodyPr wrap="none" lIns="0" tIns="0" rIns="0" bIns="0" anchor="t" anchorCtr="0">
              <a:spAutoFit/>
            </a:bodyPr>
            <a:lstStyle/>
            <a:p>
              <a:pPr algn="l">
                <a:lnSpc>
                  <a:spcPts val="3900"/>
                </a:lnSpc>
              </a:pPr>
              <a:r>
                <a:rPr lang="zh-CN" sz="3150" b="1" dirty="0">
                  <a:solidFill>
                    <a:schemeClr val="accent1"/>
                  </a:solidFill>
                  <a:latin typeface="+mj-lt"/>
                  <a:ea typeface="+mj-ea"/>
                  <a:cs typeface="+mj-cs"/>
                </a:rPr>
                <a:t>测试流程</a:t>
              </a:r>
              <a:r>
                <a:rPr lang="zh-CN" altLang="en-US" sz="3150" b="1" dirty="0">
                  <a:solidFill>
                    <a:schemeClr val="accent1"/>
                  </a:solidFill>
                  <a:latin typeface="+mj-lt"/>
                  <a:ea typeface="+mj-ea"/>
                  <a:cs typeface="+mj-cs"/>
                </a:rPr>
                <a:t>示例</a:t>
              </a:r>
              <a:endParaRPr lang="zh-CN" sz="3150" b="1" dirty="0">
                <a:solidFill>
                  <a:schemeClr val="accent1"/>
                </a:solidFill>
                <a:latin typeface="+mj-lt"/>
                <a:ea typeface="+mj-ea"/>
                <a:cs typeface="+mj-cs"/>
              </a:endParaRPr>
            </a:p>
          </p:txBody>
        </p:sp>
      </p:grpSp>
      <p:grpSp>
        <p:nvGrpSpPr>
          <p:cNvPr id="14" name="p09-plan-figure"/>
          <p:cNvGrpSpPr/>
          <p:nvPr/>
        </p:nvGrpSpPr>
        <p:grpSpPr>
          <a:xfrm>
            <a:off x="1519237" y="1613433"/>
            <a:ext cx="8549499" cy="5116084"/>
            <a:chOff x="4848225" y="1905000"/>
            <a:chExt cx="6657975" cy="4267200"/>
          </a:xfrm>
        </p:grpSpPr>
        <p:pic>
          <p:nvPicPr>
            <p:cNvPr id="13" name="Image 13"/>
            <p:cNvPicPr>
              <a:picLocks noChangeAspect="1"/>
            </p:cNvPicPr>
            <p:nvPr/>
          </p:nvPicPr>
          <p:blipFill>
            <a:blip r:embed="rId3"/>
            <a:stretch>
              <a:fillRect/>
            </a:stretch>
          </p:blipFill>
          <p:spPr>
            <a:xfrm>
              <a:off x="4848225" y="1905000"/>
              <a:ext cx="6657975" cy="42672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12-header"/>
          <p:cNvGrpSpPr/>
          <p:nvPr/>
        </p:nvGrpSpPr>
        <p:grpSpPr>
          <a:xfrm>
            <a:off x="974598" y="844868"/>
            <a:ext cx="6899262" cy="898017"/>
            <a:chOff x="974598" y="844868"/>
            <a:chExt cx="6899262" cy="898017"/>
          </a:xfrm>
        </p:grpSpPr>
        <p:sp>
          <p:nvSpPr>
            <p:cNvPr id="3" name="TextBox 3"/>
            <p:cNvSpPr txBox="1"/>
            <p:nvPr/>
          </p:nvSpPr>
          <p:spPr>
            <a:xfrm>
              <a:off x="983742" y="844868"/>
              <a:ext cx="140400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第二步 · 智能化</a:t>
              </a:r>
            </a:p>
          </p:txBody>
        </p:sp>
        <p:sp>
          <p:nvSpPr>
            <p:cNvPr id="4" name="TextBox 4"/>
            <p:cNvSpPr txBox="1"/>
            <p:nvPr/>
          </p:nvSpPr>
          <p:spPr>
            <a:xfrm>
              <a:off x="974598" y="1126808"/>
              <a:ext cx="689926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AI Agent：测试软件里的专属工程师</a:t>
              </a:r>
            </a:p>
          </p:txBody>
        </p:sp>
      </p:grpSp>
      <p:sp>
        <p:nvSpPr>
          <p:cNvPr id="6" name="Line 6"/>
          <p:cNvSpPr/>
          <p:nvPr/>
        </p:nvSpPr>
        <p:spPr>
          <a:xfrm>
            <a:off x="990600" y="1676400"/>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10" name="p12-sequence"/>
          <p:cNvGrpSpPr/>
          <p:nvPr/>
        </p:nvGrpSpPr>
        <p:grpSpPr>
          <a:xfrm>
            <a:off x="1395995" y="1760792"/>
            <a:ext cx="9400010" cy="4986632"/>
            <a:chOff x="2647950" y="2381250"/>
            <a:chExt cx="7210425" cy="3524250"/>
          </a:xfrm>
        </p:grpSpPr>
        <p:pic>
          <p:nvPicPr>
            <p:cNvPr id="9" name="Image 9"/>
            <p:cNvPicPr>
              <a:picLocks noChangeAspect="1"/>
            </p:cNvPicPr>
            <p:nvPr/>
          </p:nvPicPr>
          <p:blipFill>
            <a:blip r:embed="rId3"/>
            <a:stretch>
              <a:fillRect/>
            </a:stretch>
          </p:blipFill>
          <p:spPr>
            <a:xfrm>
              <a:off x="2647950" y="2381250"/>
              <a:ext cx="7210425" cy="352425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13-header"/>
          <p:cNvGrpSpPr/>
          <p:nvPr/>
        </p:nvGrpSpPr>
        <p:grpSpPr>
          <a:xfrm>
            <a:off x="974598" y="844868"/>
            <a:ext cx="6413615" cy="766688"/>
            <a:chOff x="974598" y="844868"/>
            <a:chExt cx="6413615" cy="766688"/>
          </a:xfrm>
        </p:grpSpPr>
        <p:sp>
          <p:nvSpPr>
            <p:cNvPr id="3" name="TextBox 3"/>
            <p:cNvSpPr txBox="1"/>
            <p:nvPr/>
          </p:nvSpPr>
          <p:spPr>
            <a:xfrm>
              <a:off x="983742" y="844868"/>
              <a:ext cx="140400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第二步 · 智能化</a:t>
              </a:r>
            </a:p>
          </p:txBody>
        </p:sp>
        <p:sp>
          <p:nvSpPr>
            <p:cNvPr id="4" name="TextBox 4"/>
            <p:cNvSpPr txBox="1"/>
            <p:nvPr/>
          </p:nvSpPr>
          <p:spPr>
            <a:xfrm>
              <a:off x="974598" y="1126808"/>
              <a:ext cx="6413615" cy="484748"/>
            </a:xfrm>
            <a:prstGeom prst="rect">
              <a:avLst/>
            </a:prstGeom>
            <a:noFill/>
            <a:ln>
              <a:noFill/>
            </a:ln>
          </p:spPr>
          <p:txBody>
            <a:bodyPr wrap="none" lIns="0" tIns="0" rIns="0" bIns="0" anchor="t" anchorCtr="0">
              <a:spAutoFit/>
            </a:bodyPr>
            <a:lstStyle/>
            <a:p>
              <a:pPr algn="l"/>
              <a:r>
                <a:rPr lang="en-US" altLang="zh-CN" sz="3150" b="1" dirty="0">
                  <a:solidFill>
                    <a:schemeClr val="accent1"/>
                  </a:solidFill>
                  <a:latin typeface="+mj-lt"/>
                  <a:ea typeface="+mj-ea"/>
                  <a:cs typeface="+mj-cs"/>
                </a:rPr>
                <a:t>AI Agent</a:t>
              </a:r>
              <a:r>
                <a:rPr lang="zh-CN" sz="3150" b="1" dirty="0">
                  <a:solidFill>
                    <a:schemeClr val="accent1"/>
                  </a:solidFill>
                  <a:latin typeface="+mj-lt"/>
                  <a:ea typeface="+mj-ea"/>
                  <a:cs typeface="+mj-cs"/>
                </a:rPr>
                <a:t>原理：思考 → 行动 → 观察</a:t>
              </a:r>
            </a:p>
          </p:txBody>
        </p:sp>
      </p:grpSp>
      <p:sp>
        <p:nvSpPr>
          <p:cNvPr id="6" name="Line 6"/>
          <p:cNvSpPr/>
          <p:nvPr/>
        </p:nvSpPr>
        <p:spPr>
          <a:xfrm>
            <a:off x="990600" y="1676400"/>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10" name="p13-principle-brain"/>
          <p:cNvGrpSpPr/>
          <p:nvPr/>
        </p:nvGrpSpPr>
        <p:grpSpPr>
          <a:xfrm>
            <a:off x="983742" y="1895475"/>
            <a:ext cx="2414016" cy="1061276"/>
            <a:chOff x="983742" y="1895475"/>
            <a:chExt cx="2414016" cy="1061276"/>
          </a:xfrm>
        </p:grpSpPr>
        <p:sp>
          <p:nvSpPr>
            <p:cNvPr id="7" name="Freeform 7"/>
            <p:cNvSpPr/>
            <p:nvPr/>
          </p:nvSpPr>
          <p:spPr>
            <a:xfrm>
              <a:off x="990600" y="1895475"/>
              <a:ext cx="190500" cy="178594"/>
            </a:xfrm>
            <a:custGeom>
              <a:avLst/>
              <a:gdLst/>
              <a:ahLst/>
              <a:cxnLst/>
              <a:rect l="l" t="t" r="r" b="b"/>
              <a:pathLst>
                <a:path w="190500" h="178594">
                  <a:moveTo>
                    <a:pt x="107156" y="0"/>
                  </a:moveTo>
                  <a:lnTo>
                    <a:pt x="107156" y="23812"/>
                  </a:lnTo>
                  <a:lnTo>
                    <a:pt x="154781" y="23812"/>
                  </a:lnTo>
                  <a:lnTo>
                    <a:pt x="190500" y="101203"/>
                  </a:lnTo>
                  <a:lnTo>
                    <a:pt x="154781" y="178594"/>
                  </a:lnTo>
                  <a:lnTo>
                    <a:pt x="35719" y="178594"/>
                  </a:lnTo>
                  <a:lnTo>
                    <a:pt x="0" y="101203"/>
                  </a:lnTo>
                  <a:lnTo>
                    <a:pt x="35719" y="23812"/>
                  </a:lnTo>
                  <a:lnTo>
                    <a:pt x="83344" y="23812"/>
                  </a:lnTo>
                  <a:lnTo>
                    <a:pt x="83344" y="0"/>
                  </a:lnTo>
                  <a:lnTo>
                    <a:pt x="107156" y="0"/>
                  </a:lnTo>
                  <a:close/>
                  <a:moveTo>
                    <a:pt x="54744" y="139760"/>
                  </a:moveTo>
                  <a:lnTo>
                    <a:pt x="95250" y="145992"/>
                  </a:lnTo>
                  <a:lnTo>
                    <a:pt x="135756" y="139760"/>
                  </a:lnTo>
                  <a:lnTo>
                    <a:pt x="132134" y="116224"/>
                  </a:lnTo>
                  <a:lnTo>
                    <a:pt x="95250" y="121899"/>
                  </a:lnTo>
                  <a:lnTo>
                    <a:pt x="58365" y="116224"/>
                  </a:lnTo>
                  <a:lnTo>
                    <a:pt x="54744" y="139760"/>
                  </a:lnTo>
                  <a:close/>
                  <a:moveTo>
                    <a:pt x="83344" y="80367"/>
                  </a:moveTo>
                  <a:cubicBezTo>
                    <a:pt x="83344" y="88587"/>
                    <a:pt x="76681" y="95250"/>
                    <a:pt x="68461" y="95250"/>
                  </a:cubicBezTo>
                  <a:cubicBezTo>
                    <a:pt x="60241" y="95250"/>
                    <a:pt x="53578" y="88587"/>
                    <a:pt x="53578" y="80367"/>
                  </a:cubicBezTo>
                  <a:cubicBezTo>
                    <a:pt x="53578" y="72148"/>
                    <a:pt x="60241" y="65484"/>
                    <a:pt x="68461" y="65484"/>
                  </a:cubicBezTo>
                  <a:cubicBezTo>
                    <a:pt x="76681" y="65484"/>
                    <a:pt x="83344" y="72148"/>
                    <a:pt x="83344" y="80367"/>
                  </a:cubicBezTo>
                  <a:close/>
                  <a:moveTo>
                    <a:pt x="122039" y="95250"/>
                  </a:moveTo>
                  <a:cubicBezTo>
                    <a:pt x="130259" y="95250"/>
                    <a:pt x="136922" y="88587"/>
                    <a:pt x="136922" y="80367"/>
                  </a:cubicBezTo>
                  <a:cubicBezTo>
                    <a:pt x="136922" y="72148"/>
                    <a:pt x="130259" y="65484"/>
                    <a:pt x="122039" y="65484"/>
                  </a:cubicBezTo>
                  <a:cubicBezTo>
                    <a:pt x="113819" y="65484"/>
                    <a:pt x="107156" y="72148"/>
                    <a:pt x="107156" y="80367"/>
                  </a:cubicBezTo>
                  <a:cubicBezTo>
                    <a:pt x="107156" y="88587"/>
                    <a:pt x="113819" y="95250"/>
                    <a:pt x="122039" y="95250"/>
                  </a:cubicBezTo>
                  <a:close/>
                </a:path>
              </a:pathLst>
            </a:custGeom>
            <a:solidFill>
              <a:schemeClr val="accent3"/>
            </a:solidFill>
            <a:ln>
              <a:noFill/>
            </a:ln>
          </p:spPr>
        </p:sp>
        <p:sp>
          <p:nvSpPr>
            <p:cNvPr id="8" name="TextBox 8"/>
            <p:cNvSpPr txBox="1"/>
            <p:nvPr/>
          </p:nvSpPr>
          <p:spPr>
            <a:xfrm>
              <a:off x="1250442" y="1902142"/>
              <a:ext cx="377190"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大脑</a:t>
              </a:r>
            </a:p>
          </p:txBody>
        </p:sp>
        <p:sp>
          <p:nvSpPr>
            <p:cNvPr id="9" name="TextBox 9"/>
            <p:cNvSpPr txBox="1"/>
            <p:nvPr/>
          </p:nvSpPr>
          <p:spPr>
            <a:xfrm>
              <a:off x="983742" y="2197418"/>
              <a:ext cx="241401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本地部署的大语言模型负责理解</a:t>
              </a:r>
              <a:br/>
              <a:r>
                <a:rPr lang="zh-CN" sz="1350" dirty="0">
                  <a:solidFill>
                    <a:schemeClr val="dk1"/>
                  </a:solidFill>
                  <a:latin typeface="+mn-lt"/>
                  <a:ea typeface="+mn-ea"/>
                  <a:cs typeface="+mn-cs"/>
                </a:rPr>
                <a:t>人用自然语言描述的测试需求，</a:t>
              </a:r>
              <a:br/>
              <a:r>
                <a:rPr lang="zh-CN" sz="1350" dirty="0">
                  <a:solidFill>
                    <a:schemeClr val="dk1"/>
                  </a:solidFill>
                  <a:latin typeface="+mn-lt"/>
                  <a:ea typeface="+mn-ea"/>
                  <a:cs typeface="+mn-cs"/>
                </a:rPr>
                <a:t>推理出下一步该做什么</a:t>
              </a:r>
            </a:p>
          </p:txBody>
        </p:sp>
      </p:grpSp>
      <p:grpSp>
        <p:nvGrpSpPr>
          <p:cNvPr id="16" name="p13-principle-tools"/>
          <p:cNvGrpSpPr/>
          <p:nvPr/>
        </p:nvGrpSpPr>
        <p:grpSpPr>
          <a:xfrm>
            <a:off x="4231767" y="1902142"/>
            <a:ext cx="2585466" cy="1054609"/>
            <a:chOff x="4231767" y="1902142"/>
            <a:chExt cx="2585466" cy="1054609"/>
          </a:xfrm>
        </p:grpSpPr>
        <p:grpSp>
          <p:nvGrpSpPr>
            <p:cNvPr id="13" name="Group 13"/>
            <p:cNvGrpSpPr/>
            <p:nvPr/>
          </p:nvGrpSpPr>
          <p:grpSpPr>
            <a:xfrm>
              <a:off x="4238625" y="1907381"/>
              <a:ext cx="190500" cy="166688"/>
              <a:chOff x="4238625" y="1907381"/>
              <a:chExt cx="190500" cy="166688"/>
            </a:xfrm>
          </p:grpSpPr>
          <p:sp>
            <p:nvSpPr>
              <p:cNvPr id="11" name="Freeform 11"/>
              <p:cNvSpPr/>
              <p:nvPr/>
            </p:nvSpPr>
            <p:spPr>
              <a:xfrm>
                <a:off x="4238625" y="1907381"/>
                <a:ext cx="190500" cy="95250"/>
              </a:xfrm>
              <a:custGeom>
                <a:avLst/>
                <a:gdLst/>
                <a:ahLst/>
                <a:cxnLst/>
                <a:rect l="l" t="t" r="r" b="b"/>
                <a:pathLst>
                  <a:path w="190500" h="95250">
                    <a:moveTo>
                      <a:pt x="47625" y="0"/>
                    </a:moveTo>
                    <a:lnTo>
                      <a:pt x="142875" y="0"/>
                    </a:lnTo>
                    <a:lnTo>
                      <a:pt x="142875" y="47625"/>
                    </a:lnTo>
                    <a:lnTo>
                      <a:pt x="160734" y="47625"/>
                    </a:lnTo>
                    <a:lnTo>
                      <a:pt x="190500" y="77391"/>
                    </a:lnTo>
                    <a:lnTo>
                      <a:pt x="190500" y="95250"/>
                    </a:lnTo>
                    <a:lnTo>
                      <a:pt x="0" y="95250"/>
                    </a:lnTo>
                    <a:lnTo>
                      <a:pt x="0" y="77391"/>
                    </a:lnTo>
                    <a:lnTo>
                      <a:pt x="29766" y="47625"/>
                    </a:lnTo>
                    <a:lnTo>
                      <a:pt x="47625" y="47625"/>
                    </a:lnTo>
                    <a:lnTo>
                      <a:pt x="47625" y="0"/>
                    </a:lnTo>
                    <a:close/>
                    <a:moveTo>
                      <a:pt x="119062" y="23812"/>
                    </a:moveTo>
                    <a:lnTo>
                      <a:pt x="119062" y="47625"/>
                    </a:lnTo>
                    <a:lnTo>
                      <a:pt x="71438" y="47625"/>
                    </a:lnTo>
                    <a:lnTo>
                      <a:pt x="71438" y="23812"/>
                    </a:lnTo>
                    <a:lnTo>
                      <a:pt x="119062" y="23812"/>
                    </a:lnTo>
                    <a:close/>
                  </a:path>
                </a:pathLst>
              </a:custGeom>
              <a:solidFill>
                <a:schemeClr val="accent3"/>
              </a:solidFill>
              <a:ln>
                <a:noFill/>
              </a:ln>
            </p:spPr>
          </p:sp>
          <p:sp>
            <p:nvSpPr>
              <p:cNvPr id="12" name="Freeform 12"/>
              <p:cNvSpPr/>
              <p:nvPr/>
            </p:nvSpPr>
            <p:spPr>
              <a:xfrm>
                <a:off x="4238625" y="2026444"/>
                <a:ext cx="190500" cy="47625"/>
              </a:xfrm>
              <a:custGeom>
                <a:avLst/>
                <a:gdLst/>
                <a:ahLst/>
                <a:cxnLst/>
                <a:rect l="l" t="t" r="r" b="b"/>
                <a:pathLst>
                  <a:path w="190500" h="47625">
                    <a:moveTo>
                      <a:pt x="0" y="0"/>
                    </a:moveTo>
                    <a:lnTo>
                      <a:pt x="0" y="47625"/>
                    </a:lnTo>
                    <a:lnTo>
                      <a:pt x="190500" y="47625"/>
                    </a:lnTo>
                    <a:lnTo>
                      <a:pt x="190500" y="0"/>
                    </a:lnTo>
                    <a:lnTo>
                      <a:pt x="0" y="0"/>
                    </a:lnTo>
                    <a:close/>
                  </a:path>
                </a:pathLst>
              </a:custGeom>
              <a:solidFill>
                <a:schemeClr val="accent3"/>
              </a:solidFill>
              <a:ln>
                <a:noFill/>
              </a:ln>
            </p:spPr>
          </p:sp>
        </p:grpSp>
        <p:sp>
          <p:nvSpPr>
            <p:cNvPr id="14" name="TextBox 14"/>
            <p:cNvSpPr txBox="1"/>
            <p:nvPr/>
          </p:nvSpPr>
          <p:spPr>
            <a:xfrm>
              <a:off x="4498467" y="1902142"/>
              <a:ext cx="558927"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工具箱</a:t>
              </a:r>
            </a:p>
          </p:txBody>
        </p:sp>
        <p:sp>
          <p:nvSpPr>
            <p:cNvPr id="15" name="TextBox 15"/>
            <p:cNvSpPr txBox="1"/>
            <p:nvPr/>
          </p:nvSpPr>
          <p:spPr>
            <a:xfrm>
              <a:off x="4231767" y="2197418"/>
              <a:ext cx="258546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设备驱动和协议被封装成的</a:t>
              </a:r>
              <a:br/>
              <a:r>
                <a:rPr lang="zh-CN" sz="1350" dirty="0">
                  <a:solidFill>
                    <a:schemeClr val="dk1"/>
                  </a:solidFill>
                  <a:latin typeface="+mn-lt"/>
                  <a:ea typeface="+mn-ea"/>
                  <a:cs typeface="+mn-cs"/>
                </a:rPr>
                <a:t>「工具」负责真正执行动作，比如</a:t>
              </a:r>
              <a:br/>
              <a:r>
                <a:rPr lang="zh-CN" sz="1350" dirty="0">
                  <a:solidFill>
                    <a:schemeClr val="dk1"/>
                  </a:solidFill>
                  <a:latin typeface="+mn-lt"/>
                  <a:ea typeface="+mn-ea"/>
                  <a:cs typeface="+mn-cs"/>
                </a:rPr>
                <a:t>读电压、发串口指令、烧写固件</a:t>
              </a:r>
            </a:p>
          </p:txBody>
        </p:sp>
      </p:grpSp>
      <p:grpSp>
        <p:nvGrpSpPr>
          <p:cNvPr id="22" name="p13-principle-loop"/>
          <p:cNvGrpSpPr/>
          <p:nvPr/>
        </p:nvGrpSpPr>
        <p:grpSpPr>
          <a:xfrm>
            <a:off x="7479792" y="1895475"/>
            <a:ext cx="3271266" cy="1061276"/>
            <a:chOff x="7479792" y="1895475"/>
            <a:chExt cx="3271266" cy="1061276"/>
          </a:xfrm>
        </p:grpSpPr>
        <p:grpSp>
          <p:nvGrpSpPr>
            <p:cNvPr id="19" name="Group 19"/>
            <p:cNvGrpSpPr/>
            <p:nvPr/>
          </p:nvGrpSpPr>
          <p:grpSpPr>
            <a:xfrm>
              <a:off x="7486650" y="1895475"/>
              <a:ext cx="190500" cy="190500"/>
              <a:chOff x="7486650" y="1895475"/>
              <a:chExt cx="190500" cy="190500"/>
            </a:xfrm>
          </p:grpSpPr>
          <p:sp>
            <p:nvSpPr>
              <p:cNvPr id="17" name="Freeform 17"/>
              <p:cNvSpPr/>
              <p:nvPr/>
            </p:nvSpPr>
            <p:spPr>
              <a:xfrm>
                <a:off x="7486650" y="1895475"/>
                <a:ext cx="166688" cy="107156"/>
              </a:xfrm>
              <a:custGeom>
                <a:avLst/>
                <a:gdLst/>
                <a:ahLst/>
                <a:cxnLst/>
                <a:rect l="l" t="t" r="r" b="b"/>
                <a:pathLst>
                  <a:path w="166688" h="107156">
                    <a:moveTo>
                      <a:pt x="119062" y="95250"/>
                    </a:moveTo>
                    <a:lnTo>
                      <a:pt x="107156" y="95250"/>
                    </a:lnTo>
                    <a:lnTo>
                      <a:pt x="107156" y="57386"/>
                    </a:lnTo>
                    <a:lnTo>
                      <a:pt x="61404" y="48235"/>
                    </a:lnTo>
                    <a:cubicBezTo>
                      <a:pt x="59374" y="47829"/>
                      <a:pt x="57310" y="47625"/>
                      <a:pt x="55240" y="47625"/>
                    </a:cubicBezTo>
                    <a:cubicBezTo>
                      <a:pt x="37883" y="47625"/>
                      <a:pt x="23812" y="61696"/>
                      <a:pt x="23812" y="79053"/>
                    </a:cubicBezTo>
                    <a:lnTo>
                      <a:pt x="23812" y="107156"/>
                    </a:lnTo>
                    <a:lnTo>
                      <a:pt x="0" y="107156"/>
                    </a:lnTo>
                    <a:lnTo>
                      <a:pt x="0" y="79053"/>
                    </a:lnTo>
                    <a:cubicBezTo>
                      <a:pt x="0" y="48544"/>
                      <a:pt x="24732" y="23812"/>
                      <a:pt x="55240" y="23812"/>
                    </a:cubicBezTo>
                    <a:cubicBezTo>
                      <a:pt x="58878" y="23812"/>
                      <a:pt x="62507" y="24172"/>
                      <a:pt x="66074" y="24885"/>
                    </a:cubicBezTo>
                    <a:lnTo>
                      <a:pt x="107156" y="33102"/>
                    </a:lnTo>
                    <a:lnTo>
                      <a:pt x="107156" y="0"/>
                    </a:lnTo>
                    <a:lnTo>
                      <a:pt x="119062" y="0"/>
                    </a:lnTo>
                    <a:lnTo>
                      <a:pt x="166688" y="47625"/>
                    </a:lnTo>
                    <a:lnTo>
                      <a:pt x="119062" y="95250"/>
                    </a:lnTo>
                    <a:close/>
                  </a:path>
                </a:pathLst>
              </a:custGeom>
              <a:solidFill>
                <a:schemeClr val="accent3"/>
              </a:solidFill>
              <a:ln>
                <a:noFill/>
              </a:ln>
            </p:spPr>
          </p:sp>
          <p:sp>
            <p:nvSpPr>
              <p:cNvPr id="18" name="Freeform 18"/>
              <p:cNvSpPr/>
              <p:nvPr/>
            </p:nvSpPr>
            <p:spPr>
              <a:xfrm>
                <a:off x="7510462" y="1978819"/>
                <a:ext cx="166688" cy="107156"/>
              </a:xfrm>
              <a:custGeom>
                <a:avLst/>
                <a:gdLst/>
                <a:ahLst/>
                <a:cxnLst/>
                <a:rect l="l" t="t" r="r" b="b"/>
                <a:pathLst>
                  <a:path w="166688" h="107156">
                    <a:moveTo>
                      <a:pt x="166688" y="0"/>
                    </a:moveTo>
                    <a:lnTo>
                      <a:pt x="166688" y="28103"/>
                    </a:lnTo>
                    <a:cubicBezTo>
                      <a:pt x="166688" y="58612"/>
                      <a:pt x="141956" y="83344"/>
                      <a:pt x="111447" y="83344"/>
                    </a:cubicBezTo>
                    <a:cubicBezTo>
                      <a:pt x="107810" y="83344"/>
                      <a:pt x="104181" y="82984"/>
                      <a:pt x="100614" y="82271"/>
                    </a:cubicBezTo>
                    <a:lnTo>
                      <a:pt x="59531" y="74054"/>
                    </a:lnTo>
                    <a:lnTo>
                      <a:pt x="59531" y="107156"/>
                    </a:lnTo>
                    <a:lnTo>
                      <a:pt x="47625" y="107156"/>
                    </a:lnTo>
                    <a:lnTo>
                      <a:pt x="0" y="59531"/>
                    </a:lnTo>
                    <a:lnTo>
                      <a:pt x="47625" y="11906"/>
                    </a:lnTo>
                    <a:lnTo>
                      <a:pt x="59531" y="11906"/>
                    </a:lnTo>
                    <a:lnTo>
                      <a:pt x="59531" y="49771"/>
                    </a:lnTo>
                    <a:lnTo>
                      <a:pt x="105283" y="58920"/>
                    </a:lnTo>
                    <a:cubicBezTo>
                      <a:pt x="107313" y="59326"/>
                      <a:pt x="109378" y="59531"/>
                      <a:pt x="111447" y="59531"/>
                    </a:cubicBezTo>
                    <a:cubicBezTo>
                      <a:pt x="128804" y="59531"/>
                      <a:pt x="142875" y="45460"/>
                      <a:pt x="142875" y="28103"/>
                    </a:cubicBezTo>
                    <a:lnTo>
                      <a:pt x="142875" y="0"/>
                    </a:lnTo>
                    <a:lnTo>
                      <a:pt x="166688" y="0"/>
                    </a:lnTo>
                    <a:close/>
                  </a:path>
                </a:pathLst>
              </a:custGeom>
              <a:solidFill>
                <a:schemeClr val="accent3"/>
              </a:solidFill>
              <a:ln>
                <a:noFill/>
              </a:ln>
            </p:spPr>
          </p:sp>
        </p:grpSp>
        <p:sp>
          <p:nvSpPr>
            <p:cNvPr id="20" name="TextBox 20"/>
            <p:cNvSpPr txBox="1"/>
            <p:nvPr/>
          </p:nvSpPr>
          <p:spPr>
            <a:xfrm>
              <a:off x="7746492" y="1902142"/>
              <a:ext cx="377190"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循环</a:t>
              </a:r>
            </a:p>
          </p:txBody>
        </p:sp>
        <p:sp>
          <p:nvSpPr>
            <p:cNvPr id="21" name="TextBox 21"/>
            <p:cNvSpPr txBox="1"/>
            <p:nvPr/>
          </p:nvSpPr>
          <p:spPr>
            <a:xfrm>
              <a:off x="7479792" y="2197418"/>
              <a:ext cx="327126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思考 → 行动 → 观察 → 再思考，</a:t>
              </a:r>
              <a:br>
                <a:rPr dirty="0"/>
              </a:br>
              <a:r>
                <a:rPr lang="zh-CN" sz="1350" dirty="0">
                  <a:solidFill>
                    <a:schemeClr val="dk1"/>
                  </a:solidFill>
                  <a:latin typeface="+mn-lt"/>
                  <a:ea typeface="+mn-ea"/>
                  <a:cs typeface="+mn-cs"/>
                </a:rPr>
                <a:t>Agent 每做完一步都会看到真实结果，</a:t>
              </a:r>
              <a:br>
                <a:rPr dirty="0"/>
              </a:br>
              <a:r>
                <a:rPr lang="zh-CN" sz="1350" dirty="0">
                  <a:solidFill>
                    <a:schemeClr val="dk1"/>
                  </a:solidFill>
                  <a:latin typeface="+mn-lt"/>
                  <a:ea typeface="+mn-ea"/>
                  <a:cs typeface="+mn-cs"/>
                </a:rPr>
                <a:t>再决定下一步，而不是提前写死的固定脚本</a:t>
              </a:r>
            </a:p>
          </p:txBody>
        </p:sp>
      </p:grpSp>
      <p:grpSp>
        <p:nvGrpSpPr>
          <p:cNvPr id="25" name="p13-loop-figure"/>
          <p:cNvGrpSpPr/>
          <p:nvPr/>
        </p:nvGrpSpPr>
        <p:grpSpPr>
          <a:xfrm>
            <a:off x="1409700" y="2971800"/>
            <a:ext cx="9677400" cy="3200400"/>
            <a:chOff x="1409700" y="2971800"/>
            <a:chExt cx="9677400" cy="3200400"/>
          </a:xfrm>
        </p:grpSpPr>
        <p:pic>
          <p:nvPicPr>
            <p:cNvPr id="24" name="Image 24"/>
            <p:cNvPicPr>
              <a:picLocks noChangeAspect="1"/>
            </p:cNvPicPr>
            <p:nvPr/>
          </p:nvPicPr>
          <p:blipFill>
            <a:blip r:embed="rId3"/>
            <a:stretch>
              <a:fillRect/>
            </a:stretch>
          </p:blipFill>
          <p:spPr>
            <a:xfrm>
              <a:off x="1409700" y="2971800"/>
              <a:ext cx="9677400" cy="32004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14-header"/>
          <p:cNvGrpSpPr/>
          <p:nvPr/>
        </p:nvGrpSpPr>
        <p:grpSpPr>
          <a:xfrm>
            <a:off x="974598" y="844868"/>
            <a:ext cx="6697317" cy="898017"/>
            <a:chOff x="974598" y="844868"/>
            <a:chExt cx="6697317" cy="898017"/>
          </a:xfrm>
        </p:grpSpPr>
        <p:sp>
          <p:nvSpPr>
            <p:cNvPr id="3" name="TextBox 3"/>
            <p:cNvSpPr txBox="1"/>
            <p:nvPr/>
          </p:nvSpPr>
          <p:spPr>
            <a:xfrm>
              <a:off x="983742" y="844868"/>
              <a:ext cx="140400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第二步 · 智能化</a:t>
              </a:r>
            </a:p>
          </p:txBody>
        </p:sp>
        <p:sp>
          <p:nvSpPr>
            <p:cNvPr id="4" name="TextBox 4"/>
            <p:cNvSpPr txBox="1"/>
            <p:nvPr/>
          </p:nvSpPr>
          <p:spPr>
            <a:xfrm>
              <a:off x="974598" y="1126808"/>
              <a:ext cx="669731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工具箱分三层，全部通过 MCP 暴露</a:t>
              </a:r>
            </a:p>
          </p:txBody>
        </p:sp>
      </p:grpSp>
      <p:sp>
        <p:nvSpPr>
          <p:cNvPr id="6" name="Line 6"/>
          <p:cNvSpPr/>
          <p:nvPr/>
        </p:nvSpPr>
        <p:spPr>
          <a:xfrm>
            <a:off x="990600" y="1676400"/>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8" name="p14-lede"/>
          <p:cNvGrpSpPr/>
          <p:nvPr/>
        </p:nvGrpSpPr>
        <p:grpSpPr>
          <a:xfrm>
            <a:off x="983742" y="1892618"/>
            <a:ext cx="8409794" cy="264033"/>
            <a:chOff x="983742" y="1892618"/>
            <a:chExt cx="8409794" cy="264033"/>
          </a:xfrm>
        </p:grpSpPr>
        <p:sp>
          <p:nvSpPr>
            <p:cNvPr id="7" name="TextBox 7"/>
            <p:cNvSpPr txBox="1"/>
            <p:nvPr/>
          </p:nvSpPr>
          <p:spPr>
            <a:xfrm>
              <a:off x="983742" y="1892618"/>
              <a:ext cx="840979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工具箱分三层，全部通过 MCP 协议暴露给 AI；每个工具自带输入/输出契约，并标注只读或有破坏性。</a:t>
              </a:r>
            </a:p>
          </p:txBody>
        </p:sp>
      </p:grpSp>
      <p:grpSp>
        <p:nvGrpSpPr>
          <p:cNvPr id="17" name="p14-layer-skill"/>
          <p:cNvGrpSpPr/>
          <p:nvPr/>
        </p:nvGrpSpPr>
        <p:grpSpPr>
          <a:xfrm>
            <a:off x="983742" y="2273618"/>
            <a:ext cx="9028974" cy="683999"/>
            <a:chOff x="983742" y="2273618"/>
            <a:chExt cx="9028974" cy="683999"/>
          </a:xfrm>
        </p:grpSpPr>
        <p:sp>
          <p:nvSpPr>
            <p:cNvPr id="10" name="Freeform 10"/>
            <p:cNvSpPr/>
            <p:nvPr/>
          </p:nvSpPr>
          <p:spPr>
            <a:xfrm>
              <a:off x="990600" y="2290762"/>
              <a:ext cx="190500" cy="154781"/>
            </a:xfrm>
            <a:custGeom>
              <a:avLst/>
              <a:gdLst/>
              <a:ahLst/>
              <a:cxnLst/>
              <a:rect l="l" t="t" r="r" b="b"/>
              <a:pathLst>
                <a:path w="190500" h="154781">
                  <a:moveTo>
                    <a:pt x="0" y="0"/>
                  </a:moveTo>
                  <a:lnTo>
                    <a:pt x="42693" y="0"/>
                  </a:lnTo>
                  <a:cubicBezTo>
                    <a:pt x="53474" y="0"/>
                    <a:pt x="63814" y="4283"/>
                    <a:pt x="71438" y="11906"/>
                  </a:cubicBezTo>
                  <a:cubicBezTo>
                    <a:pt x="79061" y="19530"/>
                    <a:pt x="83344" y="29869"/>
                    <a:pt x="83344" y="40650"/>
                  </a:cubicBezTo>
                  <a:lnTo>
                    <a:pt x="83344" y="107156"/>
                  </a:lnTo>
                  <a:lnTo>
                    <a:pt x="107156" y="107156"/>
                  </a:lnTo>
                  <a:lnTo>
                    <a:pt x="107156" y="40650"/>
                  </a:lnTo>
                  <a:cubicBezTo>
                    <a:pt x="107156" y="29869"/>
                    <a:pt x="111439" y="19530"/>
                    <a:pt x="119062" y="11906"/>
                  </a:cubicBezTo>
                  <a:cubicBezTo>
                    <a:pt x="126686" y="4283"/>
                    <a:pt x="137025" y="0"/>
                    <a:pt x="147807" y="0"/>
                  </a:cubicBezTo>
                  <a:lnTo>
                    <a:pt x="190500" y="0"/>
                  </a:lnTo>
                  <a:lnTo>
                    <a:pt x="190500" y="130969"/>
                  </a:lnTo>
                  <a:lnTo>
                    <a:pt x="130969" y="130969"/>
                  </a:lnTo>
                  <a:lnTo>
                    <a:pt x="107156" y="154781"/>
                  </a:lnTo>
                  <a:lnTo>
                    <a:pt x="83344" y="154781"/>
                  </a:lnTo>
                  <a:lnTo>
                    <a:pt x="59531" y="130969"/>
                  </a:lnTo>
                  <a:lnTo>
                    <a:pt x="0" y="130969"/>
                  </a:lnTo>
                  <a:lnTo>
                    <a:pt x="0" y="0"/>
                  </a:lnTo>
                  <a:close/>
                </a:path>
              </a:pathLst>
            </a:custGeom>
            <a:solidFill>
              <a:schemeClr val="accent3"/>
            </a:solidFill>
            <a:ln>
              <a:noFill/>
            </a:ln>
          </p:spPr>
        </p:sp>
        <p:sp>
          <p:nvSpPr>
            <p:cNvPr id="11" name="TextBox 11"/>
            <p:cNvSpPr txBox="1"/>
            <p:nvPr/>
          </p:nvSpPr>
          <p:spPr>
            <a:xfrm>
              <a:off x="1250442" y="2273618"/>
              <a:ext cx="983712"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技能 Skill</a:t>
              </a:r>
            </a:p>
          </p:txBody>
        </p:sp>
        <p:sp>
          <p:nvSpPr>
            <p:cNvPr id="12" name="TextBox 12"/>
            <p:cNvSpPr txBox="1"/>
            <p:nvPr/>
          </p:nvSpPr>
          <p:spPr>
            <a:xfrm>
              <a:off x="983742" y="2540318"/>
              <a:ext cx="1211870" cy="226600"/>
            </a:xfrm>
            <a:prstGeom prst="rect">
              <a:avLst/>
            </a:prstGeom>
            <a:noFill/>
            <a:ln>
              <a:noFill/>
            </a:ln>
          </p:spPr>
          <p:txBody>
            <a:bodyPr wrap="none" lIns="0" tIns="0" rIns="0" bIns="0" anchor="t" anchorCtr="0">
              <a:spAutoFit/>
            </a:bodyPr>
            <a:lstStyle/>
            <a:p>
              <a:pPr algn="l">
                <a:lnSpc>
                  <a:spcPts val="1875"/>
                </a:lnSpc>
              </a:pPr>
              <a:r>
                <a:rPr lang="zh-CN" sz="1350" dirty="0">
                  <a:solidFill>
                    <a:schemeClr val="accent5"/>
                  </a:solidFill>
                  <a:latin typeface="+mn-lt"/>
                  <a:ea typeface="+mn-ea"/>
                  <a:cs typeface="+mn-cs"/>
                </a:rPr>
                <a:t>按需加载</a:t>
              </a:r>
              <a:r>
                <a:rPr lang="zh-CN" altLang="zh-CN" sz="1350" dirty="0">
                  <a:solidFill>
                    <a:schemeClr val="accent5"/>
                  </a:solidFill>
                  <a:latin typeface="+mn-lt"/>
                  <a:ea typeface="+mn-ea"/>
                  <a:cs typeface="+mn-cs"/>
                </a:rPr>
                <a:t>知识包</a:t>
              </a:r>
              <a:endParaRPr lang="zh-CN" sz="1350" dirty="0">
                <a:solidFill>
                  <a:schemeClr val="accent5"/>
                </a:solidFill>
                <a:latin typeface="+mn-lt"/>
                <a:ea typeface="+mn-ea"/>
                <a:cs typeface="+mn-cs"/>
              </a:endParaRPr>
            </a:p>
          </p:txBody>
        </p:sp>
        <p:sp>
          <p:nvSpPr>
            <p:cNvPr id="13" name="TextBox 13"/>
            <p:cNvSpPr txBox="1"/>
            <p:nvPr/>
          </p:nvSpPr>
          <p:spPr>
            <a:xfrm>
              <a:off x="3193542" y="2273618"/>
              <a:ext cx="6171561" cy="207749"/>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mcp_server</a:t>
              </a:r>
              <a:r>
                <a:rPr lang="en-US" altLang="zh-CN" sz="1350" dirty="0">
                  <a:solidFill>
                    <a:schemeClr val="dk1"/>
                  </a:solidFill>
                </a:rPr>
                <a:t> </a:t>
              </a:r>
              <a:r>
                <a:rPr lang="zh-CN" sz="1350" dirty="0">
                  <a:solidFill>
                    <a:schemeClr val="dk1"/>
                  </a:solidFill>
                  <a:latin typeface="+mn-lt"/>
                  <a:ea typeface="+mn-ea"/>
                  <a:cs typeface="+mn-cs"/>
                </a:rPr>
                <a:t>—— 一份硬件手册出一个新服务，自带契约、校验、安全状态与测试</a:t>
              </a:r>
            </a:p>
          </p:txBody>
        </p:sp>
        <p:sp>
          <p:nvSpPr>
            <p:cNvPr id="14" name="TextBox 14"/>
            <p:cNvSpPr txBox="1"/>
            <p:nvPr/>
          </p:nvSpPr>
          <p:spPr>
            <a:xfrm>
              <a:off x="3193542" y="2511742"/>
              <a:ext cx="6819174" cy="207749"/>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stm32f407-batianhu-v2</a:t>
              </a:r>
              <a:r>
                <a:rPr lang="en-US" altLang="zh-CN" sz="1350" dirty="0">
                  <a:solidFill>
                    <a:schemeClr val="dk1"/>
                  </a:solidFill>
                </a:rPr>
                <a:t> </a:t>
              </a:r>
              <a:r>
                <a:rPr lang="zh-CN" sz="1350" dirty="0">
                  <a:solidFill>
                    <a:schemeClr val="dk1"/>
                  </a:solidFill>
                  <a:latin typeface="+mn-lt"/>
                  <a:ea typeface="+mn-ea"/>
                  <a:cs typeface="+mn-cs"/>
                </a:rPr>
                <a:t>—— 被测板的引脚、时钟、外设、跳帽约束和 Keil 工程脚本</a:t>
              </a:r>
            </a:p>
          </p:txBody>
        </p:sp>
        <p:sp>
          <p:nvSpPr>
            <p:cNvPr id="15" name="TextBox 15"/>
            <p:cNvSpPr txBox="1"/>
            <p:nvPr/>
          </p:nvSpPr>
          <p:spPr>
            <a:xfrm>
              <a:off x="3193542" y="2749868"/>
              <a:ext cx="3228448" cy="207749"/>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doc_writer</a:t>
              </a:r>
              <a:r>
                <a:rPr lang="en-US" altLang="zh-CN" sz="1350" dirty="0">
                  <a:solidFill>
                    <a:schemeClr val="dk1"/>
                  </a:solidFill>
                </a:rPr>
                <a:t> </a:t>
              </a:r>
              <a:r>
                <a:rPr lang="zh-CN" sz="1350" dirty="0">
                  <a:solidFill>
                    <a:schemeClr val="dk1"/>
                  </a:solidFill>
                  <a:latin typeface="+mn-lt"/>
                  <a:ea typeface="+mn-ea"/>
                  <a:cs typeface="+mn-cs"/>
                </a:rPr>
                <a:t>—— 测试报告与文档写作规范</a:t>
              </a:r>
            </a:p>
          </p:txBody>
        </p:sp>
      </p:grpSp>
      <p:sp>
        <p:nvSpPr>
          <p:cNvPr id="19" name="Line 19"/>
          <p:cNvSpPr/>
          <p:nvPr/>
        </p:nvSpPr>
        <p:spPr>
          <a:xfrm>
            <a:off x="990600" y="3314700"/>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34" name="p14-layer-platform"/>
          <p:cNvGrpSpPr/>
          <p:nvPr/>
        </p:nvGrpSpPr>
        <p:grpSpPr>
          <a:xfrm>
            <a:off x="983742" y="3435668"/>
            <a:ext cx="10456202" cy="1458876"/>
            <a:chOff x="983742" y="3435668"/>
            <a:chExt cx="10456202" cy="1458876"/>
          </a:xfrm>
        </p:grpSpPr>
        <p:grpSp>
          <p:nvGrpSpPr>
            <p:cNvPr id="26" name="Group 26"/>
            <p:cNvGrpSpPr/>
            <p:nvPr/>
          </p:nvGrpSpPr>
          <p:grpSpPr>
            <a:xfrm>
              <a:off x="999212" y="3440906"/>
              <a:ext cx="169982" cy="166688"/>
              <a:chOff x="999212" y="3440906"/>
              <a:chExt cx="169982" cy="166688"/>
            </a:xfrm>
          </p:grpSpPr>
          <p:sp>
            <p:nvSpPr>
              <p:cNvPr id="20" name="Freeform 20"/>
              <p:cNvSpPr/>
              <p:nvPr/>
            </p:nvSpPr>
            <p:spPr>
              <a:xfrm>
                <a:off x="1073944" y="3440906"/>
                <a:ext cx="95250" cy="23812"/>
              </a:xfrm>
              <a:custGeom>
                <a:avLst/>
                <a:gdLst/>
                <a:ahLst/>
                <a:cxnLst/>
                <a:rect l="l" t="t" r="r" b="b"/>
                <a:pathLst>
                  <a:path w="95250" h="23812">
                    <a:moveTo>
                      <a:pt x="0" y="0"/>
                    </a:moveTo>
                    <a:lnTo>
                      <a:pt x="95250" y="0"/>
                    </a:lnTo>
                    <a:lnTo>
                      <a:pt x="95250" y="23812"/>
                    </a:lnTo>
                    <a:lnTo>
                      <a:pt x="0" y="23812"/>
                    </a:lnTo>
                    <a:lnTo>
                      <a:pt x="0" y="0"/>
                    </a:lnTo>
                    <a:close/>
                  </a:path>
                </a:pathLst>
              </a:custGeom>
              <a:solidFill>
                <a:schemeClr val="accent3"/>
              </a:solidFill>
              <a:ln>
                <a:noFill/>
              </a:ln>
            </p:spPr>
          </p:sp>
          <p:sp>
            <p:nvSpPr>
              <p:cNvPr id="21" name="Freeform 21"/>
              <p:cNvSpPr/>
              <p:nvPr/>
            </p:nvSpPr>
            <p:spPr>
              <a:xfrm>
                <a:off x="1073944" y="3488531"/>
                <a:ext cx="95250" cy="23812"/>
              </a:xfrm>
              <a:custGeom>
                <a:avLst/>
                <a:gdLst/>
                <a:ahLst/>
                <a:cxnLst/>
                <a:rect l="l" t="t" r="r" b="b"/>
                <a:pathLst>
                  <a:path w="95250" h="23812">
                    <a:moveTo>
                      <a:pt x="0" y="0"/>
                    </a:moveTo>
                    <a:lnTo>
                      <a:pt x="95250" y="0"/>
                    </a:lnTo>
                    <a:lnTo>
                      <a:pt x="95250" y="23812"/>
                    </a:lnTo>
                    <a:lnTo>
                      <a:pt x="0" y="23812"/>
                    </a:lnTo>
                    <a:lnTo>
                      <a:pt x="0" y="0"/>
                    </a:lnTo>
                    <a:close/>
                  </a:path>
                </a:pathLst>
              </a:custGeom>
              <a:solidFill>
                <a:schemeClr val="accent3"/>
              </a:solidFill>
              <a:ln>
                <a:noFill/>
              </a:ln>
            </p:spPr>
          </p:sp>
          <p:sp>
            <p:nvSpPr>
              <p:cNvPr id="22" name="Freeform 22"/>
              <p:cNvSpPr/>
              <p:nvPr/>
            </p:nvSpPr>
            <p:spPr>
              <a:xfrm>
                <a:off x="1073944" y="3536156"/>
                <a:ext cx="95250" cy="23812"/>
              </a:xfrm>
              <a:custGeom>
                <a:avLst/>
                <a:gdLst/>
                <a:ahLst/>
                <a:cxnLst/>
                <a:rect l="l" t="t" r="r" b="b"/>
                <a:pathLst>
                  <a:path w="95250" h="23812">
                    <a:moveTo>
                      <a:pt x="95250" y="0"/>
                    </a:moveTo>
                    <a:lnTo>
                      <a:pt x="0" y="0"/>
                    </a:lnTo>
                    <a:lnTo>
                      <a:pt x="0" y="23812"/>
                    </a:lnTo>
                    <a:lnTo>
                      <a:pt x="95250" y="23812"/>
                    </a:lnTo>
                    <a:lnTo>
                      <a:pt x="95250" y="0"/>
                    </a:lnTo>
                    <a:close/>
                  </a:path>
                </a:pathLst>
              </a:custGeom>
              <a:solidFill>
                <a:schemeClr val="accent3"/>
              </a:solidFill>
              <a:ln>
                <a:noFill/>
              </a:ln>
            </p:spPr>
          </p:sp>
          <p:sp>
            <p:nvSpPr>
              <p:cNvPr id="23" name="Freeform 23"/>
              <p:cNvSpPr/>
              <p:nvPr/>
            </p:nvSpPr>
            <p:spPr>
              <a:xfrm>
                <a:off x="1073944" y="3583781"/>
                <a:ext cx="95250" cy="23812"/>
              </a:xfrm>
              <a:custGeom>
                <a:avLst/>
                <a:gdLst/>
                <a:ahLst/>
                <a:cxnLst/>
                <a:rect l="l" t="t" r="r" b="b"/>
                <a:pathLst>
                  <a:path w="95250" h="23812">
                    <a:moveTo>
                      <a:pt x="0" y="0"/>
                    </a:moveTo>
                    <a:lnTo>
                      <a:pt x="95250" y="0"/>
                    </a:lnTo>
                    <a:lnTo>
                      <a:pt x="95250" y="23812"/>
                    </a:lnTo>
                    <a:lnTo>
                      <a:pt x="0" y="23812"/>
                    </a:lnTo>
                    <a:lnTo>
                      <a:pt x="0" y="0"/>
                    </a:lnTo>
                    <a:close/>
                  </a:path>
                </a:pathLst>
              </a:custGeom>
              <a:solidFill>
                <a:schemeClr val="accent3"/>
              </a:solidFill>
              <a:ln>
                <a:noFill/>
              </a:ln>
            </p:spPr>
          </p:sp>
          <p:sp>
            <p:nvSpPr>
              <p:cNvPr id="24" name="Freeform 24"/>
              <p:cNvSpPr/>
              <p:nvPr/>
            </p:nvSpPr>
            <p:spPr>
              <a:xfrm>
                <a:off x="1002506" y="3536156"/>
                <a:ext cx="49113" cy="71438"/>
              </a:xfrm>
              <a:custGeom>
                <a:avLst/>
                <a:gdLst/>
                <a:ahLst/>
                <a:cxnLst/>
                <a:rect l="l" t="t" r="r" b="b"/>
                <a:pathLst>
                  <a:path w="49113" h="71438">
                    <a:moveTo>
                      <a:pt x="27248" y="20836"/>
                    </a:moveTo>
                    <a:lnTo>
                      <a:pt x="0" y="20836"/>
                    </a:lnTo>
                    <a:lnTo>
                      <a:pt x="0" y="0"/>
                    </a:lnTo>
                    <a:lnTo>
                      <a:pt x="27248" y="0"/>
                    </a:lnTo>
                    <a:cubicBezTo>
                      <a:pt x="39324" y="0"/>
                      <a:pt x="49113" y="9789"/>
                      <a:pt x="49113" y="21865"/>
                    </a:cubicBezTo>
                    <a:cubicBezTo>
                      <a:pt x="49113" y="27869"/>
                      <a:pt x="46644" y="33609"/>
                      <a:pt x="42286" y="37738"/>
                    </a:cubicBezTo>
                    <a:lnTo>
                      <a:pt x="28708" y="50602"/>
                    </a:lnTo>
                    <a:lnTo>
                      <a:pt x="47625" y="50602"/>
                    </a:lnTo>
                    <a:lnTo>
                      <a:pt x="47625" y="71438"/>
                    </a:lnTo>
                    <a:lnTo>
                      <a:pt x="0" y="71438"/>
                    </a:lnTo>
                    <a:lnTo>
                      <a:pt x="0" y="49097"/>
                    </a:lnTo>
                    <a:lnTo>
                      <a:pt x="27956" y="22612"/>
                    </a:lnTo>
                    <a:cubicBezTo>
                      <a:pt x="28161" y="22418"/>
                      <a:pt x="28277" y="22148"/>
                      <a:pt x="28277" y="21865"/>
                    </a:cubicBezTo>
                    <a:cubicBezTo>
                      <a:pt x="28277" y="21297"/>
                      <a:pt x="27817" y="20836"/>
                      <a:pt x="27248" y="20836"/>
                    </a:cubicBezTo>
                    <a:close/>
                  </a:path>
                </a:pathLst>
              </a:custGeom>
              <a:solidFill>
                <a:schemeClr val="accent3"/>
              </a:solidFill>
              <a:ln>
                <a:noFill/>
              </a:ln>
            </p:spPr>
          </p:sp>
          <p:sp>
            <p:nvSpPr>
              <p:cNvPr id="25" name="Freeform 25"/>
              <p:cNvSpPr/>
              <p:nvPr/>
            </p:nvSpPr>
            <p:spPr>
              <a:xfrm>
                <a:off x="999212" y="3442395"/>
                <a:ext cx="37525" cy="69949"/>
              </a:xfrm>
              <a:custGeom>
                <a:avLst/>
                <a:gdLst/>
                <a:ahLst/>
                <a:cxnLst/>
                <a:rect l="l" t="t" r="r" b="b"/>
                <a:pathLst>
                  <a:path w="37525" h="69949">
                    <a:moveTo>
                      <a:pt x="19463" y="0"/>
                    </a:moveTo>
                    <a:lnTo>
                      <a:pt x="0" y="6488"/>
                    </a:lnTo>
                    <a:lnTo>
                      <a:pt x="6589" y="26254"/>
                    </a:lnTo>
                    <a:lnTo>
                      <a:pt x="16689" y="22888"/>
                    </a:lnTo>
                    <a:lnTo>
                      <a:pt x="16689" y="69949"/>
                    </a:lnTo>
                    <a:lnTo>
                      <a:pt x="37525" y="69949"/>
                    </a:lnTo>
                    <a:lnTo>
                      <a:pt x="37525" y="0"/>
                    </a:lnTo>
                    <a:lnTo>
                      <a:pt x="19463" y="0"/>
                    </a:lnTo>
                    <a:close/>
                  </a:path>
                </a:pathLst>
              </a:custGeom>
              <a:solidFill>
                <a:schemeClr val="accent3"/>
              </a:solidFill>
              <a:ln>
                <a:noFill/>
              </a:ln>
            </p:spPr>
          </p:sp>
        </p:grpSp>
        <p:sp>
          <p:nvSpPr>
            <p:cNvPr id="27" name="TextBox 27"/>
            <p:cNvSpPr txBox="1"/>
            <p:nvPr/>
          </p:nvSpPr>
          <p:spPr>
            <a:xfrm>
              <a:off x="1250442" y="3435668"/>
              <a:ext cx="7406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平台工具</a:t>
              </a:r>
            </a:p>
          </p:txBody>
        </p:sp>
        <p:sp>
          <p:nvSpPr>
            <p:cNvPr id="28" name="TextBox 28"/>
            <p:cNvSpPr txBox="1"/>
            <p:nvPr/>
          </p:nvSpPr>
          <p:spPr>
            <a:xfrm>
              <a:off x="983742" y="3702368"/>
              <a:ext cx="1385316" cy="502158"/>
            </a:xfrm>
            <a:prstGeom prst="rect">
              <a:avLst/>
            </a:prstGeom>
            <a:noFill/>
            <a:ln>
              <a:noFill/>
            </a:ln>
          </p:spPr>
          <p:txBody>
            <a:bodyPr wrap="none" lIns="0" tIns="0" rIns="0" bIns="0" anchor="t" anchorCtr="0">
              <a:spAutoFit/>
            </a:bodyPr>
            <a:lstStyle/>
            <a:p>
              <a:pPr algn="l">
                <a:lnSpc>
                  <a:spcPts val="1875"/>
                </a:lnSpc>
              </a:pPr>
              <a:r>
                <a:rPr lang="zh-CN" sz="1350" dirty="0">
                  <a:solidFill>
                    <a:schemeClr val="accent5"/>
                  </a:solidFill>
                  <a:latin typeface="+mn-lt"/>
                  <a:ea typeface="+mn-ea"/>
                  <a:cs typeface="+mn-cs"/>
                </a:rPr>
                <a:t>通用测试软件内置</a:t>
              </a:r>
              <a:br/>
              <a:r>
                <a:rPr lang="zh-CN" sz="1350" dirty="0">
                  <a:solidFill>
                    <a:schemeClr val="accent5"/>
                  </a:solidFill>
                  <a:latin typeface="+mn-lt"/>
                  <a:ea typeface="+mn-ea"/>
                  <a:cs typeface="+mn-cs"/>
                </a:rPr>
                <a:t>40 余个</a:t>
              </a:r>
            </a:p>
          </p:txBody>
        </p:sp>
        <p:sp>
          <p:nvSpPr>
            <p:cNvPr id="29" name="TextBox 29"/>
            <p:cNvSpPr txBox="1"/>
            <p:nvPr/>
          </p:nvSpPr>
          <p:spPr>
            <a:xfrm>
              <a:off x="3193542" y="3435668"/>
              <a:ext cx="4092467" cy="415498"/>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工程 · 读取 / 新建 / 打开 / 保存　　</a:t>
              </a:r>
              <a:endParaRPr lang="en-US" altLang="zh-CN" sz="1350" dirty="0">
                <a:solidFill>
                  <a:schemeClr val="dk1"/>
                </a:solidFill>
                <a:latin typeface="+mn-lt"/>
                <a:ea typeface="+mn-ea"/>
                <a:cs typeface="+mn-cs"/>
              </a:endParaRPr>
            </a:p>
            <a:p>
              <a:pPr algn="l"/>
              <a:r>
                <a:rPr lang="zh-CN" sz="1350" dirty="0">
                  <a:solidFill>
                    <a:schemeClr val="dk1"/>
                  </a:solidFill>
                  <a:latin typeface="+mn-lt"/>
                  <a:ea typeface="+mn-ea"/>
                  <a:cs typeface="+mn-cs"/>
                </a:rPr>
                <a:t>设备管理 · 列服务、启停重启、读日志、列受管硬件</a:t>
              </a:r>
            </a:p>
          </p:txBody>
        </p:sp>
        <p:sp>
          <p:nvSpPr>
            <p:cNvPr id="30" name="TextBox 30"/>
            <p:cNvSpPr txBox="1"/>
            <p:nvPr/>
          </p:nvSpPr>
          <p:spPr>
            <a:xfrm>
              <a:off x="3193542" y="3848370"/>
              <a:ext cx="824640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硬件定义 · 硬件目录、读写删定义、设置外观与端口图片　　接线 · 只生成待办，线由人接、人确认</a:t>
              </a:r>
            </a:p>
          </p:txBody>
        </p:sp>
        <p:sp>
          <p:nvSpPr>
            <p:cNvPr id="31" name="TextBox 31"/>
            <p:cNvSpPr txBox="1"/>
            <p:nvPr/>
          </p:nvSpPr>
          <p:spPr>
            <a:xfrm>
              <a:off x="3193542" y="4088477"/>
              <a:ext cx="594742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测试编排 · 列读计划、步骤目录、设备工具列表、新建与增量修改、校验</a:t>
              </a:r>
            </a:p>
          </p:txBody>
        </p:sp>
        <p:sp>
          <p:nvSpPr>
            <p:cNvPr id="32" name="TextBox 32"/>
            <p:cNvSpPr txBox="1"/>
            <p:nvPr/>
          </p:nvSpPr>
          <p:spPr>
            <a:xfrm>
              <a:off x="3193542" y="4341705"/>
              <a:ext cx="612916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测试执行 · 启停暂停中止、读状态与事件、长轮询等待、未决操作人工核销</a:t>
              </a:r>
            </a:p>
          </p:txBody>
        </p:sp>
        <p:sp>
          <p:nvSpPr>
            <p:cNvPr id="33" name="TextBox 33"/>
            <p:cNvSpPr txBox="1"/>
            <p:nvPr/>
          </p:nvSpPr>
          <p:spPr>
            <a:xfrm>
              <a:off x="3184398" y="4630511"/>
              <a:ext cx="667437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上下文与资料 · 读代理上下文与工具契约、读写资料文档、查设备占用、导入固件</a:t>
              </a:r>
            </a:p>
          </p:txBody>
        </p:sp>
      </p:grpSp>
      <p:sp>
        <p:nvSpPr>
          <p:cNvPr id="35" name="Line 35"/>
          <p:cNvSpPr/>
          <p:nvPr/>
        </p:nvSpPr>
        <p:spPr>
          <a:xfrm>
            <a:off x="1027062" y="4870032"/>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44" name="p14-layer-hardware"/>
          <p:cNvGrpSpPr/>
          <p:nvPr/>
        </p:nvGrpSpPr>
        <p:grpSpPr>
          <a:xfrm>
            <a:off x="974598" y="5037741"/>
            <a:ext cx="10295725" cy="1216533"/>
            <a:chOff x="983742" y="4854892"/>
            <a:chExt cx="10295725" cy="1216533"/>
          </a:xfrm>
        </p:grpSpPr>
        <p:sp>
          <p:nvSpPr>
            <p:cNvPr id="36" name="Freeform 36"/>
            <p:cNvSpPr/>
            <p:nvPr/>
          </p:nvSpPr>
          <p:spPr>
            <a:xfrm>
              <a:off x="1002506" y="4860131"/>
              <a:ext cx="166688" cy="166688"/>
            </a:xfrm>
            <a:custGeom>
              <a:avLst/>
              <a:gdLst/>
              <a:ahLst/>
              <a:cxnLst/>
              <a:rect l="l" t="t" r="r" b="b"/>
              <a:pathLst>
                <a:path w="166688" h="166688">
                  <a:moveTo>
                    <a:pt x="71438" y="0"/>
                  </a:moveTo>
                  <a:lnTo>
                    <a:pt x="35719" y="0"/>
                  </a:lnTo>
                  <a:lnTo>
                    <a:pt x="0" y="59531"/>
                  </a:lnTo>
                  <a:lnTo>
                    <a:pt x="0" y="166688"/>
                  </a:lnTo>
                  <a:lnTo>
                    <a:pt x="166688" y="166688"/>
                  </a:lnTo>
                  <a:lnTo>
                    <a:pt x="166688" y="59531"/>
                  </a:lnTo>
                  <a:lnTo>
                    <a:pt x="130969" y="0"/>
                  </a:lnTo>
                  <a:lnTo>
                    <a:pt x="95250" y="0"/>
                  </a:lnTo>
                  <a:lnTo>
                    <a:pt x="95250" y="59531"/>
                  </a:lnTo>
                  <a:lnTo>
                    <a:pt x="71438" y="59531"/>
                  </a:lnTo>
                  <a:lnTo>
                    <a:pt x="71438" y="0"/>
                  </a:lnTo>
                  <a:close/>
                </a:path>
              </a:pathLst>
            </a:custGeom>
            <a:solidFill>
              <a:schemeClr val="accent3"/>
            </a:solidFill>
            <a:ln>
              <a:noFill/>
            </a:ln>
          </p:spPr>
        </p:sp>
        <p:sp>
          <p:nvSpPr>
            <p:cNvPr id="37" name="TextBox 37"/>
            <p:cNvSpPr txBox="1"/>
            <p:nvPr/>
          </p:nvSpPr>
          <p:spPr>
            <a:xfrm>
              <a:off x="1250442" y="4854892"/>
              <a:ext cx="7406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硬件工具</a:t>
              </a:r>
            </a:p>
          </p:txBody>
        </p:sp>
        <p:sp>
          <p:nvSpPr>
            <p:cNvPr id="38" name="TextBox 38"/>
            <p:cNvSpPr txBox="1"/>
            <p:nvPr/>
          </p:nvSpPr>
          <p:spPr>
            <a:xfrm>
              <a:off x="983742" y="5121592"/>
              <a:ext cx="1385316" cy="502158"/>
            </a:xfrm>
            <a:prstGeom prst="rect">
              <a:avLst/>
            </a:prstGeom>
            <a:noFill/>
            <a:ln>
              <a:noFill/>
            </a:ln>
          </p:spPr>
          <p:txBody>
            <a:bodyPr wrap="none" lIns="0" tIns="0" rIns="0" bIns="0" anchor="t" anchorCtr="0">
              <a:spAutoFit/>
            </a:bodyPr>
            <a:lstStyle/>
            <a:p>
              <a:pPr algn="l">
                <a:lnSpc>
                  <a:spcPts val="1875"/>
                </a:lnSpc>
              </a:pPr>
              <a:r>
                <a:rPr lang="zh-CN" sz="1350" dirty="0">
                  <a:solidFill>
                    <a:schemeClr val="accent5"/>
                  </a:solidFill>
                  <a:latin typeface="+mn-lt"/>
                  <a:ea typeface="+mn-ea"/>
                  <a:cs typeface="+mn-cs"/>
                </a:rPr>
                <a:t>由各硬件服务提供</a:t>
              </a:r>
              <a:br/>
              <a:r>
                <a:rPr lang="zh-CN" sz="1350" dirty="0">
                  <a:solidFill>
                    <a:schemeClr val="accent5"/>
                  </a:solidFill>
                  <a:latin typeface="+mn-lt"/>
                  <a:ea typeface="+mn-ea"/>
                  <a:cs typeface="+mn-cs"/>
                </a:rPr>
                <a:t>随设备插拔</a:t>
              </a:r>
            </a:p>
          </p:txBody>
        </p:sp>
        <p:sp>
          <p:nvSpPr>
            <p:cNvPr id="39" name="TextBox 39"/>
            <p:cNvSpPr txBox="1"/>
            <p:nvPr/>
          </p:nvSpPr>
          <p:spPr>
            <a:xfrm>
              <a:off x="3193542" y="4854892"/>
              <a:ext cx="716249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继电器卡 PCI-1762 · 4 工具　set_relay / set_bank / read_bit / safe_state</a:t>
              </a:r>
            </a:p>
          </p:txBody>
        </p:sp>
        <p:sp>
          <p:nvSpPr>
            <p:cNvPr id="40" name="TextBox 40"/>
            <p:cNvSpPr txBox="1"/>
            <p:nvPr/>
          </p:nvSpPr>
          <p:spPr>
            <a:xfrm>
              <a:off x="3193542" y="5093018"/>
              <a:ext cx="756797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多串口卡 CP-118U-I · 7 工具　configure_port / write_text / read_rx / flush …</a:t>
              </a:r>
            </a:p>
          </p:txBody>
        </p:sp>
        <p:sp>
          <p:nvSpPr>
            <p:cNvPr id="41" name="TextBox 41"/>
            <p:cNvSpPr txBox="1"/>
            <p:nvPr/>
          </p:nvSpPr>
          <p:spPr>
            <a:xfrm>
              <a:off x="3193542" y="5331142"/>
              <a:ext cx="808592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采集卡 PCI-1710L · 5 工具　configure_ai / read_voltage / set_level / safe_state …</a:t>
              </a:r>
            </a:p>
          </p:txBody>
        </p:sp>
        <p:sp>
          <p:nvSpPr>
            <p:cNvPr id="42" name="TextBox 42"/>
            <p:cNvSpPr txBox="1"/>
            <p:nvPr/>
          </p:nvSpPr>
          <p:spPr>
            <a:xfrm>
              <a:off x="3193542" y="5569268"/>
              <a:ext cx="665020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模拟输出卡 PCI-6208V · 3 工具　set_voltage / read_last / safe_state</a:t>
              </a:r>
            </a:p>
          </p:txBody>
        </p:sp>
        <p:sp>
          <p:nvSpPr>
            <p:cNvPr id="43" name="TextBox 43"/>
            <p:cNvSpPr txBox="1"/>
            <p:nvPr/>
          </p:nvSpPr>
          <p:spPr>
            <a:xfrm>
              <a:off x="3193542" y="5807392"/>
              <a:ext cx="704353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调试器 FireDAP · 9 工具　flash / verify / read_sram / import_firmware …</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16-header"/>
          <p:cNvGrpSpPr/>
          <p:nvPr/>
        </p:nvGrpSpPr>
        <p:grpSpPr>
          <a:xfrm>
            <a:off x="974598" y="844868"/>
            <a:ext cx="3566682" cy="766688"/>
            <a:chOff x="974598" y="844868"/>
            <a:chExt cx="3566682" cy="766688"/>
          </a:xfrm>
        </p:grpSpPr>
        <p:sp>
          <p:nvSpPr>
            <p:cNvPr id="3" name="TextBox 3"/>
            <p:cNvSpPr txBox="1"/>
            <p:nvPr/>
          </p:nvSpPr>
          <p:spPr>
            <a:xfrm>
              <a:off x="983742" y="844868"/>
              <a:ext cx="692497" cy="207749"/>
            </a:xfrm>
            <a:prstGeom prst="rect">
              <a:avLst/>
            </a:prstGeom>
            <a:noFill/>
            <a:ln>
              <a:noFill/>
            </a:ln>
          </p:spPr>
          <p:txBody>
            <a:bodyPr wrap="none" lIns="0" tIns="0" rIns="0" bIns="0" anchor="t" anchorCtr="0">
              <a:spAutoFit/>
            </a:bodyPr>
            <a:lstStyle/>
            <a:p>
              <a:pPr algn="l"/>
              <a:r>
                <a:rPr lang="zh-CN" altLang="en-US" sz="1350" dirty="0">
                  <a:solidFill>
                    <a:schemeClr val="accent5"/>
                  </a:solidFill>
                </a:rPr>
                <a:t>使用演示</a:t>
              </a:r>
              <a:endParaRPr lang="zh-CN" sz="1350" dirty="0">
                <a:solidFill>
                  <a:schemeClr val="accent5"/>
                </a:solidFill>
                <a:latin typeface="+mn-lt"/>
                <a:ea typeface="+mn-ea"/>
                <a:cs typeface="+mn-cs"/>
              </a:endParaRPr>
            </a:p>
          </p:txBody>
        </p:sp>
        <p:sp>
          <p:nvSpPr>
            <p:cNvPr id="4" name="TextBox 4"/>
            <p:cNvSpPr txBox="1"/>
            <p:nvPr/>
          </p:nvSpPr>
          <p:spPr>
            <a:xfrm>
              <a:off x="974598" y="1126808"/>
              <a:ext cx="3566682" cy="484748"/>
            </a:xfrm>
            <a:prstGeom prst="rect">
              <a:avLst/>
            </a:prstGeom>
            <a:noFill/>
            <a:ln>
              <a:noFill/>
            </a:ln>
          </p:spPr>
          <p:txBody>
            <a:bodyPr wrap="none" lIns="0" tIns="0" rIns="0" bIns="0" anchor="t" anchorCtr="0">
              <a:spAutoFit/>
            </a:bodyPr>
            <a:lstStyle/>
            <a:p>
              <a:pPr algn="l"/>
              <a:r>
                <a:rPr lang="en-US" altLang="zh-CN" sz="3150" b="1" dirty="0">
                  <a:solidFill>
                    <a:schemeClr val="accent1"/>
                  </a:solidFill>
                  <a:latin typeface="+mj-lt"/>
                  <a:ea typeface="+mj-ea"/>
                  <a:cs typeface="+mj-cs"/>
                </a:rPr>
                <a:t>1. </a:t>
              </a:r>
              <a:r>
                <a:rPr lang="zh-CN" altLang="en-US" sz="3150" b="1" dirty="0">
                  <a:solidFill>
                    <a:schemeClr val="accent1"/>
                  </a:solidFill>
                  <a:latin typeface="+mj-lt"/>
                  <a:ea typeface="+mj-ea"/>
                  <a:cs typeface="+mj-cs"/>
                </a:rPr>
                <a:t>适配</a:t>
              </a:r>
              <a:r>
                <a:rPr lang="zh-CN" sz="3150" b="1" dirty="0">
                  <a:solidFill>
                    <a:schemeClr val="accent1"/>
                  </a:solidFill>
                  <a:latin typeface="+mj-lt"/>
                  <a:ea typeface="+mj-ea"/>
                  <a:cs typeface="+mj-cs"/>
                </a:rPr>
                <a:t>硬件测试资源</a:t>
              </a:r>
            </a:p>
          </p:txBody>
        </p:sp>
      </p:grpSp>
      <p:sp>
        <p:nvSpPr>
          <p:cNvPr id="6" name="Line 6"/>
          <p:cNvSpPr/>
          <p:nvPr/>
        </p:nvSpPr>
        <p:spPr>
          <a:xfrm>
            <a:off x="990600" y="1676400"/>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12" name="p16-prompt"/>
          <p:cNvGrpSpPr/>
          <p:nvPr/>
        </p:nvGrpSpPr>
        <p:grpSpPr>
          <a:xfrm>
            <a:off x="1000038" y="1902142"/>
            <a:ext cx="8695650" cy="1054609"/>
            <a:chOff x="1000038" y="1902142"/>
            <a:chExt cx="8695650" cy="1054609"/>
          </a:xfrm>
        </p:grpSpPr>
        <p:grpSp>
          <p:nvGrpSpPr>
            <p:cNvPr id="9" name="Group 9"/>
            <p:cNvGrpSpPr/>
            <p:nvPr/>
          </p:nvGrpSpPr>
          <p:grpSpPr>
            <a:xfrm>
              <a:off x="1000038" y="1922775"/>
              <a:ext cx="169156" cy="151293"/>
              <a:chOff x="1000038" y="1922775"/>
              <a:chExt cx="169156" cy="151293"/>
            </a:xfrm>
          </p:grpSpPr>
          <p:sp>
            <p:nvSpPr>
              <p:cNvPr id="7" name="Freeform 7"/>
              <p:cNvSpPr/>
              <p:nvPr/>
            </p:nvSpPr>
            <p:spPr>
              <a:xfrm>
                <a:off x="1000038" y="1922775"/>
                <a:ext cx="84788" cy="135900"/>
              </a:xfrm>
              <a:custGeom>
                <a:avLst/>
                <a:gdLst/>
                <a:ahLst/>
                <a:cxnLst/>
                <a:rect l="l" t="t" r="r" b="b"/>
                <a:pathLst>
                  <a:path w="84788" h="135900">
                    <a:moveTo>
                      <a:pt x="0" y="119062"/>
                    </a:moveTo>
                    <a:lnTo>
                      <a:pt x="51112" y="67950"/>
                    </a:lnTo>
                    <a:lnTo>
                      <a:pt x="0" y="16838"/>
                    </a:lnTo>
                    <a:lnTo>
                      <a:pt x="16838" y="0"/>
                    </a:lnTo>
                    <a:lnTo>
                      <a:pt x="84788" y="67950"/>
                    </a:lnTo>
                    <a:lnTo>
                      <a:pt x="16838" y="135900"/>
                    </a:lnTo>
                    <a:lnTo>
                      <a:pt x="0" y="119062"/>
                    </a:lnTo>
                    <a:close/>
                  </a:path>
                </a:pathLst>
              </a:custGeom>
              <a:solidFill>
                <a:schemeClr val="accent3"/>
              </a:solidFill>
              <a:ln>
                <a:noFill/>
              </a:ln>
            </p:spPr>
          </p:sp>
          <p:sp>
            <p:nvSpPr>
              <p:cNvPr id="8" name="Freeform 8"/>
              <p:cNvSpPr/>
              <p:nvPr/>
            </p:nvSpPr>
            <p:spPr>
              <a:xfrm>
                <a:off x="1073944" y="2050256"/>
                <a:ext cx="95250" cy="23812"/>
              </a:xfrm>
              <a:custGeom>
                <a:avLst/>
                <a:gdLst/>
                <a:ahLst/>
                <a:cxnLst/>
                <a:rect l="l" t="t" r="r" b="b"/>
                <a:pathLst>
                  <a:path w="95250" h="23812">
                    <a:moveTo>
                      <a:pt x="0" y="23812"/>
                    </a:moveTo>
                    <a:lnTo>
                      <a:pt x="95250" y="23812"/>
                    </a:lnTo>
                    <a:lnTo>
                      <a:pt x="95250" y="0"/>
                    </a:lnTo>
                    <a:lnTo>
                      <a:pt x="0" y="0"/>
                    </a:lnTo>
                    <a:lnTo>
                      <a:pt x="0" y="23812"/>
                    </a:lnTo>
                    <a:close/>
                  </a:path>
                </a:pathLst>
              </a:custGeom>
              <a:solidFill>
                <a:schemeClr val="accent3"/>
              </a:solidFill>
              <a:ln>
                <a:noFill/>
              </a:ln>
            </p:spPr>
          </p:sp>
        </p:grpSp>
        <p:sp>
          <p:nvSpPr>
            <p:cNvPr id="10" name="TextBox 10"/>
            <p:cNvSpPr txBox="1"/>
            <p:nvPr/>
          </p:nvSpPr>
          <p:spPr>
            <a:xfrm>
              <a:off x="1250442" y="1902142"/>
              <a:ext cx="558927"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提示词</a:t>
              </a:r>
            </a:p>
          </p:txBody>
        </p:sp>
        <p:sp>
          <p:nvSpPr>
            <p:cNvPr id="11" name="TextBox 11"/>
            <p:cNvSpPr txBox="1"/>
            <p:nvPr/>
          </p:nvSpPr>
          <p:spPr>
            <a:xfrm>
              <a:off x="1212342" y="2197418"/>
              <a:ext cx="848334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参考这份模拟输出卡使用手册，帮我创建一个新的测试资源服务：支持按通道设置输出电压（set_output）、</a:t>
              </a:r>
              <a:br>
                <a:rPr dirty="0"/>
              </a:br>
              <a:r>
                <a:rPr lang="zh-CN" sz="1350" dirty="0">
                  <a:solidFill>
                    <a:schemeClr val="dk1"/>
                  </a:solidFill>
                  <a:latin typeface="+mn-lt"/>
                  <a:ea typeface="+mn-ea"/>
                  <a:cs typeface="+mn-cs"/>
                </a:rPr>
                <a:t>读取当前设定值和实际测量值（read_output）、查询该型号的通道数量和电压范围（get_channel_range），</a:t>
              </a:r>
              <a:br>
                <a:rPr dirty="0"/>
              </a:br>
              <a:r>
                <a:rPr lang="zh-CN" sz="1350" dirty="0">
                  <a:solidFill>
                    <a:schemeClr val="dk1"/>
                  </a:solidFill>
                  <a:latin typeface="+mn-lt"/>
                  <a:ea typeface="+mn-ea"/>
                  <a:cs typeface="+mn-cs"/>
                </a:rPr>
                <a:t>停止服务前把所有通道安全复位到 0V（reset_output）。</a:t>
              </a:r>
            </a:p>
          </p:txBody>
        </p:sp>
      </p:grpSp>
      <p:sp>
        <p:nvSpPr>
          <p:cNvPr id="13" name="Line 13"/>
          <p:cNvSpPr/>
          <p:nvPr/>
        </p:nvSpPr>
        <p:spPr>
          <a:xfrm>
            <a:off x="990600" y="2171700"/>
            <a:ext cx="9525" cy="742950"/>
          </a:xfrm>
          <a:custGeom>
            <a:avLst/>
            <a:gdLst/>
            <a:ahLst/>
            <a:cxnLst/>
            <a:rect l="l" t="t" r="r" b="b"/>
            <a:pathLst>
              <a:path w="9525" h="742950">
                <a:moveTo>
                  <a:pt x="0" y="0"/>
                </a:moveTo>
                <a:lnTo>
                  <a:pt x="0" y="742950"/>
                </a:lnTo>
              </a:path>
            </a:pathLst>
          </a:custGeom>
          <a:noFill/>
          <a:ln w="9525">
            <a:solidFill>
              <a:schemeClr val="accent1"/>
            </a:solidFill>
          </a:ln>
        </p:spPr>
      </p:sp>
      <p:grpSp>
        <p:nvGrpSpPr>
          <p:cNvPr id="15" name="p16-service-online"/>
          <p:cNvGrpSpPr/>
          <p:nvPr/>
        </p:nvGrpSpPr>
        <p:grpSpPr>
          <a:xfrm>
            <a:off x="990600" y="3048000"/>
            <a:ext cx="5927714" cy="3383280"/>
            <a:chOff x="990600" y="3048000"/>
            <a:chExt cx="5124450" cy="3124200"/>
          </a:xfrm>
        </p:grpSpPr>
        <p:pic>
          <p:nvPicPr>
            <p:cNvPr id="14" name="Image 14"/>
            <p:cNvPicPr>
              <a:picLocks noChangeAspect="1"/>
            </p:cNvPicPr>
            <p:nvPr/>
          </p:nvPicPr>
          <p:blipFill>
            <a:blip r:embed="rId3"/>
            <a:stretch>
              <a:fillRect/>
            </a:stretch>
          </p:blipFill>
          <p:spPr>
            <a:xfrm>
              <a:off x="990600" y="3048000"/>
              <a:ext cx="5124450" cy="3124200"/>
            </a:xfrm>
            <a:prstGeom prst="rect">
              <a:avLst/>
            </a:prstGeom>
          </p:spPr>
        </p:pic>
      </p:grpSp>
      <p:grpSp>
        <p:nvGrpSpPr>
          <p:cNvPr id="18" name="p16-port-definition"/>
          <p:cNvGrpSpPr/>
          <p:nvPr/>
        </p:nvGrpSpPr>
        <p:grpSpPr>
          <a:xfrm>
            <a:off x="7213589" y="3204592"/>
            <a:ext cx="4044947" cy="2967608"/>
            <a:chOff x="7505700" y="3505200"/>
            <a:chExt cx="4000500" cy="2667000"/>
          </a:xfrm>
        </p:grpSpPr>
        <p:pic>
          <p:nvPicPr>
            <p:cNvPr id="17" name="Image 17"/>
            <p:cNvPicPr>
              <a:picLocks noChangeAspect="1"/>
            </p:cNvPicPr>
            <p:nvPr/>
          </p:nvPicPr>
          <p:blipFill>
            <a:blip r:embed="rId4"/>
            <a:stretch>
              <a:fillRect/>
            </a:stretch>
          </p:blipFill>
          <p:spPr>
            <a:xfrm>
              <a:off x="7505700" y="3505200"/>
              <a:ext cx="4000500" cy="26670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17-header"/>
          <p:cNvGrpSpPr/>
          <p:nvPr/>
        </p:nvGrpSpPr>
        <p:grpSpPr>
          <a:xfrm>
            <a:off x="974598" y="844868"/>
            <a:ext cx="2832507" cy="766688"/>
            <a:chOff x="974598" y="844868"/>
            <a:chExt cx="2832507" cy="766688"/>
          </a:xfrm>
        </p:grpSpPr>
        <p:sp>
          <p:nvSpPr>
            <p:cNvPr id="3" name="TextBox 3"/>
            <p:cNvSpPr txBox="1"/>
            <p:nvPr/>
          </p:nvSpPr>
          <p:spPr>
            <a:xfrm>
              <a:off x="983742" y="844868"/>
              <a:ext cx="692497" cy="207749"/>
            </a:xfrm>
            <a:prstGeom prst="rect">
              <a:avLst/>
            </a:prstGeom>
            <a:noFill/>
            <a:ln>
              <a:noFill/>
            </a:ln>
          </p:spPr>
          <p:txBody>
            <a:bodyPr wrap="none" lIns="0" tIns="0" rIns="0" bIns="0" anchor="t" anchorCtr="0">
              <a:spAutoFit/>
            </a:bodyPr>
            <a:lstStyle/>
            <a:p>
              <a:pPr algn="l"/>
              <a:r>
                <a:rPr lang="zh-CN" altLang="en-US" sz="1350" dirty="0">
                  <a:solidFill>
                    <a:schemeClr val="accent5"/>
                  </a:solidFill>
                </a:rPr>
                <a:t>使用演示</a:t>
              </a:r>
              <a:endParaRPr lang="zh-CN" altLang="zh-CN" sz="1350" dirty="0">
                <a:solidFill>
                  <a:schemeClr val="accent5"/>
                </a:solidFill>
                <a:latin typeface="+mn-lt"/>
                <a:ea typeface="+mn-ea"/>
                <a:cs typeface="+mn-cs"/>
              </a:endParaRPr>
            </a:p>
          </p:txBody>
        </p:sp>
        <p:sp>
          <p:nvSpPr>
            <p:cNvPr id="4" name="TextBox 4"/>
            <p:cNvSpPr txBox="1"/>
            <p:nvPr/>
          </p:nvSpPr>
          <p:spPr>
            <a:xfrm>
              <a:off x="974598" y="1126808"/>
              <a:ext cx="2832507" cy="484748"/>
            </a:xfrm>
            <a:prstGeom prst="rect">
              <a:avLst/>
            </a:prstGeom>
            <a:noFill/>
            <a:ln>
              <a:noFill/>
            </a:ln>
          </p:spPr>
          <p:txBody>
            <a:bodyPr wrap="none" lIns="0" tIns="0" rIns="0" bIns="0" anchor="t" anchorCtr="0">
              <a:spAutoFit/>
            </a:bodyPr>
            <a:lstStyle/>
            <a:p>
              <a:pPr algn="l"/>
              <a:r>
                <a:rPr lang="en-US" altLang="zh-CN" sz="3150" b="1" dirty="0">
                  <a:solidFill>
                    <a:schemeClr val="accent1"/>
                  </a:solidFill>
                  <a:latin typeface="+mj-lt"/>
                  <a:ea typeface="+mj-ea"/>
                  <a:cs typeface="+mj-cs"/>
                </a:rPr>
                <a:t>2. </a:t>
              </a:r>
              <a:r>
                <a:rPr lang="zh-CN" altLang="en-US" sz="3150" b="1" dirty="0">
                  <a:solidFill>
                    <a:schemeClr val="accent1"/>
                  </a:solidFill>
                  <a:latin typeface="+mj-lt"/>
                  <a:ea typeface="+mj-ea"/>
                  <a:cs typeface="+mj-cs"/>
                </a:rPr>
                <a:t>添加</a:t>
              </a:r>
              <a:r>
                <a:rPr lang="zh-CN" sz="3150" b="1" dirty="0">
                  <a:solidFill>
                    <a:schemeClr val="accent1"/>
                  </a:solidFill>
                  <a:latin typeface="+mj-lt"/>
                  <a:ea typeface="+mj-ea"/>
                  <a:cs typeface="+mj-cs"/>
                </a:rPr>
                <a:t>被测对象</a:t>
              </a:r>
            </a:p>
          </p:txBody>
        </p:sp>
      </p:grpSp>
      <p:sp>
        <p:nvSpPr>
          <p:cNvPr id="6" name="Line 6"/>
          <p:cNvSpPr/>
          <p:nvPr/>
        </p:nvSpPr>
        <p:spPr>
          <a:xfrm>
            <a:off x="990600" y="1676400"/>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12" name="p17-prompt"/>
          <p:cNvGrpSpPr/>
          <p:nvPr/>
        </p:nvGrpSpPr>
        <p:grpSpPr>
          <a:xfrm>
            <a:off x="1000038" y="1902142"/>
            <a:ext cx="4210193" cy="531495"/>
            <a:chOff x="1000038" y="1902142"/>
            <a:chExt cx="4210193" cy="531495"/>
          </a:xfrm>
        </p:grpSpPr>
        <p:grpSp>
          <p:nvGrpSpPr>
            <p:cNvPr id="9" name="Group 9"/>
            <p:cNvGrpSpPr/>
            <p:nvPr/>
          </p:nvGrpSpPr>
          <p:grpSpPr>
            <a:xfrm>
              <a:off x="1000038" y="1922775"/>
              <a:ext cx="169156" cy="151293"/>
              <a:chOff x="1000038" y="1922775"/>
              <a:chExt cx="169156" cy="151293"/>
            </a:xfrm>
          </p:grpSpPr>
          <p:sp>
            <p:nvSpPr>
              <p:cNvPr id="7" name="Freeform 7"/>
              <p:cNvSpPr/>
              <p:nvPr/>
            </p:nvSpPr>
            <p:spPr>
              <a:xfrm>
                <a:off x="1000038" y="1922775"/>
                <a:ext cx="84788" cy="135900"/>
              </a:xfrm>
              <a:custGeom>
                <a:avLst/>
                <a:gdLst/>
                <a:ahLst/>
                <a:cxnLst/>
                <a:rect l="l" t="t" r="r" b="b"/>
                <a:pathLst>
                  <a:path w="84788" h="135900">
                    <a:moveTo>
                      <a:pt x="0" y="119062"/>
                    </a:moveTo>
                    <a:lnTo>
                      <a:pt x="51112" y="67950"/>
                    </a:lnTo>
                    <a:lnTo>
                      <a:pt x="0" y="16838"/>
                    </a:lnTo>
                    <a:lnTo>
                      <a:pt x="16838" y="0"/>
                    </a:lnTo>
                    <a:lnTo>
                      <a:pt x="84788" y="67950"/>
                    </a:lnTo>
                    <a:lnTo>
                      <a:pt x="16838" y="135900"/>
                    </a:lnTo>
                    <a:lnTo>
                      <a:pt x="0" y="119062"/>
                    </a:lnTo>
                    <a:close/>
                  </a:path>
                </a:pathLst>
              </a:custGeom>
              <a:solidFill>
                <a:schemeClr val="accent3"/>
              </a:solidFill>
              <a:ln>
                <a:noFill/>
              </a:ln>
            </p:spPr>
          </p:sp>
          <p:sp>
            <p:nvSpPr>
              <p:cNvPr id="8" name="Freeform 8"/>
              <p:cNvSpPr/>
              <p:nvPr/>
            </p:nvSpPr>
            <p:spPr>
              <a:xfrm>
                <a:off x="1073944" y="2050256"/>
                <a:ext cx="95250" cy="23812"/>
              </a:xfrm>
              <a:custGeom>
                <a:avLst/>
                <a:gdLst/>
                <a:ahLst/>
                <a:cxnLst/>
                <a:rect l="l" t="t" r="r" b="b"/>
                <a:pathLst>
                  <a:path w="95250" h="23812">
                    <a:moveTo>
                      <a:pt x="0" y="23812"/>
                    </a:moveTo>
                    <a:lnTo>
                      <a:pt x="95250" y="23812"/>
                    </a:lnTo>
                    <a:lnTo>
                      <a:pt x="95250" y="0"/>
                    </a:lnTo>
                    <a:lnTo>
                      <a:pt x="0" y="0"/>
                    </a:lnTo>
                    <a:lnTo>
                      <a:pt x="0" y="23812"/>
                    </a:lnTo>
                    <a:close/>
                  </a:path>
                </a:pathLst>
              </a:custGeom>
              <a:solidFill>
                <a:schemeClr val="accent3"/>
              </a:solidFill>
              <a:ln>
                <a:noFill/>
              </a:ln>
            </p:spPr>
          </p:sp>
        </p:grpSp>
        <p:sp>
          <p:nvSpPr>
            <p:cNvPr id="10" name="TextBox 10"/>
            <p:cNvSpPr txBox="1"/>
            <p:nvPr/>
          </p:nvSpPr>
          <p:spPr>
            <a:xfrm>
              <a:off x="1250442" y="1902142"/>
              <a:ext cx="558927"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提示词</a:t>
              </a:r>
            </a:p>
          </p:txBody>
        </p:sp>
        <p:sp>
          <p:nvSpPr>
            <p:cNvPr id="11" name="TextBox 11"/>
            <p:cNvSpPr txBox="1"/>
            <p:nvPr/>
          </p:nvSpPr>
          <p:spPr>
            <a:xfrm>
              <a:off x="1212342" y="2197418"/>
              <a:ext cx="3997889" cy="236219"/>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新增一个被测对象</a:t>
              </a:r>
              <a:r>
                <a:rPr lang="en-US" altLang="zh-CN" sz="1350" dirty="0">
                  <a:solidFill>
                    <a:schemeClr val="dk1"/>
                  </a:solidFill>
                </a:rPr>
                <a:t>, </a:t>
              </a:r>
              <a:r>
                <a:rPr lang="zh-CN" sz="1350" dirty="0">
                  <a:solidFill>
                    <a:schemeClr val="dk1"/>
                  </a:solidFill>
                  <a:latin typeface="+mn-lt"/>
                  <a:ea typeface="+mn-ea"/>
                  <a:cs typeface="+mn-cs"/>
                </a:rPr>
                <a:t>根据手册生成端口和引脚定义。</a:t>
              </a:r>
            </a:p>
          </p:txBody>
        </p:sp>
      </p:grpSp>
      <p:sp>
        <p:nvSpPr>
          <p:cNvPr id="13" name="Line 13"/>
          <p:cNvSpPr/>
          <p:nvPr/>
        </p:nvSpPr>
        <p:spPr>
          <a:xfrm flipH="1">
            <a:off x="944881" y="2171700"/>
            <a:ext cx="45719" cy="226694"/>
          </a:xfrm>
          <a:custGeom>
            <a:avLst/>
            <a:gdLst/>
            <a:ahLst/>
            <a:cxnLst/>
            <a:rect l="l" t="t" r="r" b="b"/>
            <a:pathLst>
              <a:path w="9525" h="990600">
                <a:moveTo>
                  <a:pt x="0" y="0"/>
                </a:moveTo>
                <a:lnTo>
                  <a:pt x="0" y="990600"/>
                </a:lnTo>
              </a:path>
            </a:pathLst>
          </a:custGeom>
          <a:noFill/>
          <a:ln w="9525">
            <a:solidFill>
              <a:schemeClr val="accent1"/>
            </a:solidFill>
          </a:ln>
        </p:spPr>
      </p:sp>
      <p:sp>
        <p:nvSpPr>
          <p:cNvPr id="21" name="Line 21"/>
          <p:cNvSpPr/>
          <p:nvPr/>
        </p:nvSpPr>
        <p:spPr>
          <a:xfrm>
            <a:off x="4362450" y="3733800"/>
            <a:ext cx="190500" cy="9525"/>
          </a:xfrm>
          <a:custGeom>
            <a:avLst/>
            <a:gdLst/>
            <a:ahLst/>
            <a:cxnLst/>
            <a:rect l="l" t="t" r="r" b="b"/>
            <a:pathLst>
              <a:path w="190500" h="9525">
                <a:moveTo>
                  <a:pt x="0" y="0"/>
                </a:moveTo>
                <a:lnTo>
                  <a:pt x="190500" y="0"/>
                </a:lnTo>
              </a:path>
            </a:pathLst>
          </a:custGeom>
          <a:noFill/>
          <a:ln w="9525">
            <a:solidFill>
              <a:schemeClr val="accent6"/>
            </a:solidFill>
          </a:ln>
        </p:spPr>
      </p:sp>
      <p:grpSp>
        <p:nvGrpSpPr>
          <p:cNvPr id="26" name="p17-dut-definition"/>
          <p:cNvGrpSpPr/>
          <p:nvPr/>
        </p:nvGrpSpPr>
        <p:grpSpPr>
          <a:xfrm>
            <a:off x="2800350" y="2590800"/>
            <a:ext cx="6896100" cy="4267200"/>
            <a:chOff x="4610100" y="1905000"/>
            <a:chExt cx="6896100" cy="4267200"/>
          </a:xfrm>
        </p:grpSpPr>
        <p:pic>
          <p:nvPicPr>
            <p:cNvPr id="25" name="Image 25"/>
            <p:cNvPicPr>
              <a:picLocks noChangeAspect="1"/>
            </p:cNvPicPr>
            <p:nvPr/>
          </p:nvPicPr>
          <p:blipFill>
            <a:blip r:embed="rId3"/>
            <a:stretch>
              <a:fillRect/>
            </a:stretch>
          </p:blipFill>
          <p:spPr>
            <a:xfrm>
              <a:off x="4610100" y="1905000"/>
              <a:ext cx="6896100" cy="42672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18-header"/>
          <p:cNvGrpSpPr/>
          <p:nvPr/>
        </p:nvGrpSpPr>
        <p:grpSpPr>
          <a:xfrm>
            <a:off x="974598" y="844868"/>
            <a:ext cx="2837315" cy="766688"/>
            <a:chOff x="974598" y="844868"/>
            <a:chExt cx="2837315" cy="766688"/>
          </a:xfrm>
        </p:grpSpPr>
        <p:sp>
          <p:nvSpPr>
            <p:cNvPr id="3" name="TextBox 3"/>
            <p:cNvSpPr txBox="1"/>
            <p:nvPr/>
          </p:nvSpPr>
          <p:spPr>
            <a:xfrm>
              <a:off x="983742" y="844868"/>
              <a:ext cx="692497" cy="207749"/>
            </a:xfrm>
            <a:prstGeom prst="rect">
              <a:avLst/>
            </a:prstGeom>
            <a:noFill/>
            <a:ln>
              <a:noFill/>
            </a:ln>
          </p:spPr>
          <p:txBody>
            <a:bodyPr wrap="none" lIns="0" tIns="0" rIns="0" bIns="0" anchor="t" anchorCtr="0">
              <a:spAutoFit/>
            </a:bodyPr>
            <a:lstStyle/>
            <a:p>
              <a:pPr algn="l"/>
              <a:r>
                <a:rPr lang="zh-CN" altLang="en-US" sz="1350" dirty="0">
                  <a:solidFill>
                    <a:schemeClr val="accent5"/>
                  </a:solidFill>
                  <a:latin typeface="+mn-lt"/>
                  <a:ea typeface="+mn-ea"/>
                  <a:cs typeface="+mn-cs"/>
                </a:rPr>
                <a:t>使用演示</a:t>
              </a:r>
              <a:endParaRPr lang="zh-CN" sz="1350" dirty="0">
                <a:solidFill>
                  <a:schemeClr val="accent5"/>
                </a:solidFill>
                <a:latin typeface="+mn-lt"/>
                <a:ea typeface="+mn-ea"/>
                <a:cs typeface="+mn-cs"/>
              </a:endParaRPr>
            </a:p>
          </p:txBody>
        </p:sp>
        <p:sp>
          <p:nvSpPr>
            <p:cNvPr id="4" name="TextBox 4"/>
            <p:cNvSpPr txBox="1"/>
            <p:nvPr/>
          </p:nvSpPr>
          <p:spPr>
            <a:xfrm>
              <a:off x="974598" y="1126808"/>
              <a:ext cx="2837315" cy="484748"/>
            </a:xfrm>
            <a:prstGeom prst="rect">
              <a:avLst/>
            </a:prstGeom>
            <a:noFill/>
            <a:ln>
              <a:noFill/>
            </a:ln>
          </p:spPr>
          <p:txBody>
            <a:bodyPr wrap="none" lIns="0" tIns="0" rIns="0" bIns="0" anchor="t" anchorCtr="0">
              <a:spAutoFit/>
            </a:bodyPr>
            <a:lstStyle/>
            <a:p>
              <a:pPr algn="l"/>
              <a:r>
                <a:rPr lang="en-US" altLang="zh-CN" sz="3150" b="1" dirty="0">
                  <a:solidFill>
                    <a:schemeClr val="accent1"/>
                  </a:solidFill>
                  <a:latin typeface="+mj-lt"/>
                  <a:ea typeface="+mj-ea"/>
                  <a:cs typeface="+mj-cs"/>
                </a:rPr>
                <a:t>3. </a:t>
              </a:r>
              <a:r>
                <a:rPr lang="zh-CN" altLang="en-US" sz="3150" b="1" dirty="0">
                  <a:solidFill>
                    <a:schemeClr val="accent1"/>
                  </a:solidFill>
                  <a:latin typeface="+mj-lt"/>
                  <a:ea typeface="+mj-ea"/>
                  <a:cs typeface="+mj-cs"/>
                </a:rPr>
                <a:t>生成接线方案</a:t>
              </a:r>
              <a:endParaRPr lang="zh-CN" sz="3150" b="1" dirty="0">
                <a:solidFill>
                  <a:schemeClr val="accent1"/>
                </a:solidFill>
                <a:latin typeface="+mj-lt"/>
                <a:ea typeface="+mj-ea"/>
                <a:cs typeface="+mj-cs"/>
              </a:endParaRPr>
            </a:p>
          </p:txBody>
        </p:sp>
      </p:grpSp>
      <p:sp>
        <p:nvSpPr>
          <p:cNvPr id="6" name="Line 6"/>
          <p:cNvSpPr/>
          <p:nvPr/>
        </p:nvSpPr>
        <p:spPr>
          <a:xfrm>
            <a:off x="990600" y="1676400"/>
            <a:ext cx="10515600" cy="9525"/>
          </a:xfrm>
          <a:custGeom>
            <a:avLst/>
            <a:gdLst/>
            <a:ahLst/>
            <a:cxnLst/>
            <a:rect l="l" t="t" r="r" b="b"/>
            <a:pathLst>
              <a:path w="10515600" h="9525">
                <a:moveTo>
                  <a:pt x="0" y="0"/>
                </a:moveTo>
                <a:lnTo>
                  <a:pt x="10515600" y="0"/>
                </a:lnTo>
              </a:path>
            </a:pathLst>
          </a:custGeom>
          <a:noFill/>
          <a:ln w="9525">
            <a:solidFill>
              <a:schemeClr val="accent6"/>
            </a:solidFill>
          </a:ln>
        </p:spPr>
      </p:sp>
      <p:sp>
        <p:nvSpPr>
          <p:cNvPr id="7" name="Line 7"/>
          <p:cNvSpPr/>
          <p:nvPr/>
        </p:nvSpPr>
        <p:spPr>
          <a:xfrm>
            <a:off x="990600" y="2171700"/>
            <a:ext cx="45719" cy="206619"/>
          </a:xfrm>
          <a:custGeom>
            <a:avLst/>
            <a:gdLst/>
            <a:ahLst/>
            <a:cxnLst/>
            <a:rect l="l" t="t" r="r" b="b"/>
            <a:pathLst>
              <a:path w="9525" h="742950">
                <a:moveTo>
                  <a:pt x="0" y="0"/>
                </a:moveTo>
                <a:lnTo>
                  <a:pt x="0" y="742950"/>
                </a:lnTo>
              </a:path>
            </a:pathLst>
          </a:custGeom>
          <a:noFill/>
          <a:ln w="9525">
            <a:solidFill>
              <a:schemeClr val="accent1"/>
            </a:solidFill>
          </a:ln>
        </p:spPr>
      </p:sp>
      <p:grpSp>
        <p:nvGrpSpPr>
          <p:cNvPr id="13" name="p18-prompt"/>
          <p:cNvGrpSpPr/>
          <p:nvPr/>
        </p:nvGrpSpPr>
        <p:grpSpPr>
          <a:xfrm>
            <a:off x="1000038" y="1902142"/>
            <a:ext cx="4713536" cy="531495"/>
            <a:chOff x="1000038" y="1902142"/>
            <a:chExt cx="4713536" cy="531495"/>
          </a:xfrm>
        </p:grpSpPr>
        <p:grpSp>
          <p:nvGrpSpPr>
            <p:cNvPr id="10" name="Group 10"/>
            <p:cNvGrpSpPr/>
            <p:nvPr/>
          </p:nvGrpSpPr>
          <p:grpSpPr>
            <a:xfrm>
              <a:off x="1000038" y="1922775"/>
              <a:ext cx="169156" cy="151293"/>
              <a:chOff x="1000038" y="1922775"/>
              <a:chExt cx="169156" cy="151293"/>
            </a:xfrm>
          </p:grpSpPr>
          <p:sp>
            <p:nvSpPr>
              <p:cNvPr id="8" name="Freeform 8"/>
              <p:cNvSpPr/>
              <p:nvPr/>
            </p:nvSpPr>
            <p:spPr>
              <a:xfrm>
                <a:off x="1000038" y="1922775"/>
                <a:ext cx="84788" cy="135900"/>
              </a:xfrm>
              <a:custGeom>
                <a:avLst/>
                <a:gdLst/>
                <a:ahLst/>
                <a:cxnLst/>
                <a:rect l="l" t="t" r="r" b="b"/>
                <a:pathLst>
                  <a:path w="84788" h="135900">
                    <a:moveTo>
                      <a:pt x="0" y="119062"/>
                    </a:moveTo>
                    <a:lnTo>
                      <a:pt x="51112" y="67950"/>
                    </a:lnTo>
                    <a:lnTo>
                      <a:pt x="0" y="16838"/>
                    </a:lnTo>
                    <a:lnTo>
                      <a:pt x="16838" y="0"/>
                    </a:lnTo>
                    <a:lnTo>
                      <a:pt x="84788" y="67950"/>
                    </a:lnTo>
                    <a:lnTo>
                      <a:pt x="16838" y="135900"/>
                    </a:lnTo>
                    <a:lnTo>
                      <a:pt x="0" y="119062"/>
                    </a:lnTo>
                    <a:close/>
                  </a:path>
                </a:pathLst>
              </a:custGeom>
              <a:solidFill>
                <a:schemeClr val="accent3"/>
              </a:solidFill>
              <a:ln>
                <a:noFill/>
              </a:ln>
            </p:spPr>
          </p:sp>
          <p:sp>
            <p:nvSpPr>
              <p:cNvPr id="9" name="Freeform 9"/>
              <p:cNvSpPr/>
              <p:nvPr/>
            </p:nvSpPr>
            <p:spPr>
              <a:xfrm>
                <a:off x="1073944" y="2050256"/>
                <a:ext cx="95250" cy="23812"/>
              </a:xfrm>
              <a:custGeom>
                <a:avLst/>
                <a:gdLst/>
                <a:ahLst/>
                <a:cxnLst/>
                <a:rect l="l" t="t" r="r" b="b"/>
                <a:pathLst>
                  <a:path w="95250" h="23812">
                    <a:moveTo>
                      <a:pt x="0" y="23812"/>
                    </a:moveTo>
                    <a:lnTo>
                      <a:pt x="95250" y="23812"/>
                    </a:lnTo>
                    <a:lnTo>
                      <a:pt x="95250" y="0"/>
                    </a:lnTo>
                    <a:lnTo>
                      <a:pt x="0" y="0"/>
                    </a:lnTo>
                    <a:lnTo>
                      <a:pt x="0" y="23812"/>
                    </a:lnTo>
                    <a:close/>
                  </a:path>
                </a:pathLst>
              </a:custGeom>
              <a:solidFill>
                <a:schemeClr val="accent3"/>
              </a:solidFill>
              <a:ln>
                <a:noFill/>
              </a:ln>
            </p:spPr>
          </p:sp>
        </p:grpSp>
        <p:sp>
          <p:nvSpPr>
            <p:cNvPr id="11" name="TextBox 11"/>
            <p:cNvSpPr txBox="1"/>
            <p:nvPr/>
          </p:nvSpPr>
          <p:spPr>
            <a:xfrm>
              <a:off x="1250442" y="1902142"/>
              <a:ext cx="558927"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提示词</a:t>
              </a:r>
            </a:p>
          </p:txBody>
        </p:sp>
        <p:sp>
          <p:nvSpPr>
            <p:cNvPr id="12" name="TextBox 12"/>
            <p:cNvSpPr txBox="1"/>
            <p:nvPr/>
          </p:nvSpPr>
          <p:spPr>
            <a:xfrm>
              <a:off x="1212342" y="2197418"/>
              <a:ext cx="4501232" cy="236219"/>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我要测试这款控制板的模拟采集精度，帮我生成接线方案。</a:t>
              </a:r>
            </a:p>
          </p:txBody>
        </p:sp>
      </p:grpSp>
      <p:grpSp>
        <p:nvGrpSpPr>
          <p:cNvPr id="18" name="p18-plan"/>
          <p:cNvGrpSpPr/>
          <p:nvPr/>
        </p:nvGrpSpPr>
        <p:grpSpPr>
          <a:xfrm>
            <a:off x="741224" y="2570167"/>
            <a:ext cx="6595273" cy="3954671"/>
            <a:chOff x="990600" y="3200400"/>
            <a:chExt cx="4981575" cy="2971800"/>
          </a:xfrm>
        </p:grpSpPr>
        <p:pic>
          <p:nvPicPr>
            <p:cNvPr id="17" name="Image 17"/>
            <p:cNvPicPr>
              <a:picLocks noChangeAspect="1"/>
            </p:cNvPicPr>
            <p:nvPr/>
          </p:nvPicPr>
          <p:blipFill>
            <a:blip r:embed="rId3"/>
            <a:stretch>
              <a:fillRect/>
            </a:stretch>
          </p:blipFill>
          <p:spPr>
            <a:xfrm>
              <a:off x="990600" y="3200400"/>
              <a:ext cx="4981575" cy="2971800"/>
            </a:xfrm>
            <a:prstGeom prst="rect">
              <a:avLst/>
            </a:prstGeom>
          </p:spPr>
        </p:pic>
      </p:grpSp>
      <p:grpSp>
        <p:nvGrpSpPr>
          <p:cNvPr id="23" name="p18-handover"/>
          <p:cNvGrpSpPr/>
          <p:nvPr/>
        </p:nvGrpSpPr>
        <p:grpSpPr>
          <a:xfrm>
            <a:off x="7749161" y="2919037"/>
            <a:ext cx="692497" cy="2971800"/>
            <a:chOff x="7273754" y="3200400"/>
            <a:chExt cx="692497" cy="2971800"/>
          </a:xfrm>
        </p:grpSpPr>
        <p:sp>
          <p:nvSpPr>
            <p:cNvPr id="19" name="Line 19"/>
            <p:cNvSpPr/>
            <p:nvPr/>
          </p:nvSpPr>
          <p:spPr>
            <a:xfrm>
              <a:off x="7620000" y="3200400"/>
              <a:ext cx="9525" cy="1276350"/>
            </a:xfrm>
            <a:custGeom>
              <a:avLst/>
              <a:gdLst/>
              <a:ahLst/>
              <a:cxnLst/>
              <a:rect l="l" t="t" r="r" b="b"/>
              <a:pathLst>
                <a:path w="9525" h="1276350">
                  <a:moveTo>
                    <a:pt x="0" y="0"/>
                  </a:moveTo>
                  <a:lnTo>
                    <a:pt x="0" y="1276350"/>
                  </a:lnTo>
                </a:path>
              </a:pathLst>
            </a:custGeom>
            <a:noFill/>
            <a:ln w="9525">
              <a:solidFill>
                <a:schemeClr val="accent6"/>
              </a:solidFill>
            </a:ln>
          </p:spPr>
        </p:sp>
        <p:sp>
          <p:nvSpPr>
            <p:cNvPr id="20" name="Freeform 20"/>
            <p:cNvSpPr/>
            <p:nvPr/>
          </p:nvSpPr>
          <p:spPr>
            <a:xfrm>
              <a:off x="7487305" y="4552950"/>
              <a:ext cx="249376" cy="266700"/>
            </a:xfrm>
            <a:custGeom>
              <a:avLst/>
              <a:gdLst/>
              <a:ahLst/>
              <a:cxnLst/>
              <a:rect l="l" t="t" r="r" b="b"/>
              <a:pathLst>
                <a:path w="249376" h="266700">
                  <a:moveTo>
                    <a:pt x="0" y="169366"/>
                  </a:moveTo>
                  <a:lnTo>
                    <a:pt x="65846" y="235211"/>
                  </a:lnTo>
                  <a:cubicBezTo>
                    <a:pt x="86007" y="255374"/>
                    <a:pt x="113353" y="266700"/>
                    <a:pt x="141866" y="266700"/>
                  </a:cubicBezTo>
                  <a:cubicBezTo>
                    <a:pt x="201242" y="266700"/>
                    <a:pt x="249376" y="218567"/>
                    <a:pt x="249376" y="159191"/>
                  </a:cubicBezTo>
                  <a:lnTo>
                    <a:pt x="249376" y="33338"/>
                  </a:lnTo>
                  <a:lnTo>
                    <a:pt x="216039" y="33338"/>
                  </a:lnTo>
                  <a:lnTo>
                    <a:pt x="216039" y="100012"/>
                  </a:lnTo>
                  <a:lnTo>
                    <a:pt x="182701" y="100012"/>
                  </a:lnTo>
                  <a:lnTo>
                    <a:pt x="182701" y="0"/>
                  </a:lnTo>
                  <a:lnTo>
                    <a:pt x="149364" y="0"/>
                  </a:lnTo>
                  <a:lnTo>
                    <a:pt x="149364" y="100012"/>
                  </a:lnTo>
                  <a:lnTo>
                    <a:pt x="116026" y="100012"/>
                  </a:lnTo>
                  <a:lnTo>
                    <a:pt x="116026" y="16669"/>
                  </a:lnTo>
                  <a:lnTo>
                    <a:pt x="82689" y="16669"/>
                  </a:lnTo>
                  <a:lnTo>
                    <a:pt x="82688" y="181334"/>
                  </a:lnTo>
                  <a:lnTo>
                    <a:pt x="35360" y="134006"/>
                  </a:lnTo>
                  <a:lnTo>
                    <a:pt x="0" y="169366"/>
                  </a:lnTo>
                  <a:close/>
                </a:path>
              </a:pathLst>
            </a:custGeom>
            <a:solidFill>
              <a:schemeClr val="accent2"/>
            </a:solidFill>
            <a:ln>
              <a:noFill/>
            </a:ln>
          </p:spPr>
        </p:sp>
        <p:sp>
          <p:nvSpPr>
            <p:cNvPr id="21" name="TextBox 21"/>
            <p:cNvSpPr txBox="1"/>
            <p:nvPr/>
          </p:nvSpPr>
          <p:spPr>
            <a:xfrm>
              <a:off x="7273754" y="4902518"/>
              <a:ext cx="692497" cy="415498"/>
            </a:xfrm>
            <a:prstGeom prst="rect">
              <a:avLst/>
            </a:prstGeom>
            <a:noFill/>
            <a:ln>
              <a:noFill/>
            </a:ln>
          </p:spPr>
          <p:txBody>
            <a:bodyPr wrap="none" lIns="0" tIns="0" rIns="0" bIns="0" anchor="t" anchorCtr="0">
              <a:spAutoFit/>
            </a:bodyPr>
            <a:lstStyle/>
            <a:p>
              <a:pPr algn="ctr"/>
              <a:r>
                <a:rPr lang="zh-CN" altLang="en-US" sz="1350" b="1" dirty="0">
                  <a:solidFill>
                    <a:schemeClr val="accent2"/>
                  </a:solidFill>
                </a:rPr>
                <a:t>按照指示</a:t>
              </a:r>
              <a:br>
                <a:rPr lang="en-US" altLang="zh-CN" sz="1350" b="1" dirty="0">
                  <a:solidFill>
                    <a:schemeClr val="accent2"/>
                  </a:solidFill>
                </a:rPr>
              </a:br>
              <a:r>
                <a:rPr lang="zh-CN" altLang="en-US" sz="1350" b="1" dirty="0">
                  <a:solidFill>
                    <a:schemeClr val="accent2"/>
                  </a:solidFill>
                </a:rPr>
                <a:t>手动接线</a:t>
              </a:r>
              <a:endParaRPr lang="zh-CN" sz="1350" b="1" dirty="0">
                <a:solidFill>
                  <a:schemeClr val="accent2"/>
                </a:solidFill>
                <a:latin typeface="+mn-lt"/>
                <a:ea typeface="+mn-ea"/>
                <a:cs typeface="+mn-cs"/>
              </a:endParaRPr>
            </a:p>
          </p:txBody>
        </p:sp>
        <p:sp>
          <p:nvSpPr>
            <p:cNvPr id="22" name="Line 22"/>
            <p:cNvSpPr/>
            <p:nvPr/>
          </p:nvSpPr>
          <p:spPr>
            <a:xfrm>
              <a:off x="7620000" y="5200650"/>
              <a:ext cx="9525" cy="971550"/>
            </a:xfrm>
            <a:custGeom>
              <a:avLst/>
              <a:gdLst/>
              <a:ahLst/>
              <a:cxnLst/>
              <a:rect l="l" t="t" r="r" b="b"/>
              <a:pathLst>
                <a:path w="9525" h="971550">
                  <a:moveTo>
                    <a:pt x="0" y="0"/>
                  </a:moveTo>
                  <a:lnTo>
                    <a:pt x="0" y="971550"/>
                  </a:lnTo>
                </a:path>
              </a:pathLst>
            </a:custGeom>
            <a:noFill/>
            <a:ln w="9525">
              <a:solidFill>
                <a:schemeClr val="accent6"/>
              </a:solidFill>
            </a:ln>
          </p:spPr>
        </p:sp>
      </p:grpSp>
      <p:grpSp>
        <p:nvGrpSpPr>
          <p:cNvPr id="25" name="p18-station"/>
          <p:cNvGrpSpPr/>
          <p:nvPr/>
        </p:nvGrpSpPr>
        <p:grpSpPr>
          <a:xfrm>
            <a:off x="8896932" y="2579691"/>
            <a:ext cx="3082735" cy="3954671"/>
            <a:chOff x="9277350" y="3200400"/>
            <a:chExt cx="2228850" cy="2971800"/>
          </a:xfrm>
        </p:grpSpPr>
        <p:pic>
          <p:nvPicPr>
            <p:cNvPr id="24" name="Image 24"/>
            <p:cNvPicPr>
              <a:picLocks noChangeAspect="1"/>
            </p:cNvPicPr>
            <p:nvPr/>
          </p:nvPicPr>
          <p:blipFill>
            <a:blip r:embed="rId4"/>
            <a:stretch>
              <a:fillRect/>
            </a:stretch>
          </p:blipFill>
          <p:spPr>
            <a:xfrm>
              <a:off x="9277350" y="3200400"/>
              <a:ext cx="2228850" cy="297180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19-header"/>
          <p:cNvGrpSpPr/>
          <p:nvPr/>
        </p:nvGrpSpPr>
        <p:grpSpPr>
          <a:xfrm>
            <a:off x="974598" y="844868"/>
            <a:ext cx="2853345" cy="750658"/>
            <a:chOff x="974598" y="844868"/>
            <a:chExt cx="2853345" cy="750658"/>
          </a:xfrm>
        </p:grpSpPr>
        <p:sp>
          <p:nvSpPr>
            <p:cNvPr id="3" name="TextBox 3"/>
            <p:cNvSpPr txBox="1"/>
            <p:nvPr/>
          </p:nvSpPr>
          <p:spPr>
            <a:xfrm>
              <a:off x="983742" y="844868"/>
              <a:ext cx="692497" cy="207749"/>
            </a:xfrm>
            <a:prstGeom prst="rect">
              <a:avLst/>
            </a:prstGeom>
            <a:noFill/>
            <a:ln>
              <a:noFill/>
            </a:ln>
          </p:spPr>
          <p:txBody>
            <a:bodyPr wrap="none" lIns="0" tIns="0" rIns="0" bIns="0" anchor="t" anchorCtr="0">
              <a:spAutoFit/>
            </a:bodyPr>
            <a:lstStyle/>
            <a:p>
              <a:pPr algn="l"/>
              <a:r>
                <a:rPr lang="zh-CN" altLang="en-US" sz="1350" dirty="0">
                  <a:solidFill>
                    <a:schemeClr val="accent5"/>
                  </a:solidFill>
                </a:rPr>
                <a:t>使用演示</a:t>
              </a:r>
              <a:endParaRPr lang="zh-CN" sz="1350" dirty="0">
                <a:solidFill>
                  <a:schemeClr val="accent5"/>
                </a:solidFill>
                <a:latin typeface="+mn-lt"/>
                <a:ea typeface="+mn-ea"/>
                <a:cs typeface="+mn-cs"/>
              </a:endParaRPr>
            </a:p>
          </p:txBody>
        </p:sp>
        <p:sp>
          <p:nvSpPr>
            <p:cNvPr id="4" name="TextBox 4"/>
            <p:cNvSpPr txBox="1"/>
            <p:nvPr/>
          </p:nvSpPr>
          <p:spPr>
            <a:xfrm>
              <a:off x="974598" y="1126808"/>
              <a:ext cx="2853345" cy="468718"/>
            </a:xfrm>
            <a:prstGeom prst="rect">
              <a:avLst/>
            </a:prstGeom>
            <a:noFill/>
            <a:ln>
              <a:noFill/>
            </a:ln>
          </p:spPr>
          <p:txBody>
            <a:bodyPr wrap="none" lIns="0" tIns="0" rIns="0" bIns="0" anchor="t" anchorCtr="0">
              <a:spAutoFit/>
            </a:bodyPr>
            <a:lstStyle/>
            <a:p>
              <a:pPr algn="l">
                <a:lnSpc>
                  <a:spcPts val="3900"/>
                </a:lnSpc>
              </a:pPr>
              <a:r>
                <a:rPr lang="en-US" altLang="zh-CN" sz="3150" b="1" dirty="0">
                  <a:solidFill>
                    <a:schemeClr val="accent1"/>
                  </a:solidFill>
                  <a:latin typeface="+mj-lt"/>
                  <a:ea typeface="+mj-ea"/>
                  <a:cs typeface="+mj-cs"/>
                </a:rPr>
                <a:t>4. </a:t>
              </a:r>
              <a:r>
                <a:rPr lang="zh-CN" altLang="en-US" sz="3150" b="1" dirty="0">
                  <a:solidFill>
                    <a:schemeClr val="accent1"/>
                  </a:solidFill>
                  <a:latin typeface="+mj-lt"/>
                  <a:ea typeface="+mj-ea"/>
                  <a:cs typeface="+mj-cs"/>
                </a:rPr>
                <a:t>编排测试流程</a:t>
              </a:r>
              <a:endParaRPr lang="zh-CN" sz="3150" b="1" dirty="0">
                <a:solidFill>
                  <a:schemeClr val="accent1"/>
                </a:solidFill>
                <a:latin typeface="+mj-lt"/>
                <a:ea typeface="+mj-ea"/>
                <a:cs typeface="+mj-cs"/>
              </a:endParaRPr>
            </a:p>
          </p:txBody>
        </p:sp>
      </p:grpSp>
      <p:sp>
        <p:nvSpPr>
          <p:cNvPr id="6" name="Line 6"/>
          <p:cNvSpPr/>
          <p:nvPr/>
        </p:nvSpPr>
        <p:spPr>
          <a:xfrm>
            <a:off x="983742" y="1696914"/>
            <a:ext cx="10515600" cy="9525"/>
          </a:xfrm>
          <a:custGeom>
            <a:avLst/>
            <a:gdLst/>
            <a:ahLst/>
            <a:cxnLst/>
            <a:rect l="l" t="t" r="r" b="b"/>
            <a:pathLst>
              <a:path w="10515600" h="9525">
                <a:moveTo>
                  <a:pt x="0" y="0"/>
                </a:moveTo>
                <a:lnTo>
                  <a:pt x="10515600" y="0"/>
                </a:lnTo>
              </a:path>
            </a:pathLst>
          </a:custGeom>
          <a:noFill/>
          <a:ln w="9525">
            <a:solidFill>
              <a:schemeClr val="accent6"/>
            </a:solidFill>
          </a:ln>
        </p:spPr>
      </p:sp>
      <p:sp>
        <p:nvSpPr>
          <p:cNvPr id="7" name="Line 7"/>
          <p:cNvSpPr/>
          <p:nvPr/>
        </p:nvSpPr>
        <p:spPr>
          <a:xfrm>
            <a:off x="981162" y="2195407"/>
            <a:ext cx="9525" cy="476250"/>
          </a:xfrm>
          <a:custGeom>
            <a:avLst/>
            <a:gdLst/>
            <a:ahLst/>
            <a:cxnLst/>
            <a:rect l="l" t="t" r="r" b="b"/>
            <a:pathLst>
              <a:path w="9525" h="476250">
                <a:moveTo>
                  <a:pt x="0" y="0"/>
                </a:moveTo>
                <a:lnTo>
                  <a:pt x="0" y="476250"/>
                </a:lnTo>
              </a:path>
            </a:pathLst>
          </a:custGeom>
          <a:noFill/>
          <a:ln w="9525">
            <a:solidFill>
              <a:schemeClr val="accent1"/>
            </a:solidFill>
          </a:ln>
        </p:spPr>
      </p:sp>
      <p:grpSp>
        <p:nvGrpSpPr>
          <p:cNvPr id="13" name="p19-prompt"/>
          <p:cNvGrpSpPr/>
          <p:nvPr/>
        </p:nvGrpSpPr>
        <p:grpSpPr>
          <a:xfrm>
            <a:off x="990600" y="1925849"/>
            <a:ext cx="8781375" cy="806959"/>
            <a:chOff x="1000038" y="2435542"/>
            <a:chExt cx="8781375" cy="806959"/>
          </a:xfrm>
        </p:grpSpPr>
        <p:grpSp>
          <p:nvGrpSpPr>
            <p:cNvPr id="10" name="Group 10"/>
            <p:cNvGrpSpPr/>
            <p:nvPr/>
          </p:nvGrpSpPr>
          <p:grpSpPr>
            <a:xfrm>
              <a:off x="1000038" y="2456175"/>
              <a:ext cx="169156" cy="151293"/>
              <a:chOff x="1000038" y="2456175"/>
              <a:chExt cx="169156" cy="151293"/>
            </a:xfrm>
          </p:grpSpPr>
          <p:sp>
            <p:nvSpPr>
              <p:cNvPr id="8" name="Freeform 8"/>
              <p:cNvSpPr/>
              <p:nvPr/>
            </p:nvSpPr>
            <p:spPr>
              <a:xfrm>
                <a:off x="1000038" y="2456175"/>
                <a:ext cx="84788" cy="135900"/>
              </a:xfrm>
              <a:custGeom>
                <a:avLst/>
                <a:gdLst/>
                <a:ahLst/>
                <a:cxnLst/>
                <a:rect l="l" t="t" r="r" b="b"/>
                <a:pathLst>
                  <a:path w="84788" h="135900">
                    <a:moveTo>
                      <a:pt x="0" y="119062"/>
                    </a:moveTo>
                    <a:lnTo>
                      <a:pt x="51112" y="67950"/>
                    </a:lnTo>
                    <a:lnTo>
                      <a:pt x="0" y="16838"/>
                    </a:lnTo>
                    <a:lnTo>
                      <a:pt x="16838" y="0"/>
                    </a:lnTo>
                    <a:lnTo>
                      <a:pt x="84788" y="67950"/>
                    </a:lnTo>
                    <a:lnTo>
                      <a:pt x="16838" y="135900"/>
                    </a:lnTo>
                    <a:lnTo>
                      <a:pt x="0" y="119062"/>
                    </a:lnTo>
                    <a:close/>
                  </a:path>
                </a:pathLst>
              </a:custGeom>
              <a:solidFill>
                <a:schemeClr val="accent3"/>
              </a:solidFill>
              <a:ln>
                <a:noFill/>
              </a:ln>
            </p:spPr>
          </p:sp>
          <p:sp>
            <p:nvSpPr>
              <p:cNvPr id="9" name="Freeform 9"/>
              <p:cNvSpPr/>
              <p:nvPr/>
            </p:nvSpPr>
            <p:spPr>
              <a:xfrm>
                <a:off x="1073944" y="2583656"/>
                <a:ext cx="95250" cy="23812"/>
              </a:xfrm>
              <a:custGeom>
                <a:avLst/>
                <a:gdLst/>
                <a:ahLst/>
                <a:cxnLst/>
                <a:rect l="l" t="t" r="r" b="b"/>
                <a:pathLst>
                  <a:path w="95250" h="23812">
                    <a:moveTo>
                      <a:pt x="0" y="23812"/>
                    </a:moveTo>
                    <a:lnTo>
                      <a:pt x="95250" y="23812"/>
                    </a:lnTo>
                    <a:lnTo>
                      <a:pt x="95250" y="0"/>
                    </a:lnTo>
                    <a:lnTo>
                      <a:pt x="0" y="0"/>
                    </a:lnTo>
                    <a:lnTo>
                      <a:pt x="0" y="23812"/>
                    </a:lnTo>
                    <a:close/>
                  </a:path>
                </a:pathLst>
              </a:custGeom>
              <a:solidFill>
                <a:schemeClr val="accent3"/>
              </a:solidFill>
              <a:ln>
                <a:noFill/>
              </a:ln>
            </p:spPr>
          </p:sp>
        </p:grpSp>
        <p:sp>
          <p:nvSpPr>
            <p:cNvPr id="11" name="TextBox 11"/>
            <p:cNvSpPr txBox="1"/>
            <p:nvPr/>
          </p:nvSpPr>
          <p:spPr>
            <a:xfrm>
              <a:off x="1250442" y="2435542"/>
              <a:ext cx="558927"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提示词</a:t>
              </a:r>
            </a:p>
          </p:txBody>
        </p:sp>
        <p:sp>
          <p:nvSpPr>
            <p:cNvPr id="12" name="TextBox 12"/>
            <p:cNvSpPr txBox="1"/>
            <p:nvPr/>
          </p:nvSpPr>
          <p:spPr>
            <a:xfrm>
              <a:off x="1212342" y="2730818"/>
              <a:ext cx="856907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编写一个测试流程：先用 FireDAP 烧录最新固件并回读校验，然后 PCI-6208V 依次输出 0V / 1.65V / 3.3V</a:t>
              </a:r>
              <a:br/>
              <a:r>
                <a:rPr lang="zh-CN" sz="1350" dirty="0">
                  <a:solidFill>
                    <a:schemeClr val="dk1"/>
                  </a:solidFill>
                  <a:latin typeface="+mn-lt"/>
                  <a:ea typeface="+mn-ea"/>
                  <a:cs typeface="+mn-cs"/>
                </a:rPr>
                <a:t>到采集通道，每次等待 100ms 后通过 CP-118U-I 读取采集值，判定误差在 ±1% 以内，全部通过才算 Pass。</a:t>
              </a:r>
            </a:p>
          </p:txBody>
        </p:sp>
      </p:grpSp>
      <p:grpSp>
        <p:nvGrpSpPr>
          <p:cNvPr id="16" name="p19-plan"/>
          <p:cNvGrpSpPr/>
          <p:nvPr/>
        </p:nvGrpSpPr>
        <p:grpSpPr>
          <a:xfrm>
            <a:off x="990686" y="2811485"/>
            <a:ext cx="5177791" cy="3360715"/>
            <a:chOff x="983742" y="3505200"/>
            <a:chExt cx="3454908" cy="2442401"/>
          </a:xfrm>
        </p:grpSpPr>
        <p:pic>
          <p:nvPicPr>
            <p:cNvPr id="14" name="Image 14"/>
            <p:cNvPicPr>
              <a:picLocks noChangeAspect="1"/>
            </p:cNvPicPr>
            <p:nvPr/>
          </p:nvPicPr>
          <p:blipFill>
            <a:blip r:embed="rId3"/>
            <a:stretch>
              <a:fillRect/>
            </a:stretch>
          </p:blipFill>
          <p:spPr>
            <a:xfrm>
              <a:off x="990600" y="3505200"/>
              <a:ext cx="3448050" cy="2057400"/>
            </a:xfrm>
            <a:prstGeom prst="rect">
              <a:avLst/>
            </a:prstGeom>
          </p:spPr>
        </p:pic>
        <p:sp>
          <p:nvSpPr>
            <p:cNvPr id="15" name="TextBox 15"/>
            <p:cNvSpPr txBox="1"/>
            <p:nvPr/>
          </p:nvSpPr>
          <p:spPr>
            <a:xfrm>
              <a:off x="983742" y="5683568"/>
              <a:ext cx="313050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测试方案 · 准备 6 步 / 测试 22 步</a:t>
              </a:r>
            </a:p>
          </p:txBody>
        </p:sp>
      </p:grpSp>
      <p:grpSp>
        <p:nvGrpSpPr>
          <p:cNvPr id="19" name="p19-result"/>
          <p:cNvGrpSpPr/>
          <p:nvPr/>
        </p:nvGrpSpPr>
        <p:grpSpPr>
          <a:xfrm>
            <a:off x="6317066" y="2811485"/>
            <a:ext cx="4596357" cy="3360715"/>
            <a:chOff x="4812792" y="3505200"/>
            <a:chExt cx="3454908" cy="2442401"/>
          </a:xfrm>
        </p:grpSpPr>
        <p:pic>
          <p:nvPicPr>
            <p:cNvPr id="17" name="Image 17"/>
            <p:cNvPicPr>
              <a:picLocks noChangeAspect="1"/>
            </p:cNvPicPr>
            <p:nvPr/>
          </p:nvPicPr>
          <p:blipFill>
            <a:blip r:embed="rId4"/>
            <a:stretch>
              <a:fillRect/>
            </a:stretch>
          </p:blipFill>
          <p:spPr>
            <a:xfrm>
              <a:off x="4819650" y="3505200"/>
              <a:ext cx="3448050" cy="2057400"/>
            </a:xfrm>
            <a:prstGeom prst="rect">
              <a:avLst/>
            </a:prstGeom>
          </p:spPr>
        </p:pic>
        <p:sp>
          <p:nvSpPr>
            <p:cNvPr id="18" name="TextBox 18"/>
            <p:cNvSpPr txBox="1"/>
            <p:nvPr/>
          </p:nvSpPr>
          <p:spPr>
            <a:xfrm>
              <a:off x="4812792" y="5683568"/>
              <a:ext cx="164934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运行结果与历史记录</a:t>
              </a:r>
            </a:p>
          </p:txBody>
        </p:sp>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Line 2"/>
          <p:cNvSpPr/>
          <p:nvPr/>
        </p:nvSpPr>
        <p:spPr>
          <a:xfrm>
            <a:off x="685800" y="685800"/>
            <a:ext cx="9525" cy="5486400"/>
          </a:xfrm>
          <a:custGeom>
            <a:avLst/>
            <a:gdLst/>
            <a:ahLst/>
            <a:cxnLst/>
            <a:rect l="l" t="t" r="r" b="b"/>
            <a:pathLst>
              <a:path w="9525" h="5486400">
                <a:moveTo>
                  <a:pt x="0" y="0"/>
                </a:moveTo>
                <a:lnTo>
                  <a:pt x="0" y="5486400"/>
                </a:lnTo>
              </a:path>
            </a:pathLst>
          </a:custGeom>
          <a:noFill/>
          <a:ln w="9525">
            <a:solidFill>
              <a:schemeClr val="accent6"/>
            </a:solidFill>
          </a:ln>
        </p:spPr>
      </p:sp>
      <p:grpSp>
        <p:nvGrpSpPr>
          <p:cNvPr id="5" name="p20-header"/>
          <p:cNvGrpSpPr/>
          <p:nvPr/>
        </p:nvGrpSpPr>
        <p:grpSpPr>
          <a:xfrm>
            <a:off x="974598" y="844868"/>
            <a:ext cx="5900654" cy="766688"/>
            <a:chOff x="974598" y="844868"/>
            <a:chExt cx="5900654" cy="766688"/>
          </a:xfrm>
        </p:grpSpPr>
        <p:sp>
          <p:nvSpPr>
            <p:cNvPr id="3" name="TextBox 3"/>
            <p:cNvSpPr txBox="1"/>
            <p:nvPr/>
          </p:nvSpPr>
          <p:spPr>
            <a:xfrm>
              <a:off x="983742" y="844868"/>
              <a:ext cx="92240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从这里往前</a:t>
              </a:r>
            </a:p>
          </p:txBody>
        </p:sp>
        <p:sp>
          <p:nvSpPr>
            <p:cNvPr id="4" name="TextBox 4"/>
            <p:cNvSpPr txBox="1"/>
            <p:nvPr/>
          </p:nvSpPr>
          <p:spPr>
            <a:xfrm>
              <a:off x="974598" y="1126808"/>
              <a:ext cx="5900654" cy="484748"/>
            </a:xfrm>
            <a:prstGeom prst="rect">
              <a:avLst/>
            </a:prstGeom>
            <a:noFill/>
            <a:ln>
              <a:noFill/>
            </a:ln>
          </p:spPr>
          <p:txBody>
            <a:bodyPr wrap="none" lIns="0" tIns="0" rIns="0" bIns="0" anchor="t" anchorCtr="0">
              <a:spAutoFit/>
            </a:bodyPr>
            <a:lstStyle/>
            <a:p>
              <a:pPr algn="l"/>
              <a:r>
                <a:rPr lang="en-US" altLang="zh-CN" sz="3150" b="1" dirty="0">
                  <a:solidFill>
                    <a:schemeClr val="accent1"/>
                  </a:solidFill>
                  <a:latin typeface="+mj-lt"/>
                  <a:ea typeface="+mj-ea"/>
                  <a:cs typeface="+mj-cs"/>
                </a:rPr>
                <a:t>Agent</a:t>
              </a:r>
              <a:r>
                <a:rPr lang="zh-CN" sz="3150" b="1" dirty="0">
                  <a:solidFill>
                    <a:schemeClr val="accent1"/>
                  </a:solidFill>
                  <a:latin typeface="+mj-lt"/>
                  <a:ea typeface="+mj-ea"/>
                  <a:cs typeface="+mj-cs"/>
                </a:rPr>
                <a:t>不变，换工具箱就换了领域</a:t>
              </a:r>
            </a:p>
          </p:txBody>
        </p:sp>
      </p:grpSp>
      <p:sp>
        <p:nvSpPr>
          <p:cNvPr id="6" name="Line 6"/>
          <p:cNvSpPr/>
          <p:nvPr/>
        </p:nvSpPr>
        <p:spPr>
          <a:xfrm>
            <a:off x="990600" y="1676400"/>
            <a:ext cx="10515600" cy="9525"/>
          </a:xfrm>
          <a:custGeom>
            <a:avLst/>
            <a:gdLst/>
            <a:ahLst/>
            <a:cxnLst/>
            <a:rect l="l" t="t" r="r" b="b"/>
            <a:pathLst>
              <a:path w="10515600" h="9525">
                <a:moveTo>
                  <a:pt x="0" y="0"/>
                </a:moveTo>
                <a:lnTo>
                  <a:pt x="10515600" y="0"/>
                </a:lnTo>
              </a:path>
            </a:pathLst>
          </a:custGeom>
          <a:noFill/>
          <a:ln w="9525">
            <a:solidFill>
              <a:schemeClr val="accent6"/>
            </a:solidFill>
          </a:ln>
        </p:spPr>
      </p:sp>
      <p:grpSp>
        <p:nvGrpSpPr>
          <p:cNvPr id="13" name="p20-item-test"/>
          <p:cNvGrpSpPr/>
          <p:nvPr/>
        </p:nvGrpSpPr>
        <p:grpSpPr>
          <a:xfrm>
            <a:off x="974598" y="2211512"/>
            <a:ext cx="4009282" cy="518351"/>
            <a:chOff x="990600" y="2609850"/>
            <a:chExt cx="4009282" cy="518351"/>
          </a:xfrm>
        </p:grpSpPr>
        <p:sp>
          <p:nvSpPr>
            <p:cNvPr id="10" name="Freeform 10"/>
            <p:cNvSpPr/>
            <p:nvPr/>
          </p:nvSpPr>
          <p:spPr>
            <a:xfrm>
              <a:off x="990600" y="2609850"/>
              <a:ext cx="190500" cy="190500"/>
            </a:xfrm>
            <a:custGeom>
              <a:avLst/>
              <a:gdLst/>
              <a:ahLst/>
              <a:cxnLst/>
              <a:rect l="l" t="t" r="r" b="b"/>
              <a:pathLst>
                <a:path w="190500" h="190500">
                  <a:moveTo>
                    <a:pt x="174502" y="62423"/>
                  </a:moveTo>
                  <a:cubicBezTo>
                    <a:pt x="184241" y="70051"/>
                    <a:pt x="190500" y="81920"/>
                    <a:pt x="190500" y="95250"/>
                  </a:cubicBezTo>
                  <a:cubicBezTo>
                    <a:pt x="190500" y="108581"/>
                    <a:pt x="184241" y="120450"/>
                    <a:pt x="174500" y="128078"/>
                  </a:cubicBezTo>
                  <a:cubicBezTo>
                    <a:pt x="175993" y="140358"/>
                    <a:pt x="172027" y="153176"/>
                    <a:pt x="162601" y="162602"/>
                  </a:cubicBezTo>
                  <a:cubicBezTo>
                    <a:pt x="153175" y="172029"/>
                    <a:pt x="140357" y="175995"/>
                    <a:pt x="128077" y="174502"/>
                  </a:cubicBezTo>
                  <a:cubicBezTo>
                    <a:pt x="120448" y="184241"/>
                    <a:pt x="108580" y="190500"/>
                    <a:pt x="95250" y="190500"/>
                  </a:cubicBezTo>
                  <a:cubicBezTo>
                    <a:pt x="81920" y="190500"/>
                    <a:pt x="70051" y="184241"/>
                    <a:pt x="62423" y="174500"/>
                  </a:cubicBezTo>
                  <a:cubicBezTo>
                    <a:pt x="50142" y="175995"/>
                    <a:pt x="37324" y="172027"/>
                    <a:pt x="27898" y="162601"/>
                  </a:cubicBezTo>
                  <a:cubicBezTo>
                    <a:pt x="18472" y="153176"/>
                    <a:pt x="14505" y="140358"/>
                    <a:pt x="15999" y="128077"/>
                  </a:cubicBezTo>
                  <a:cubicBezTo>
                    <a:pt x="6259" y="120448"/>
                    <a:pt x="0" y="108580"/>
                    <a:pt x="0" y="95250"/>
                  </a:cubicBezTo>
                  <a:cubicBezTo>
                    <a:pt x="0" y="81920"/>
                    <a:pt x="6259" y="70051"/>
                    <a:pt x="15999" y="62423"/>
                  </a:cubicBezTo>
                  <a:cubicBezTo>
                    <a:pt x="14506" y="50142"/>
                    <a:pt x="18472" y="37324"/>
                    <a:pt x="27898" y="27898"/>
                  </a:cubicBezTo>
                  <a:cubicBezTo>
                    <a:pt x="37324" y="18472"/>
                    <a:pt x="50143" y="14505"/>
                    <a:pt x="62423" y="15999"/>
                  </a:cubicBezTo>
                  <a:cubicBezTo>
                    <a:pt x="70051" y="6259"/>
                    <a:pt x="81920" y="0"/>
                    <a:pt x="95250" y="0"/>
                  </a:cubicBezTo>
                  <a:cubicBezTo>
                    <a:pt x="108581" y="0"/>
                    <a:pt x="120450" y="6259"/>
                    <a:pt x="128078" y="16000"/>
                  </a:cubicBezTo>
                  <a:cubicBezTo>
                    <a:pt x="140358" y="14506"/>
                    <a:pt x="153176" y="18473"/>
                    <a:pt x="162602" y="27899"/>
                  </a:cubicBezTo>
                  <a:cubicBezTo>
                    <a:pt x="172029" y="37325"/>
                    <a:pt x="175995" y="50143"/>
                    <a:pt x="174502" y="62423"/>
                  </a:cubicBezTo>
                  <a:close/>
                  <a:moveTo>
                    <a:pt x="145341" y="73903"/>
                  </a:moveTo>
                  <a:lnTo>
                    <a:pt x="128503" y="57065"/>
                  </a:lnTo>
                  <a:lnTo>
                    <a:pt x="83344" y="102225"/>
                  </a:lnTo>
                  <a:lnTo>
                    <a:pt x="61997" y="80878"/>
                  </a:lnTo>
                  <a:lnTo>
                    <a:pt x="45159" y="97716"/>
                  </a:lnTo>
                  <a:lnTo>
                    <a:pt x="83344" y="135900"/>
                  </a:lnTo>
                  <a:lnTo>
                    <a:pt x="145341" y="73903"/>
                  </a:lnTo>
                  <a:close/>
                </a:path>
              </a:pathLst>
            </a:custGeom>
            <a:solidFill>
              <a:schemeClr val="accent2"/>
            </a:solidFill>
            <a:ln>
              <a:noFill/>
            </a:ln>
          </p:spPr>
        </p:sp>
        <p:sp>
          <p:nvSpPr>
            <p:cNvPr id="11" name="TextBox 11"/>
            <p:cNvSpPr txBox="1"/>
            <p:nvPr/>
          </p:nvSpPr>
          <p:spPr>
            <a:xfrm>
              <a:off x="1250442" y="2616518"/>
              <a:ext cx="374944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AI + 通用测试软件 = 测试任务智能化自动化</a:t>
              </a:r>
            </a:p>
          </p:txBody>
        </p:sp>
        <p:sp>
          <p:nvSpPr>
            <p:cNvPr id="12" name="TextBox 12"/>
            <p:cNvSpPr txBox="1"/>
            <p:nvPr/>
          </p:nvSpPr>
          <p:spPr>
            <a:xfrm>
              <a:off x="1250442" y="2864168"/>
              <a:ext cx="1285875" cy="264033"/>
            </a:xfrm>
            <a:prstGeom prst="rect">
              <a:avLst/>
            </a:prstGeom>
            <a:noFill/>
            <a:ln>
              <a:noFill/>
            </a:ln>
          </p:spPr>
          <p:txBody>
            <a:bodyPr wrap="none" lIns="0" tIns="0" rIns="0" bIns="0" anchor="t" anchorCtr="0">
              <a:spAutoFit/>
            </a:bodyPr>
            <a:lstStyle/>
            <a:p>
              <a:pPr algn="l"/>
              <a:r>
                <a:rPr lang="zh-CN" sz="1350" dirty="0">
                  <a:solidFill>
                    <a:schemeClr val="accent2"/>
                  </a:solidFill>
                  <a:latin typeface="+mn-lt"/>
                  <a:ea typeface="+mn-ea"/>
                  <a:cs typeface="+mn-cs"/>
                </a:rPr>
                <a:t>本项目，已走通</a:t>
              </a:r>
            </a:p>
          </p:txBody>
        </p:sp>
      </p:grpSp>
      <p:grpSp>
        <p:nvGrpSpPr>
          <p:cNvPr id="17" name="p20-item-board"/>
          <p:cNvGrpSpPr/>
          <p:nvPr/>
        </p:nvGrpSpPr>
        <p:grpSpPr>
          <a:xfrm>
            <a:off x="974598" y="2840162"/>
            <a:ext cx="4439793" cy="1013651"/>
            <a:chOff x="990600" y="3238500"/>
            <a:chExt cx="4439793" cy="1013651"/>
          </a:xfrm>
        </p:grpSpPr>
        <p:sp>
          <p:nvSpPr>
            <p:cNvPr id="14" name="Freeform 14"/>
            <p:cNvSpPr/>
            <p:nvPr/>
          </p:nvSpPr>
          <p:spPr>
            <a:xfrm>
              <a:off x="990600" y="3238500"/>
              <a:ext cx="187013" cy="187013"/>
            </a:xfrm>
            <a:custGeom>
              <a:avLst/>
              <a:gdLst/>
              <a:ahLst/>
              <a:cxnLst/>
              <a:rect l="l" t="t" r="r" b="b"/>
              <a:pathLst>
                <a:path w="187013" h="187013">
                  <a:moveTo>
                    <a:pt x="133257" y="150095"/>
                  </a:moveTo>
                  <a:cubicBezTo>
                    <a:pt x="119343" y="160515"/>
                    <a:pt x="102064" y="166688"/>
                    <a:pt x="83344" y="166688"/>
                  </a:cubicBezTo>
                  <a:cubicBezTo>
                    <a:pt x="37314" y="166688"/>
                    <a:pt x="0" y="129373"/>
                    <a:pt x="0" y="83344"/>
                  </a:cubicBezTo>
                  <a:cubicBezTo>
                    <a:pt x="0" y="37314"/>
                    <a:pt x="37314" y="0"/>
                    <a:pt x="83344" y="0"/>
                  </a:cubicBezTo>
                  <a:cubicBezTo>
                    <a:pt x="129373" y="0"/>
                    <a:pt x="166688" y="37314"/>
                    <a:pt x="166688" y="83344"/>
                  </a:cubicBezTo>
                  <a:cubicBezTo>
                    <a:pt x="166688" y="102064"/>
                    <a:pt x="160515" y="119343"/>
                    <a:pt x="150095" y="133257"/>
                  </a:cubicBezTo>
                  <a:lnTo>
                    <a:pt x="187013" y="170175"/>
                  </a:lnTo>
                  <a:lnTo>
                    <a:pt x="170175" y="187013"/>
                  </a:lnTo>
                  <a:lnTo>
                    <a:pt x="133257" y="150095"/>
                  </a:lnTo>
                  <a:close/>
                  <a:moveTo>
                    <a:pt x="66506" y="100182"/>
                  </a:moveTo>
                  <a:lnTo>
                    <a:pt x="49668" y="117020"/>
                  </a:lnTo>
                  <a:cubicBezTo>
                    <a:pt x="31069" y="98421"/>
                    <a:pt x="31069" y="68267"/>
                    <a:pt x="49668" y="49668"/>
                  </a:cubicBezTo>
                  <a:cubicBezTo>
                    <a:pt x="68267" y="31069"/>
                    <a:pt x="98421" y="31069"/>
                    <a:pt x="117020" y="49668"/>
                  </a:cubicBezTo>
                  <a:lnTo>
                    <a:pt x="100182" y="66506"/>
                  </a:lnTo>
                  <a:cubicBezTo>
                    <a:pt x="90882" y="57206"/>
                    <a:pt x="75805" y="57206"/>
                    <a:pt x="66506" y="66506"/>
                  </a:cubicBezTo>
                  <a:cubicBezTo>
                    <a:pt x="57206" y="75805"/>
                    <a:pt x="57206" y="90882"/>
                    <a:pt x="66506" y="100182"/>
                  </a:cubicBezTo>
                  <a:close/>
                </a:path>
              </a:pathLst>
            </a:custGeom>
            <a:solidFill>
              <a:schemeClr val="accent3"/>
            </a:solidFill>
            <a:ln>
              <a:noFill/>
            </a:ln>
          </p:spPr>
        </p:sp>
        <p:sp>
          <p:nvSpPr>
            <p:cNvPr id="15" name="TextBox 15"/>
            <p:cNvSpPr txBox="1"/>
            <p:nvPr/>
          </p:nvSpPr>
          <p:spPr>
            <a:xfrm>
              <a:off x="1250442" y="3245168"/>
              <a:ext cx="3811334" cy="511683"/>
            </a:xfrm>
            <a:prstGeom prst="rect">
              <a:avLst/>
            </a:prstGeom>
            <a:noFill/>
            <a:ln>
              <a:noFill/>
            </a:ln>
          </p:spPr>
          <p:txBody>
            <a:bodyPr wrap="none" lIns="0" tIns="0" rIns="0" bIns="0" anchor="t" anchorCtr="0">
              <a:spAutoFit/>
            </a:bodyPr>
            <a:lstStyle/>
            <a:p>
              <a:pPr algn="l">
                <a:lnSpc>
                  <a:spcPts val="1950"/>
                </a:lnSpc>
              </a:pPr>
              <a:r>
                <a:rPr lang="zh-CN" sz="1350" b="1" dirty="0">
                  <a:solidFill>
                    <a:schemeClr val="accent1"/>
                  </a:solidFill>
                  <a:latin typeface="+mn-lt"/>
                  <a:ea typeface="+mn-ea"/>
                  <a:cs typeface="+mn-cs"/>
                </a:rPr>
                <a:t>AI + 电路板原理图 + 红外热像仪 + 电路仿真 +</a:t>
              </a:r>
              <a:br>
                <a:rPr dirty="0"/>
              </a:br>
              <a:r>
                <a:rPr lang="zh-CN" sz="1350" b="1" dirty="0">
                  <a:solidFill>
                    <a:schemeClr val="accent1"/>
                  </a:solidFill>
                  <a:latin typeface="+mn-lt"/>
                  <a:ea typeface="+mn-ea"/>
                  <a:cs typeface="+mn-cs"/>
                </a:rPr>
                <a:t>测试工具 = 电路板故障检修智能化自动化</a:t>
              </a:r>
            </a:p>
          </p:txBody>
        </p:sp>
        <p:sp>
          <p:nvSpPr>
            <p:cNvPr id="16" name="TextBox 16"/>
            <p:cNvSpPr txBox="1"/>
            <p:nvPr/>
          </p:nvSpPr>
          <p:spPr>
            <a:xfrm>
              <a:off x="1250442" y="3740468"/>
              <a:ext cx="417995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读图定位网络 → 热像找异常发热 → 仿真推断失效元件</a:t>
              </a:r>
              <a:br>
                <a:rPr dirty="0"/>
              </a:br>
              <a:r>
                <a:rPr lang="zh-CN" sz="1350" dirty="0">
                  <a:solidFill>
                    <a:schemeClr val="accent5"/>
                  </a:solidFill>
                  <a:latin typeface="+mn-lt"/>
                  <a:ea typeface="+mn-ea"/>
                  <a:cs typeface="+mn-cs"/>
                </a:rPr>
                <a:t>→ 测试工具验证 → 维修建议</a:t>
              </a:r>
            </a:p>
          </p:txBody>
        </p:sp>
      </p:grpSp>
      <p:grpSp>
        <p:nvGrpSpPr>
          <p:cNvPr id="21" name="p20-item-orbit"/>
          <p:cNvGrpSpPr/>
          <p:nvPr/>
        </p:nvGrpSpPr>
        <p:grpSpPr>
          <a:xfrm>
            <a:off x="986504" y="3964112"/>
            <a:ext cx="3690652" cy="1013651"/>
            <a:chOff x="1002506" y="4362450"/>
            <a:chExt cx="3690652" cy="1013651"/>
          </a:xfrm>
        </p:grpSpPr>
        <p:sp>
          <p:nvSpPr>
            <p:cNvPr id="18" name="Freeform 18"/>
            <p:cNvSpPr/>
            <p:nvPr/>
          </p:nvSpPr>
          <p:spPr>
            <a:xfrm>
              <a:off x="1002506" y="4362450"/>
              <a:ext cx="166688" cy="190500"/>
            </a:xfrm>
            <a:custGeom>
              <a:avLst/>
              <a:gdLst/>
              <a:ahLst/>
              <a:cxnLst/>
              <a:rect l="l" t="t" r="r" b="b"/>
              <a:pathLst>
                <a:path w="166688" h="190500">
                  <a:moveTo>
                    <a:pt x="83344" y="190500"/>
                  </a:moveTo>
                  <a:lnTo>
                    <a:pt x="39887" y="159459"/>
                  </a:lnTo>
                  <a:cubicBezTo>
                    <a:pt x="14856" y="141580"/>
                    <a:pt x="0" y="112713"/>
                    <a:pt x="0" y="81951"/>
                  </a:cubicBezTo>
                  <a:lnTo>
                    <a:pt x="0" y="35719"/>
                  </a:lnTo>
                  <a:lnTo>
                    <a:pt x="83344" y="0"/>
                  </a:lnTo>
                  <a:lnTo>
                    <a:pt x="166688" y="35719"/>
                  </a:lnTo>
                  <a:lnTo>
                    <a:pt x="166688" y="81951"/>
                  </a:lnTo>
                  <a:cubicBezTo>
                    <a:pt x="166688" y="112713"/>
                    <a:pt x="151832" y="141580"/>
                    <a:pt x="126800" y="159459"/>
                  </a:cubicBezTo>
                  <a:lnTo>
                    <a:pt x="83344" y="190500"/>
                  </a:lnTo>
                  <a:close/>
                  <a:moveTo>
                    <a:pt x="133435" y="67950"/>
                  </a:moveTo>
                  <a:lnTo>
                    <a:pt x="116597" y="51112"/>
                  </a:lnTo>
                  <a:lnTo>
                    <a:pt x="71438" y="96271"/>
                  </a:lnTo>
                  <a:lnTo>
                    <a:pt x="50091" y="74925"/>
                  </a:lnTo>
                  <a:lnTo>
                    <a:pt x="33253" y="91763"/>
                  </a:lnTo>
                  <a:lnTo>
                    <a:pt x="71438" y="129947"/>
                  </a:lnTo>
                  <a:lnTo>
                    <a:pt x="133435" y="67950"/>
                  </a:lnTo>
                  <a:close/>
                </a:path>
              </a:pathLst>
            </a:custGeom>
            <a:solidFill>
              <a:schemeClr val="accent3"/>
            </a:solidFill>
            <a:ln>
              <a:noFill/>
            </a:ln>
          </p:spPr>
        </p:sp>
        <p:sp>
          <p:nvSpPr>
            <p:cNvPr id="19" name="TextBox 19"/>
            <p:cNvSpPr txBox="1"/>
            <p:nvPr/>
          </p:nvSpPr>
          <p:spPr>
            <a:xfrm>
              <a:off x="1250442" y="4369118"/>
              <a:ext cx="3279838" cy="511683"/>
            </a:xfrm>
            <a:prstGeom prst="rect">
              <a:avLst/>
            </a:prstGeom>
            <a:noFill/>
            <a:ln>
              <a:noFill/>
            </a:ln>
          </p:spPr>
          <p:txBody>
            <a:bodyPr wrap="none" lIns="0" tIns="0" rIns="0" bIns="0" anchor="t" anchorCtr="0">
              <a:spAutoFit/>
            </a:bodyPr>
            <a:lstStyle/>
            <a:p>
              <a:pPr algn="l">
                <a:lnSpc>
                  <a:spcPts val="1950"/>
                </a:lnSpc>
              </a:pPr>
              <a:r>
                <a:rPr lang="zh-CN" sz="1350" b="1" dirty="0">
                  <a:solidFill>
                    <a:schemeClr val="accent1"/>
                  </a:solidFill>
                  <a:latin typeface="+mn-lt"/>
                  <a:ea typeface="+mn-ea"/>
                  <a:cs typeface="+mn-cs"/>
                </a:rPr>
                <a:t>AI + 遥测数据 + 卫星/飞行器系统模型 +</a:t>
              </a:r>
              <a:br>
                <a:rPr dirty="0"/>
              </a:br>
              <a:r>
                <a:rPr lang="zh-CN" sz="1350" b="1" dirty="0">
                  <a:solidFill>
                    <a:schemeClr val="accent1"/>
                  </a:solidFill>
                  <a:latin typeface="+mn-lt"/>
                  <a:ea typeface="+mn-ea"/>
                  <a:cs typeface="+mn-cs"/>
                </a:rPr>
                <a:t>故障树 FMEA 库 = 在轨故障诊断</a:t>
              </a:r>
            </a:p>
          </p:txBody>
        </p:sp>
        <p:sp>
          <p:nvSpPr>
            <p:cNvPr id="20" name="TextBox 20"/>
            <p:cNvSpPr txBox="1"/>
            <p:nvPr/>
          </p:nvSpPr>
          <p:spPr>
            <a:xfrm>
              <a:off x="1250442" y="4864418"/>
              <a:ext cx="34427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值班期间自动判读遥测越限，关联故障树给出</a:t>
              </a:r>
              <a:br/>
              <a:r>
                <a:rPr lang="zh-CN" sz="1350" dirty="0">
                  <a:solidFill>
                    <a:schemeClr val="accent5"/>
                  </a:solidFill>
                  <a:latin typeface="+mn-lt"/>
                  <a:ea typeface="+mn-ea"/>
                  <a:cs typeface="+mn-cs"/>
                </a:rPr>
                <a:t>处置预案，人工确认后下发</a:t>
              </a:r>
            </a:p>
          </p:txBody>
        </p:sp>
      </p:grpSp>
      <p:grpSp>
        <p:nvGrpSpPr>
          <p:cNvPr id="30" name="p20-item-etest"/>
          <p:cNvGrpSpPr/>
          <p:nvPr/>
        </p:nvGrpSpPr>
        <p:grpSpPr>
          <a:xfrm>
            <a:off x="6469610" y="2218180"/>
            <a:ext cx="3899686" cy="511683"/>
            <a:chOff x="6485612" y="2616518"/>
            <a:chExt cx="3899686" cy="511683"/>
          </a:xfrm>
        </p:grpSpPr>
        <p:grpSp>
          <p:nvGrpSpPr>
            <p:cNvPr id="28" name="Group 28"/>
            <p:cNvGrpSpPr/>
            <p:nvPr/>
          </p:nvGrpSpPr>
          <p:grpSpPr>
            <a:xfrm>
              <a:off x="6485612" y="2621756"/>
              <a:ext cx="169982" cy="166688"/>
              <a:chOff x="6485612" y="2621756"/>
              <a:chExt cx="169982" cy="166688"/>
            </a:xfrm>
          </p:grpSpPr>
          <p:sp>
            <p:nvSpPr>
              <p:cNvPr id="22" name="Freeform 22"/>
              <p:cNvSpPr/>
              <p:nvPr/>
            </p:nvSpPr>
            <p:spPr>
              <a:xfrm>
                <a:off x="6560344" y="2621756"/>
                <a:ext cx="95250" cy="23812"/>
              </a:xfrm>
              <a:custGeom>
                <a:avLst/>
                <a:gdLst/>
                <a:ahLst/>
                <a:cxnLst/>
                <a:rect l="l" t="t" r="r" b="b"/>
                <a:pathLst>
                  <a:path w="95250" h="23812">
                    <a:moveTo>
                      <a:pt x="0" y="0"/>
                    </a:moveTo>
                    <a:lnTo>
                      <a:pt x="95250" y="0"/>
                    </a:lnTo>
                    <a:lnTo>
                      <a:pt x="95250" y="23812"/>
                    </a:lnTo>
                    <a:lnTo>
                      <a:pt x="0" y="23812"/>
                    </a:lnTo>
                    <a:lnTo>
                      <a:pt x="0" y="0"/>
                    </a:lnTo>
                    <a:close/>
                  </a:path>
                </a:pathLst>
              </a:custGeom>
              <a:solidFill>
                <a:schemeClr val="accent3"/>
              </a:solidFill>
              <a:ln>
                <a:noFill/>
              </a:ln>
            </p:spPr>
          </p:sp>
          <p:sp>
            <p:nvSpPr>
              <p:cNvPr id="23" name="Freeform 23"/>
              <p:cNvSpPr/>
              <p:nvPr/>
            </p:nvSpPr>
            <p:spPr>
              <a:xfrm>
                <a:off x="6560344" y="2669381"/>
                <a:ext cx="95250" cy="23812"/>
              </a:xfrm>
              <a:custGeom>
                <a:avLst/>
                <a:gdLst/>
                <a:ahLst/>
                <a:cxnLst/>
                <a:rect l="l" t="t" r="r" b="b"/>
                <a:pathLst>
                  <a:path w="95250" h="23812">
                    <a:moveTo>
                      <a:pt x="0" y="0"/>
                    </a:moveTo>
                    <a:lnTo>
                      <a:pt x="95250" y="0"/>
                    </a:lnTo>
                    <a:lnTo>
                      <a:pt x="95250" y="23812"/>
                    </a:lnTo>
                    <a:lnTo>
                      <a:pt x="0" y="23812"/>
                    </a:lnTo>
                    <a:lnTo>
                      <a:pt x="0" y="0"/>
                    </a:lnTo>
                    <a:close/>
                  </a:path>
                </a:pathLst>
              </a:custGeom>
              <a:solidFill>
                <a:schemeClr val="accent3"/>
              </a:solidFill>
              <a:ln>
                <a:noFill/>
              </a:ln>
            </p:spPr>
          </p:sp>
          <p:sp>
            <p:nvSpPr>
              <p:cNvPr id="24" name="Freeform 24"/>
              <p:cNvSpPr/>
              <p:nvPr/>
            </p:nvSpPr>
            <p:spPr>
              <a:xfrm>
                <a:off x="6560344" y="2717006"/>
                <a:ext cx="95250" cy="23812"/>
              </a:xfrm>
              <a:custGeom>
                <a:avLst/>
                <a:gdLst/>
                <a:ahLst/>
                <a:cxnLst/>
                <a:rect l="l" t="t" r="r" b="b"/>
                <a:pathLst>
                  <a:path w="95250" h="23812">
                    <a:moveTo>
                      <a:pt x="95250" y="0"/>
                    </a:moveTo>
                    <a:lnTo>
                      <a:pt x="0" y="0"/>
                    </a:lnTo>
                    <a:lnTo>
                      <a:pt x="0" y="23812"/>
                    </a:lnTo>
                    <a:lnTo>
                      <a:pt x="95250" y="23812"/>
                    </a:lnTo>
                    <a:lnTo>
                      <a:pt x="95250" y="0"/>
                    </a:lnTo>
                    <a:close/>
                  </a:path>
                </a:pathLst>
              </a:custGeom>
              <a:solidFill>
                <a:schemeClr val="accent3"/>
              </a:solidFill>
              <a:ln>
                <a:noFill/>
              </a:ln>
            </p:spPr>
          </p:sp>
          <p:sp>
            <p:nvSpPr>
              <p:cNvPr id="25" name="Freeform 25"/>
              <p:cNvSpPr/>
              <p:nvPr/>
            </p:nvSpPr>
            <p:spPr>
              <a:xfrm>
                <a:off x="6560344" y="2764631"/>
                <a:ext cx="95250" cy="23812"/>
              </a:xfrm>
              <a:custGeom>
                <a:avLst/>
                <a:gdLst/>
                <a:ahLst/>
                <a:cxnLst/>
                <a:rect l="l" t="t" r="r" b="b"/>
                <a:pathLst>
                  <a:path w="95250" h="23812">
                    <a:moveTo>
                      <a:pt x="0" y="0"/>
                    </a:moveTo>
                    <a:lnTo>
                      <a:pt x="95250" y="0"/>
                    </a:lnTo>
                    <a:lnTo>
                      <a:pt x="95250" y="23812"/>
                    </a:lnTo>
                    <a:lnTo>
                      <a:pt x="0" y="23812"/>
                    </a:lnTo>
                    <a:lnTo>
                      <a:pt x="0" y="0"/>
                    </a:lnTo>
                    <a:close/>
                  </a:path>
                </a:pathLst>
              </a:custGeom>
              <a:solidFill>
                <a:schemeClr val="accent3"/>
              </a:solidFill>
              <a:ln>
                <a:noFill/>
              </a:ln>
            </p:spPr>
          </p:sp>
          <p:sp>
            <p:nvSpPr>
              <p:cNvPr id="26" name="Freeform 26"/>
              <p:cNvSpPr/>
              <p:nvPr/>
            </p:nvSpPr>
            <p:spPr>
              <a:xfrm>
                <a:off x="6488906" y="2717006"/>
                <a:ext cx="49113" cy="71438"/>
              </a:xfrm>
              <a:custGeom>
                <a:avLst/>
                <a:gdLst/>
                <a:ahLst/>
                <a:cxnLst/>
                <a:rect l="l" t="t" r="r" b="b"/>
                <a:pathLst>
                  <a:path w="49113" h="71438">
                    <a:moveTo>
                      <a:pt x="27248" y="20836"/>
                    </a:moveTo>
                    <a:lnTo>
                      <a:pt x="0" y="20836"/>
                    </a:lnTo>
                    <a:lnTo>
                      <a:pt x="0" y="0"/>
                    </a:lnTo>
                    <a:lnTo>
                      <a:pt x="27248" y="0"/>
                    </a:lnTo>
                    <a:cubicBezTo>
                      <a:pt x="39324" y="0"/>
                      <a:pt x="49113" y="9789"/>
                      <a:pt x="49113" y="21865"/>
                    </a:cubicBezTo>
                    <a:cubicBezTo>
                      <a:pt x="49113" y="27869"/>
                      <a:pt x="46644" y="33609"/>
                      <a:pt x="42286" y="37738"/>
                    </a:cubicBezTo>
                    <a:lnTo>
                      <a:pt x="28708" y="50602"/>
                    </a:lnTo>
                    <a:lnTo>
                      <a:pt x="47625" y="50602"/>
                    </a:lnTo>
                    <a:lnTo>
                      <a:pt x="47625" y="71438"/>
                    </a:lnTo>
                    <a:lnTo>
                      <a:pt x="0" y="71438"/>
                    </a:lnTo>
                    <a:lnTo>
                      <a:pt x="0" y="49097"/>
                    </a:lnTo>
                    <a:lnTo>
                      <a:pt x="27956" y="22612"/>
                    </a:lnTo>
                    <a:cubicBezTo>
                      <a:pt x="28161" y="22418"/>
                      <a:pt x="28277" y="22148"/>
                      <a:pt x="28277" y="21865"/>
                    </a:cubicBezTo>
                    <a:cubicBezTo>
                      <a:pt x="28277" y="21297"/>
                      <a:pt x="27817" y="20836"/>
                      <a:pt x="27248" y="20836"/>
                    </a:cubicBezTo>
                    <a:close/>
                  </a:path>
                </a:pathLst>
              </a:custGeom>
              <a:solidFill>
                <a:schemeClr val="accent3"/>
              </a:solidFill>
              <a:ln>
                <a:noFill/>
              </a:ln>
            </p:spPr>
          </p:sp>
          <p:sp>
            <p:nvSpPr>
              <p:cNvPr id="27" name="Freeform 27"/>
              <p:cNvSpPr/>
              <p:nvPr/>
            </p:nvSpPr>
            <p:spPr>
              <a:xfrm>
                <a:off x="6485612" y="2623245"/>
                <a:ext cx="37525" cy="69949"/>
              </a:xfrm>
              <a:custGeom>
                <a:avLst/>
                <a:gdLst/>
                <a:ahLst/>
                <a:cxnLst/>
                <a:rect l="l" t="t" r="r" b="b"/>
                <a:pathLst>
                  <a:path w="37525" h="69949">
                    <a:moveTo>
                      <a:pt x="19463" y="0"/>
                    </a:moveTo>
                    <a:lnTo>
                      <a:pt x="0" y="6488"/>
                    </a:lnTo>
                    <a:lnTo>
                      <a:pt x="6589" y="26254"/>
                    </a:lnTo>
                    <a:lnTo>
                      <a:pt x="16689" y="22888"/>
                    </a:lnTo>
                    <a:lnTo>
                      <a:pt x="16689" y="69949"/>
                    </a:lnTo>
                    <a:lnTo>
                      <a:pt x="37525" y="69949"/>
                    </a:lnTo>
                    <a:lnTo>
                      <a:pt x="37525" y="0"/>
                    </a:lnTo>
                    <a:lnTo>
                      <a:pt x="19463" y="0"/>
                    </a:lnTo>
                    <a:close/>
                  </a:path>
                </a:pathLst>
              </a:custGeom>
              <a:solidFill>
                <a:schemeClr val="accent3"/>
              </a:solidFill>
              <a:ln>
                <a:noFill/>
              </a:ln>
            </p:spPr>
          </p:sp>
        </p:grpSp>
        <p:sp>
          <p:nvSpPr>
            <p:cNvPr id="29" name="TextBox 29"/>
            <p:cNvSpPr txBox="1"/>
            <p:nvPr/>
          </p:nvSpPr>
          <p:spPr>
            <a:xfrm>
              <a:off x="6736842" y="2616518"/>
              <a:ext cx="3648456" cy="511683"/>
            </a:xfrm>
            <a:prstGeom prst="rect">
              <a:avLst/>
            </a:prstGeom>
            <a:noFill/>
            <a:ln>
              <a:noFill/>
            </a:ln>
          </p:spPr>
          <p:txBody>
            <a:bodyPr wrap="none" lIns="0" tIns="0" rIns="0" bIns="0" anchor="t" anchorCtr="0">
              <a:spAutoFit/>
            </a:bodyPr>
            <a:lstStyle/>
            <a:p>
              <a:pPr algn="l">
                <a:lnSpc>
                  <a:spcPts val="1950"/>
                </a:lnSpc>
              </a:pPr>
              <a:r>
                <a:rPr lang="zh-CN" sz="1350" b="1" dirty="0">
                  <a:solidFill>
                    <a:schemeClr val="accent1"/>
                  </a:solidFill>
                  <a:latin typeface="+mn-lt"/>
                  <a:ea typeface="+mn-ea"/>
                  <a:cs typeface="+mn-cs"/>
                </a:rPr>
                <a:t>AI + 测试大纲 + 接口控制文件 ICD +</a:t>
              </a:r>
              <a:br>
                <a:rPr dirty="0"/>
              </a:br>
              <a:r>
                <a:rPr lang="zh-CN" sz="1350" b="1" dirty="0">
                  <a:solidFill>
                    <a:schemeClr val="accent1"/>
                  </a:solidFill>
                  <a:latin typeface="+mn-lt"/>
                  <a:ea typeface="+mn-ea"/>
                  <a:cs typeface="+mn-cs"/>
                </a:rPr>
                <a:t>通用测试软件 = 单机/分系统电测流程自动生成</a:t>
              </a:r>
            </a:p>
          </p:txBody>
        </p:sp>
      </p:grpSp>
      <p:grpSp>
        <p:nvGrpSpPr>
          <p:cNvPr id="33" name="p20-item-bus"/>
          <p:cNvGrpSpPr/>
          <p:nvPr/>
        </p:nvGrpSpPr>
        <p:grpSpPr>
          <a:xfrm>
            <a:off x="6460998" y="2821112"/>
            <a:ext cx="3333940" cy="766001"/>
            <a:chOff x="6477000" y="3219450"/>
            <a:chExt cx="3333940" cy="766001"/>
          </a:xfrm>
        </p:grpSpPr>
        <p:sp>
          <p:nvSpPr>
            <p:cNvPr id="31" name="Freeform 31"/>
            <p:cNvSpPr/>
            <p:nvPr/>
          </p:nvSpPr>
          <p:spPr>
            <a:xfrm>
              <a:off x="6477000" y="3219450"/>
              <a:ext cx="166688" cy="190500"/>
            </a:xfrm>
            <a:custGeom>
              <a:avLst/>
              <a:gdLst/>
              <a:ahLst/>
              <a:cxnLst/>
              <a:rect l="l" t="t" r="r" b="b"/>
              <a:pathLst>
                <a:path w="166688" h="190500">
                  <a:moveTo>
                    <a:pt x="130969" y="71438"/>
                  </a:moveTo>
                  <a:cubicBezTo>
                    <a:pt x="150696" y="71438"/>
                    <a:pt x="166688" y="55446"/>
                    <a:pt x="166688" y="35719"/>
                  </a:cubicBezTo>
                  <a:cubicBezTo>
                    <a:pt x="166688" y="15992"/>
                    <a:pt x="150696" y="0"/>
                    <a:pt x="130969" y="0"/>
                  </a:cubicBezTo>
                  <a:cubicBezTo>
                    <a:pt x="111242" y="0"/>
                    <a:pt x="95250" y="15992"/>
                    <a:pt x="95250" y="35719"/>
                  </a:cubicBezTo>
                  <a:cubicBezTo>
                    <a:pt x="95250" y="38382"/>
                    <a:pt x="95542" y="40978"/>
                    <a:pt x="96094" y="43475"/>
                  </a:cubicBezTo>
                  <a:lnTo>
                    <a:pt x="57967" y="67304"/>
                  </a:lnTo>
                  <a:cubicBezTo>
                    <a:pt x="51864" y="62439"/>
                    <a:pt x="44131" y="59531"/>
                    <a:pt x="35719" y="59531"/>
                  </a:cubicBezTo>
                  <a:cubicBezTo>
                    <a:pt x="15992" y="59531"/>
                    <a:pt x="0" y="75523"/>
                    <a:pt x="0" y="95250"/>
                  </a:cubicBezTo>
                  <a:cubicBezTo>
                    <a:pt x="0" y="114977"/>
                    <a:pt x="15992" y="130969"/>
                    <a:pt x="35719" y="130969"/>
                  </a:cubicBezTo>
                  <a:cubicBezTo>
                    <a:pt x="44131" y="130969"/>
                    <a:pt x="51864" y="128061"/>
                    <a:pt x="57967" y="123195"/>
                  </a:cubicBezTo>
                  <a:lnTo>
                    <a:pt x="96094" y="147026"/>
                  </a:lnTo>
                  <a:cubicBezTo>
                    <a:pt x="95542" y="149522"/>
                    <a:pt x="95250" y="152118"/>
                    <a:pt x="95250" y="154781"/>
                  </a:cubicBezTo>
                  <a:cubicBezTo>
                    <a:pt x="95250" y="174509"/>
                    <a:pt x="111242" y="190500"/>
                    <a:pt x="130969" y="190500"/>
                  </a:cubicBezTo>
                  <a:cubicBezTo>
                    <a:pt x="150696" y="190500"/>
                    <a:pt x="166688" y="174509"/>
                    <a:pt x="166688" y="154781"/>
                  </a:cubicBezTo>
                  <a:cubicBezTo>
                    <a:pt x="166688" y="135054"/>
                    <a:pt x="150696" y="119062"/>
                    <a:pt x="130969" y="119062"/>
                  </a:cubicBezTo>
                  <a:cubicBezTo>
                    <a:pt x="122557" y="119062"/>
                    <a:pt x="114824" y="121970"/>
                    <a:pt x="108721" y="126836"/>
                  </a:cubicBezTo>
                  <a:lnTo>
                    <a:pt x="70593" y="103006"/>
                  </a:lnTo>
                  <a:cubicBezTo>
                    <a:pt x="71146" y="100509"/>
                    <a:pt x="71438" y="97914"/>
                    <a:pt x="71438" y="95250"/>
                  </a:cubicBezTo>
                  <a:cubicBezTo>
                    <a:pt x="71438" y="92586"/>
                    <a:pt x="71146" y="89991"/>
                    <a:pt x="70593" y="87494"/>
                  </a:cubicBezTo>
                  <a:lnTo>
                    <a:pt x="108721" y="63664"/>
                  </a:lnTo>
                  <a:cubicBezTo>
                    <a:pt x="114824" y="68530"/>
                    <a:pt x="122557" y="71438"/>
                    <a:pt x="130969" y="71438"/>
                  </a:cubicBezTo>
                  <a:close/>
                </a:path>
              </a:pathLst>
            </a:custGeom>
            <a:solidFill>
              <a:schemeClr val="accent3"/>
            </a:solidFill>
            <a:ln>
              <a:noFill/>
            </a:ln>
          </p:spPr>
        </p:sp>
        <p:sp>
          <p:nvSpPr>
            <p:cNvPr id="32" name="TextBox 32"/>
            <p:cNvSpPr txBox="1"/>
            <p:nvPr/>
          </p:nvSpPr>
          <p:spPr>
            <a:xfrm>
              <a:off x="6736842" y="3226118"/>
              <a:ext cx="3074098" cy="759333"/>
            </a:xfrm>
            <a:prstGeom prst="rect">
              <a:avLst/>
            </a:prstGeom>
            <a:noFill/>
            <a:ln>
              <a:noFill/>
            </a:ln>
          </p:spPr>
          <p:txBody>
            <a:bodyPr wrap="none" lIns="0" tIns="0" rIns="0" bIns="0" anchor="t" anchorCtr="0">
              <a:spAutoFit/>
            </a:bodyPr>
            <a:lstStyle/>
            <a:p>
              <a:pPr algn="l">
                <a:lnSpc>
                  <a:spcPts val="1950"/>
                </a:lnSpc>
              </a:pPr>
              <a:r>
                <a:rPr lang="zh-CN" sz="1350" b="1" dirty="0">
                  <a:solidFill>
                    <a:schemeClr val="accent1"/>
                  </a:solidFill>
                  <a:latin typeface="+mn-lt"/>
                  <a:ea typeface="+mn-ea"/>
                  <a:cs typeface="+mn-cs"/>
                </a:rPr>
                <a:t>AI + 总线监控（1553B / RS422 /</a:t>
              </a:r>
              <a:br/>
              <a:r>
                <a:rPr lang="zh-CN" sz="1350" b="1" dirty="0">
                  <a:solidFill>
                    <a:schemeClr val="accent1"/>
                  </a:solidFill>
                  <a:latin typeface="+mn-lt"/>
                  <a:ea typeface="+mn-ea"/>
                  <a:cs typeface="+mn-cs"/>
                </a:rPr>
                <a:t>ARINC 429 / SpaceWire）+ 协议 ICD</a:t>
              </a:r>
              <a:br/>
              <a:r>
                <a:rPr lang="zh-CN" sz="1350" b="1" dirty="0">
                  <a:solidFill>
                    <a:schemeClr val="accent1"/>
                  </a:solidFill>
                  <a:latin typeface="+mn-lt"/>
                  <a:ea typeface="+mn-ea"/>
                  <a:cs typeface="+mn-cs"/>
                </a:rPr>
                <a:t>= 总线数据实时判读</a:t>
              </a:r>
            </a:p>
          </p:txBody>
        </p:sp>
      </p:grpSp>
      <p:grpSp>
        <p:nvGrpSpPr>
          <p:cNvPr id="36" name="p20-item-env"/>
          <p:cNvGrpSpPr/>
          <p:nvPr/>
        </p:nvGrpSpPr>
        <p:grpSpPr>
          <a:xfrm>
            <a:off x="6460998" y="3685030"/>
            <a:ext cx="4590840" cy="264033"/>
            <a:chOff x="6477000" y="4083368"/>
            <a:chExt cx="4590840" cy="264033"/>
          </a:xfrm>
        </p:grpSpPr>
        <p:sp>
          <p:nvSpPr>
            <p:cNvPr id="34" name="Freeform 34"/>
            <p:cNvSpPr/>
            <p:nvPr/>
          </p:nvSpPr>
          <p:spPr>
            <a:xfrm>
              <a:off x="6477000" y="4088606"/>
              <a:ext cx="190500" cy="154781"/>
            </a:xfrm>
            <a:custGeom>
              <a:avLst/>
              <a:gdLst/>
              <a:ahLst/>
              <a:cxnLst/>
              <a:rect l="l" t="t" r="r" b="b"/>
              <a:pathLst>
                <a:path w="190500" h="154781">
                  <a:moveTo>
                    <a:pt x="20891" y="154781"/>
                  </a:moveTo>
                  <a:cubicBezTo>
                    <a:pt x="7819" y="138474"/>
                    <a:pt x="0" y="117775"/>
                    <a:pt x="0" y="95250"/>
                  </a:cubicBezTo>
                  <a:cubicBezTo>
                    <a:pt x="0" y="42645"/>
                    <a:pt x="42645" y="0"/>
                    <a:pt x="95250" y="0"/>
                  </a:cubicBezTo>
                  <a:cubicBezTo>
                    <a:pt x="147855" y="0"/>
                    <a:pt x="190500" y="42645"/>
                    <a:pt x="190500" y="95250"/>
                  </a:cubicBezTo>
                  <a:cubicBezTo>
                    <a:pt x="190500" y="117775"/>
                    <a:pt x="182681" y="138474"/>
                    <a:pt x="169609" y="154781"/>
                  </a:cubicBezTo>
                  <a:lnTo>
                    <a:pt x="109558" y="154781"/>
                  </a:lnTo>
                  <a:lnTo>
                    <a:pt x="151618" y="109286"/>
                  </a:lnTo>
                  <a:lnTo>
                    <a:pt x="134132" y="93121"/>
                  </a:lnTo>
                  <a:lnTo>
                    <a:pt x="77128" y="154781"/>
                  </a:lnTo>
                  <a:lnTo>
                    <a:pt x="20891" y="154781"/>
                  </a:lnTo>
                  <a:close/>
                  <a:moveTo>
                    <a:pt x="83344" y="35719"/>
                  </a:moveTo>
                  <a:cubicBezTo>
                    <a:pt x="83344" y="42294"/>
                    <a:pt x="88674" y="47625"/>
                    <a:pt x="95250" y="47625"/>
                  </a:cubicBezTo>
                  <a:cubicBezTo>
                    <a:pt x="101826" y="47625"/>
                    <a:pt x="107156" y="42294"/>
                    <a:pt x="107156" y="35719"/>
                  </a:cubicBezTo>
                  <a:cubicBezTo>
                    <a:pt x="107156" y="29143"/>
                    <a:pt x="101826" y="23812"/>
                    <a:pt x="95250" y="23812"/>
                  </a:cubicBezTo>
                  <a:cubicBezTo>
                    <a:pt x="88674" y="23812"/>
                    <a:pt x="83344" y="29143"/>
                    <a:pt x="83344" y="35719"/>
                  </a:cubicBezTo>
                  <a:close/>
                  <a:moveTo>
                    <a:pt x="136922" y="65484"/>
                  </a:moveTo>
                  <a:cubicBezTo>
                    <a:pt x="130346" y="65484"/>
                    <a:pt x="125016" y="60154"/>
                    <a:pt x="125016" y="53578"/>
                  </a:cubicBezTo>
                  <a:cubicBezTo>
                    <a:pt x="125016" y="47003"/>
                    <a:pt x="130346" y="41672"/>
                    <a:pt x="136922" y="41672"/>
                  </a:cubicBezTo>
                  <a:cubicBezTo>
                    <a:pt x="143498" y="41672"/>
                    <a:pt x="148828" y="47003"/>
                    <a:pt x="148828" y="53578"/>
                  </a:cubicBezTo>
                  <a:cubicBezTo>
                    <a:pt x="148828" y="60154"/>
                    <a:pt x="143498" y="65484"/>
                    <a:pt x="136922" y="65484"/>
                  </a:cubicBezTo>
                  <a:close/>
                  <a:moveTo>
                    <a:pt x="23812" y="95250"/>
                  </a:moveTo>
                  <a:cubicBezTo>
                    <a:pt x="23812" y="101826"/>
                    <a:pt x="29143" y="107156"/>
                    <a:pt x="35719" y="107156"/>
                  </a:cubicBezTo>
                  <a:cubicBezTo>
                    <a:pt x="42294" y="107156"/>
                    <a:pt x="47625" y="101826"/>
                    <a:pt x="47625" y="95250"/>
                  </a:cubicBezTo>
                  <a:cubicBezTo>
                    <a:pt x="47625" y="88674"/>
                    <a:pt x="42294" y="83344"/>
                    <a:pt x="35719" y="83344"/>
                  </a:cubicBezTo>
                  <a:cubicBezTo>
                    <a:pt x="29143" y="83344"/>
                    <a:pt x="23812" y="88674"/>
                    <a:pt x="23812" y="95250"/>
                  </a:cubicBezTo>
                  <a:close/>
                  <a:moveTo>
                    <a:pt x="53578" y="65484"/>
                  </a:moveTo>
                  <a:cubicBezTo>
                    <a:pt x="47003" y="65484"/>
                    <a:pt x="41672" y="60154"/>
                    <a:pt x="41672" y="53578"/>
                  </a:cubicBezTo>
                  <a:cubicBezTo>
                    <a:pt x="41672" y="47003"/>
                    <a:pt x="47003" y="41672"/>
                    <a:pt x="53578" y="41672"/>
                  </a:cubicBezTo>
                  <a:cubicBezTo>
                    <a:pt x="60154" y="41672"/>
                    <a:pt x="65484" y="47003"/>
                    <a:pt x="65484" y="53578"/>
                  </a:cubicBezTo>
                  <a:cubicBezTo>
                    <a:pt x="65484" y="60154"/>
                    <a:pt x="60154" y="65484"/>
                    <a:pt x="53578" y="65484"/>
                  </a:cubicBezTo>
                  <a:close/>
                </a:path>
              </a:pathLst>
            </a:custGeom>
            <a:solidFill>
              <a:schemeClr val="accent3"/>
            </a:solidFill>
            <a:ln>
              <a:noFill/>
            </a:ln>
          </p:spPr>
        </p:sp>
        <p:sp>
          <p:nvSpPr>
            <p:cNvPr id="35" name="TextBox 35"/>
            <p:cNvSpPr txBox="1"/>
            <p:nvPr/>
          </p:nvSpPr>
          <p:spPr>
            <a:xfrm>
              <a:off x="6736842" y="4083368"/>
              <a:ext cx="4330998"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AI + 温箱/振动台 + 测试台架 = 环境试验自动巡检</a:t>
              </a:r>
            </a:p>
          </p:txBody>
        </p:sp>
      </p:grpSp>
      <p:grpSp>
        <p:nvGrpSpPr>
          <p:cNvPr id="42" name="p20-item-cable"/>
          <p:cNvGrpSpPr/>
          <p:nvPr/>
        </p:nvGrpSpPr>
        <p:grpSpPr>
          <a:xfrm>
            <a:off x="6472904" y="4046980"/>
            <a:ext cx="3699224" cy="511683"/>
            <a:chOff x="6488906" y="4445318"/>
            <a:chExt cx="3699224" cy="511683"/>
          </a:xfrm>
        </p:grpSpPr>
        <p:grpSp>
          <p:nvGrpSpPr>
            <p:cNvPr id="40" name="Group 40"/>
            <p:cNvGrpSpPr/>
            <p:nvPr/>
          </p:nvGrpSpPr>
          <p:grpSpPr>
            <a:xfrm>
              <a:off x="6488906" y="4450556"/>
              <a:ext cx="166688" cy="166688"/>
              <a:chOff x="6488906" y="4450556"/>
              <a:chExt cx="166688" cy="166688"/>
            </a:xfrm>
          </p:grpSpPr>
          <p:sp>
            <p:nvSpPr>
              <p:cNvPr id="37" name="Freeform 37"/>
              <p:cNvSpPr/>
              <p:nvPr/>
            </p:nvSpPr>
            <p:spPr>
              <a:xfrm>
                <a:off x="6488906" y="4450556"/>
                <a:ext cx="47625" cy="47625"/>
              </a:xfrm>
              <a:custGeom>
                <a:avLst/>
                <a:gdLst/>
                <a:ahLst/>
                <a:cxnLst/>
                <a:rect l="l" t="t" r="r" b="b"/>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solidFill>
                <a:schemeClr val="accent3"/>
              </a:solidFill>
              <a:ln>
                <a:noFill/>
              </a:ln>
            </p:spPr>
          </p:sp>
          <p:sp>
            <p:nvSpPr>
              <p:cNvPr id="38" name="Freeform 38"/>
              <p:cNvSpPr/>
              <p:nvPr/>
            </p:nvSpPr>
            <p:spPr>
              <a:xfrm>
                <a:off x="6607969" y="4569619"/>
                <a:ext cx="47625" cy="47625"/>
              </a:xfrm>
              <a:custGeom>
                <a:avLst/>
                <a:gdLst/>
                <a:ahLst/>
                <a:cxnLst/>
                <a:rect l="l" t="t" r="r" b="b"/>
                <a:pathLst>
                  <a:path w="47625" h="47625">
                    <a:moveTo>
                      <a:pt x="47625" y="23812"/>
                    </a:moveTo>
                    <a:cubicBezTo>
                      <a:pt x="47625" y="36964"/>
                      <a:pt x="36964" y="47625"/>
                      <a:pt x="23812" y="47625"/>
                    </a:cubicBezTo>
                    <a:cubicBezTo>
                      <a:pt x="10661" y="47625"/>
                      <a:pt x="0" y="36964"/>
                      <a:pt x="0" y="23812"/>
                    </a:cubicBezTo>
                    <a:cubicBezTo>
                      <a:pt x="0" y="10661"/>
                      <a:pt x="10661" y="0"/>
                      <a:pt x="23812" y="0"/>
                    </a:cubicBezTo>
                    <a:cubicBezTo>
                      <a:pt x="36964" y="0"/>
                      <a:pt x="47625" y="10661"/>
                      <a:pt x="47625" y="23812"/>
                    </a:cubicBezTo>
                    <a:close/>
                  </a:path>
                </a:pathLst>
              </a:custGeom>
              <a:solidFill>
                <a:schemeClr val="accent3"/>
              </a:solidFill>
              <a:ln>
                <a:noFill/>
              </a:ln>
            </p:spPr>
          </p:sp>
          <p:sp>
            <p:nvSpPr>
              <p:cNvPr id="39" name="Freeform 39"/>
              <p:cNvSpPr/>
              <p:nvPr/>
            </p:nvSpPr>
            <p:spPr>
              <a:xfrm>
                <a:off x="6500812" y="4450556"/>
                <a:ext cx="142875" cy="166688"/>
              </a:xfrm>
              <a:custGeom>
                <a:avLst/>
                <a:gdLst/>
                <a:ahLst/>
                <a:cxnLst/>
                <a:rect l="l" t="t" r="r" b="b"/>
                <a:pathLst>
                  <a:path w="142875" h="166688">
                    <a:moveTo>
                      <a:pt x="83344" y="41672"/>
                    </a:moveTo>
                    <a:cubicBezTo>
                      <a:pt x="83344" y="31808"/>
                      <a:pt x="91340" y="23812"/>
                      <a:pt x="101203" y="23812"/>
                    </a:cubicBezTo>
                    <a:cubicBezTo>
                      <a:pt x="111066" y="23812"/>
                      <a:pt x="119062" y="31808"/>
                      <a:pt x="119062" y="41672"/>
                    </a:cubicBezTo>
                    <a:lnTo>
                      <a:pt x="119062" y="95250"/>
                    </a:lnTo>
                    <a:lnTo>
                      <a:pt x="142875" y="95250"/>
                    </a:lnTo>
                    <a:lnTo>
                      <a:pt x="142875" y="41672"/>
                    </a:lnTo>
                    <a:cubicBezTo>
                      <a:pt x="142875" y="18657"/>
                      <a:pt x="124218" y="0"/>
                      <a:pt x="101203" y="0"/>
                    </a:cubicBezTo>
                    <a:cubicBezTo>
                      <a:pt x="78188" y="0"/>
                      <a:pt x="59531" y="18657"/>
                      <a:pt x="59531" y="41672"/>
                    </a:cubicBezTo>
                    <a:lnTo>
                      <a:pt x="59531" y="125016"/>
                    </a:lnTo>
                    <a:cubicBezTo>
                      <a:pt x="59531" y="134879"/>
                      <a:pt x="51535" y="142875"/>
                      <a:pt x="41672" y="142875"/>
                    </a:cubicBezTo>
                    <a:cubicBezTo>
                      <a:pt x="31808" y="142875"/>
                      <a:pt x="23812" y="134879"/>
                      <a:pt x="23812" y="125016"/>
                    </a:cubicBezTo>
                    <a:lnTo>
                      <a:pt x="23812" y="71438"/>
                    </a:lnTo>
                    <a:lnTo>
                      <a:pt x="0" y="71438"/>
                    </a:lnTo>
                    <a:lnTo>
                      <a:pt x="0" y="125016"/>
                    </a:lnTo>
                    <a:cubicBezTo>
                      <a:pt x="0" y="148030"/>
                      <a:pt x="18657" y="166688"/>
                      <a:pt x="41672" y="166688"/>
                    </a:cubicBezTo>
                    <a:cubicBezTo>
                      <a:pt x="64687" y="166688"/>
                      <a:pt x="83344" y="148030"/>
                      <a:pt x="83344" y="125016"/>
                    </a:cubicBezTo>
                    <a:lnTo>
                      <a:pt x="83344" y="41672"/>
                    </a:lnTo>
                    <a:close/>
                  </a:path>
                </a:pathLst>
              </a:custGeom>
              <a:solidFill>
                <a:schemeClr val="accent3"/>
              </a:solidFill>
              <a:ln>
                <a:noFill/>
              </a:ln>
            </p:spPr>
          </p:sp>
        </p:grpSp>
        <p:sp>
          <p:nvSpPr>
            <p:cNvPr id="41" name="TextBox 41"/>
            <p:cNvSpPr txBox="1"/>
            <p:nvPr/>
          </p:nvSpPr>
          <p:spPr>
            <a:xfrm>
              <a:off x="6736842" y="4445318"/>
              <a:ext cx="3451288" cy="511683"/>
            </a:xfrm>
            <a:prstGeom prst="rect">
              <a:avLst/>
            </a:prstGeom>
            <a:noFill/>
            <a:ln>
              <a:noFill/>
            </a:ln>
          </p:spPr>
          <p:txBody>
            <a:bodyPr wrap="none" lIns="0" tIns="0" rIns="0" bIns="0" anchor="t" anchorCtr="0">
              <a:spAutoFit/>
            </a:bodyPr>
            <a:lstStyle/>
            <a:p>
              <a:pPr algn="l">
                <a:lnSpc>
                  <a:spcPts val="1950"/>
                </a:lnSpc>
              </a:pPr>
              <a:r>
                <a:rPr lang="zh-CN" sz="1350" b="1" dirty="0">
                  <a:solidFill>
                    <a:schemeClr val="accent1"/>
                  </a:solidFill>
                  <a:latin typeface="+mn-lt"/>
                  <a:ea typeface="+mn-ea"/>
                  <a:cs typeface="+mn-cs"/>
                </a:rPr>
                <a:t>AI + 装配工艺文件 + 电缆网表 + 视觉识别</a:t>
              </a:r>
              <a:br/>
              <a:r>
                <a:rPr lang="zh-CN" sz="1350" b="1" dirty="0">
                  <a:solidFill>
                    <a:schemeClr val="accent1"/>
                  </a:solidFill>
                  <a:latin typeface="+mn-lt"/>
                  <a:ea typeface="+mn-ea"/>
                  <a:cs typeface="+mn-cs"/>
                </a:rPr>
                <a:t>= 电缆网接线指导与检验</a:t>
              </a:r>
            </a:p>
          </p:txBody>
        </p:sp>
      </p:grpSp>
      <p:grpSp>
        <p:nvGrpSpPr>
          <p:cNvPr id="44" name="p20-anchor"/>
          <p:cNvGrpSpPr/>
          <p:nvPr/>
        </p:nvGrpSpPr>
        <p:grpSpPr>
          <a:xfrm>
            <a:off x="9715500" y="5162550"/>
            <a:ext cx="1790700" cy="1009650"/>
            <a:chOff x="9715500" y="5162550"/>
            <a:chExt cx="1790700" cy="1009650"/>
          </a:xfrm>
        </p:grpSpPr>
        <p:pic>
          <p:nvPicPr>
            <p:cNvPr id="43" name="Image 43"/>
            <p:cNvPicPr>
              <a:picLocks noChangeAspect="1"/>
            </p:cNvPicPr>
            <p:nvPr/>
          </p:nvPicPr>
          <p:blipFill>
            <a:blip r:embed="rId3"/>
            <a:stretch>
              <a:fillRect/>
            </a:stretch>
          </p:blipFill>
          <p:spPr>
            <a:xfrm>
              <a:off x="9715500" y="5162550"/>
              <a:ext cx="1790700" cy="1009650"/>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theme/theme1.xml><?xml version="1.0" encoding="utf-8"?>
<a:theme xmlns:a="http://schemas.openxmlformats.org/drawingml/2006/main" name="intelligent_universal_test">
  <a:themeElements>
    <a:clrScheme name="intelligent_universal_test">
      <a:dk1>
        <a:srgbClr val="1A2230"/>
      </a:dk1>
      <a:lt1>
        <a:srgbClr val="FFFFFF"/>
      </a:lt1>
      <a:dk2>
        <a:srgbClr val="1F497D"/>
      </a:dk2>
      <a:lt2>
        <a:srgbClr val="F1F4F8"/>
      </a:lt2>
      <a:accent1>
        <a:srgbClr val="123B6B"/>
      </a:accent1>
      <a:accent2>
        <a:srgbClr val="D9720B"/>
      </a:accent2>
      <a:accent3>
        <a:srgbClr val="3D7FC1"/>
      </a:accent3>
      <a:accent4>
        <a:srgbClr val="123B6B"/>
      </a:accent4>
      <a:accent5>
        <a:srgbClr val="5A6577"/>
      </a:accent5>
      <a:accent6>
        <a:srgbClr val="D3DBE5"/>
      </a:accent6>
      <a:hlink>
        <a:srgbClr val="D9720B"/>
      </a:hlink>
      <a:folHlink>
        <a:srgbClr val="3D7FC1"/>
      </a:folHlink>
    </a:clrScheme>
    <a:fontScheme name="intelligent_universal_test">
      <a:majorFont>
        <a:latin typeface="Bahnschrift"/>
        <a:ea typeface="Microsoft YaHei"/>
        <a:cs typeface="Bahnschrift"/>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onsolas"/>
        <a:ea typeface="Microsoft YaHei"/>
        <a:cs typeface="Consola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ntelligent_universal_tes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intelligent_universal_test">
  <a:themeElements>
    <a:clrScheme name="intelligent_universal_test">
      <a:dk1>
        <a:srgbClr val="1A2230"/>
      </a:dk1>
      <a:lt1>
        <a:srgbClr val="FFFFFF"/>
      </a:lt1>
      <a:dk2>
        <a:srgbClr val="1F497D"/>
      </a:dk2>
      <a:lt2>
        <a:srgbClr val="F1F4F8"/>
      </a:lt2>
      <a:accent1>
        <a:srgbClr val="123B6B"/>
      </a:accent1>
      <a:accent2>
        <a:srgbClr val="D9720B"/>
      </a:accent2>
      <a:accent3>
        <a:srgbClr val="3D7FC1"/>
      </a:accent3>
      <a:accent4>
        <a:srgbClr val="123B6B"/>
      </a:accent4>
      <a:accent5>
        <a:srgbClr val="5A6577"/>
      </a:accent5>
      <a:accent6>
        <a:srgbClr val="D3DBE5"/>
      </a:accent6>
      <a:hlink>
        <a:srgbClr val="D9720B"/>
      </a:hlink>
      <a:folHlink>
        <a:srgbClr val="3D7FC1"/>
      </a:folHlink>
    </a:clrScheme>
    <a:fontScheme name="intelligent_universal_test">
      <a:majorFont>
        <a:latin typeface="Bahnschrift"/>
        <a:ea typeface="Microsoft YaHei"/>
        <a:cs typeface="Bahnschrift"/>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onsolas"/>
        <a:ea typeface="Microsoft YaHei"/>
        <a:cs typeface="Consola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ntelligent_universal_tes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641</TotalTime>
  <Words>2593</Words>
  <Application>Microsoft Office PowerPoint</Application>
  <PresentationFormat>宽屏</PresentationFormat>
  <Paragraphs>173</Paragraphs>
  <Slides>18</Slides>
  <Notes>18</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18</vt:i4>
      </vt:variant>
    </vt:vector>
  </HeadingPairs>
  <TitlesOfParts>
    <vt:vector size="22" baseType="lpstr">
      <vt:lpstr>Arial</vt:lpstr>
      <vt:lpstr>Bahnschrift</vt:lpstr>
      <vt:lpstr>Consolas</vt:lpstr>
      <vt:lpstr>intelligent_universal_test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
  <cp:keywords/>
  <dc:description/>
  <cp:lastModifiedBy>lu xianche</cp:lastModifiedBy>
  <cp:revision>28</cp:revision>
  <dcterms:created xsi:type="dcterms:W3CDTF">2026-09-22T12:22:48Z</dcterms:created>
  <dcterms:modified xsi:type="dcterms:W3CDTF">2026-09-24T06:53:30Z</dcterms:modified>
  <cp:category/>
  <cp:contentStatus/>
  <dc:language>zh-CN</dc:language>
</cp:coreProperties>
</file>