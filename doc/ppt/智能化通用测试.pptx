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59" r:id="rId4"/>
    <p:sldId id="260" r:id="rId5"/>
    <p:sldId id="275" r:id="rId6"/>
    <p:sldId id="265" r:id="rId7"/>
    <p:sldId id="271" r:id="rId8"/>
    <p:sldId id="273" r:id="rId9"/>
    <p:sldId id="270" r:id="rId10"/>
    <p:sldId id="272" r:id="rId11"/>
    <p:sldId id="276" r:id="rId12"/>
    <p:sldId id="261" r:id="rId13"/>
    <p:sldId id="262" r:id="rId14"/>
    <p:sldId id="264" r:id="rId15"/>
    <p:sldId id="266" r:id="rId16"/>
    <p:sldId id="268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7" autoAdjust="0"/>
    <p:restoredTop sz="90052" autoAdjust="0"/>
  </p:normalViewPr>
  <p:slideViewPr>
    <p:cSldViewPr snapToGrid="0">
      <p:cViewPr varScale="1">
        <p:scale>
          <a:sx n="101" d="100"/>
          <a:sy n="101" d="100"/>
        </p:scale>
        <p:origin x="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C112F-848E-4395-B31B-54516F4DA82C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4825F-9417-4C73-AB45-2490420624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8389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4825F-9417-4C73-AB45-249042062497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44061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4825F-9417-4C73-AB45-24904206249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72459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4825F-9417-4C73-AB45-249042062497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169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4825F-9417-4C73-AB45-249042062497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075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B7B3C4-4A9D-45B3-AF36-5805840C8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B92E519-EAB1-4C89-BA40-3B50F1CF2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3A14CA-6F4F-4EEE-A054-B202230C9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F456B7-417A-47E5-8AA7-6CD280054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166C6F-59AE-4921-97D4-FC2FA9F2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0591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8D84E1-E3EE-4DB4-8A5A-B310F4DBA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3F20A8-9264-40D2-B7E2-36BCF831B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8C4F96-059B-43D1-AB8A-F1415B131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C71C6A-6FC7-4C77-AF71-C7ABDE790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6A75CC-A50F-4097-AE32-67724F2CD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725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F8ABFA-AB51-402A-80B3-60A20965B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35F09F7-8461-471C-A652-446DA2781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F3EEDE-21FD-4A86-8CB7-CD6CA9292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50DE1-24C6-4614-8E0B-9D0666C61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CB9B41-318F-44F5-8374-5581B7EDF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077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FC3AB5-B7D7-4C55-8923-58D776C19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CCE278-70AE-4DB8-BFFF-93541C0504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1072B6-F32C-4CFA-A406-DA37D70C8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916EE5-16BE-4ED2-9A26-19C611E8C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37D51-96DB-4A4C-9B08-71C00099D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D8D794-17BB-4B6C-88F0-4F32C9941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246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F21C8-6EE1-4DDC-978E-110015B04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A985242-9304-4F26-BE12-A5CF9B898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A3770D-814E-4238-9927-749D1AD6CC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9F7A52E-101E-4AB8-8E42-83735C1DC9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D31FF6D-035A-4311-AB11-06D3337FA6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BCED264-2B19-44A0-8566-B05F6176D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07FE759-CF19-4A5D-8477-A4716A2C5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5B5712-6A4D-4F93-9C57-F93695EC4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83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2040C-57F7-451D-829C-0483428E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CD9DBE-F9A9-4C4E-89CD-107BC7638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E2ABBA-C76D-4ADF-97FA-3EAD21C0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ED27863-C3A3-446E-BB00-AE5410B2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23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FA6B23B-4CF6-40BD-928C-A1299B541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BB6C8DC-701C-459E-8EE5-0A99A6C72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C93C67-41D4-49DD-8DF6-A64D6D1B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0340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1652D0-5234-43D1-B73A-F89E8CCF6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B4986E-625A-444A-8D66-9B275E69A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02C5B50-90BC-4A56-BE72-CDFA61AC0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19CE50-A26D-42EC-8EA7-66038DB9E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BCED4B-3A6A-4745-B764-0840881A7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C18E9C-EAE3-4FD1-83C4-41461448A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8983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6EE0BA-3FB5-4605-AFC4-35E0C5064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ED30579-1535-4CC2-9F14-D2F9D4CEF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D1A8DF-8BDD-4536-9DD5-0B925FCF43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69B90F-5256-497B-9CAA-F6CEA8A38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910F19-1B62-488F-B8FF-DCCDB3312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0CBAE1-E52E-466F-987D-3CD07A45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140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E58F90-B1DA-434C-A5E6-46BFF7080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4B63D0A-9638-49DC-9A20-932FD688D0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EB87E4-5F25-4601-93E7-848964C3A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F67CF5-D856-4360-9BCE-6A52F5E7C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9A6FE6-5E95-4122-AD7A-ABC2CC3C9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8898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8ACEDBC-03FB-4B55-8B0F-B1BBF9507F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86ED034-E34F-4416-8D14-126D5FEAD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B2BB15-E950-496A-9328-4038B7F2F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3B4248-8A30-4A06-9E7A-ACCC561B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77A20F-D770-4A4A-AC08-727FB7DFA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1436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5A74AF7-63A0-402C-A53F-43897FE0B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F134A2-4770-42E7-9520-27424E07D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3BD2C1-84C6-4E37-9BA7-9F66043C42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3AA98-B0A2-4823-AEE2-46C27980B8A2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D0ABB2-AB41-4664-9DB2-4B2ACF9074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4DF798-DC5C-40A7-9673-F01A9C49C1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1CFA-3FF8-4090-A5BF-4C4677342A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9196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项目背景</a:t>
            </a:r>
            <a:r>
              <a:rPr lang="en-US" altLang="zh-CN" sz="3200" dirty="0"/>
              <a:t>: </a:t>
            </a:r>
            <a:r>
              <a:rPr lang="zh-CN" altLang="en-US" sz="3200" dirty="0"/>
              <a:t>设备测试场景</a:t>
            </a:r>
            <a:r>
              <a:rPr lang="en-US" altLang="zh-CN" sz="3200" dirty="0"/>
              <a:t>&amp;</a:t>
            </a:r>
            <a:r>
              <a:rPr lang="zh-CN" altLang="en-US" sz="3200" dirty="0"/>
              <a:t>定制测试软件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C1A0070-1210-49B3-AC41-7FBF411BEDEC}"/>
              </a:ext>
            </a:extLst>
          </p:cNvPr>
          <p:cNvSpPr txBox="1"/>
          <p:nvPr/>
        </p:nvSpPr>
        <p:spPr>
          <a:xfrm>
            <a:off x="1127238" y="940530"/>
            <a:ext cx="993752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800" b="1" dirty="0">
                <a:effectLst/>
                <a:latin typeface="Consolas" panose="020B0609020204030204" pitchFamily="49" charset="0"/>
              </a:rPr>
              <a:t>被测产品不同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：接口、协议、供电、时序不同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800" b="1" dirty="0">
                <a:effectLst/>
                <a:latin typeface="Consolas" panose="020B0609020204030204" pitchFamily="49" charset="0"/>
              </a:rPr>
              <a:t>测试设备不同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：采集卡、电源、串口、继电器</a:t>
            </a:r>
            <a:r>
              <a:rPr lang="en-US" altLang="zh-CN" sz="2800" b="0" dirty="0" err="1">
                <a:effectLst/>
                <a:latin typeface="Consolas" panose="020B0609020204030204" pitchFamily="49" charset="0"/>
              </a:rPr>
              <a:t>sdk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不同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800" b="1" dirty="0">
                <a:effectLst/>
                <a:latin typeface="Consolas" panose="020B0609020204030204" pitchFamily="49" charset="0"/>
              </a:rPr>
              <a:t>测试流程不同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：初始化、激励、测量、判定、清理代码不同</a:t>
            </a:r>
          </a:p>
          <a:p>
            <a:br>
              <a:rPr lang="zh-CN" altLang="en-US" sz="2800" b="0" dirty="0">
                <a:solidFill>
                  <a:srgbClr val="E1E4E8"/>
                </a:solidFill>
                <a:effectLst/>
                <a:latin typeface="Consolas" panose="020B0609020204030204" pitchFamily="49" charset="0"/>
              </a:rPr>
            </a:br>
            <a:endParaRPr lang="zh-CN" altLang="en-US" sz="2800" b="0" dirty="0">
              <a:solidFill>
                <a:srgbClr val="E1E4E8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41E3536-11E9-406A-819A-774998E29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2" y="2781207"/>
            <a:ext cx="6080538" cy="362295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3CE99AC-5376-4BA7-8272-605F21A48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116" y="2912927"/>
            <a:ext cx="5759745" cy="3945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601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项目背景</a:t>
            </a:r>
            <a:r>
              <a:rPr lang="en-US" altLang="zh-CN" sz="3200" dirty="0"/>
              <a:t>: </a:t>
            </a:r>
            <a:r>
              <a:rPr lang="zh-CN" altLang="en-US" sz="3200" dirty="0"/>
              <a:t>定制测试软件缺点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B51F479-742D-4E03-8FFB-17DCD98B432D}"/>
              </a:ext>
            </a:extLst>
          </p:cNvPr>
          <p:cNvSpPr txBox="1"/>
          <p:nvPr/>
        </p:nvSpPr>
        <p:spPr>
          <a:xfrm>
            <a:off x="1499091" y="1228397"/>
            <a:ext cx="1116630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b="1" dirty="0"/>
              <a:t>迭代周期长</a:t>
            </a:r>
            <a:r>
              <a:rPr lang="en-US" altLang="zh-CN" sz="2800" dirty="0"/>
              <a:t>: </a:t>
            </a:r>
          </a:p>
          <a:p>
            <a:pPr lvl="1"/>
            <a:r>
              <a:rPr lang="zh-CN" altLang="en-US" sz="2800" dirty="0"/>
              <a:t>换一个产品，往往意味着重写代码、重新联调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b="1" dirty="0"/>
              <a:t>复用成本高</a:t>
            </a:r>
            <a:r>
              <a:rPr lang="zh-CN" altLang="en-US" sz="2800" dirty="0"/>
              <a:t>：</a:t>
            </a:r>
            <a:endParaRPr lang="en-US" altLang="zh-CN" sz="2800" dirty="0"/>
          </a:p>
          <a:p>
            <a:pPr lvl="1"/>
            <a:r>
              <a:rPr lang="zh-CN" altLang="en-US" sz="2800" dirty="0"/>
              <a:t>同样的电压扫描、串口请求、继电器控制被重复实现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b="1" dirty="0"/>
              <a:t>变更风险高</a:t>
            </a:r>
            <a:r>
              <a:rPr lang="zh-CN" altLang="en-US" sz="2800" dirty="0"/>
              <a:t>：</a:t>
            </a:r>
            <a:endParaRPr lang="en-US" altLang="zh-CN" sz="2800" dirty="0"/>
          </a:p>
          <a:p>
            <a:pPr lvl="1"/>
            <a:r>
              <a:rPr lang="zh-CN" altLang="en-US" sz="2800" dirty="0"/>
              <a:t>硬件替换可能牵动流程、判定和报告代码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b="1" dirty="0"/>
              <a:t>知识不可见</a:t>
            </a:r>
            <a:r>
              <a:rPr lang="zh-CN" altLang="en-US" sz="2800" dirty="0"/>
              <a:t>：</a:t>
            </a:r>
            <a:endParaRPr lang="en-US" altLang="zh-CN" sz="2800" dirty="0"/>
          </a:p>
          <a:p>
            <a:pPr lvl="1"/>
            <a:r>
              <a:rPr lang="zh-CN" altLang="en-US" sz="2800" dirty="0"/>
              <a:t>量程、安全值、接线关系散落在驱动和脚本中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b="1" dirty="0"/>
              <a:t>验证边界模糊</a:t>
            </a:r>
            <a:r>
              <a:rPr lang="zh-CN" altLang="en-US" sz="2800" dirty="0"/>
              <a:t>：</a:t>
            </a:r>
            <a:endParaRPr lang="en-US" altLang="zh-CN" sz="2800" dirty="0"/>
          </a:p>
          <a:p>
            <a:pPr lvl="1"/>
            <a:r>
              <a:rPr lang="zh-CN" altLang="en-US" sz="2800" dirty="0"/>
              <a:t>设备访问、协议解析、业务判定相互纠缠</a:t>
            </a:r>
          </a:p>
        </p:txBody>
      </p:sp>
    </p:spTree>
    <p:extLst>
      <p:ext uri="{BB962C8B-B14F-4D97-AF65-F5344CB8AC3E}">
        <p14:creationId xmlns:p14="http://schemas.microsoft.com/office/powerpoint/2010/main" val="231622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核心矛盾</a:t>
            </a:r>
            <a:r>
              <a:rPr lang="en-US" altLang="zh-CN" sz="3200" dirty="0"/>
              <a:t>: </a:t>
            </a:r>
            <a:r>
              <a:rPr lang="zh-CN" altLang="en-US" sz="3200" dirty="0"/>
              <a:t>测试任务复杂度 </a:t>
            </a:r>
            <a:r>
              <a:rPr lang="en-US" altLang="zh-CN" sz="3200" dirty="0"/>
              <a:t>vs </a:t>
            </a:r>
            <a:r>
              <a:rPr lang="zh-CN" altLang="en-US" sz="3200" dirty="0"/>
              <a:t>测试工程师能力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D2BF7B5-F4FB-4DED-A054-E2FF28B71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24" y="788276"/>
            <a:ext cx="10210951" cy="5795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096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解决方案</a:t>
            </a:r>
            <a:r>
              <a:rPr lang="en-US" altLang="zh-CN" sz="3200" dirty="0"/>
              <a:t>: </a:t>
            </a:r>
            <a:r>
              <a:rPr lang="zh-CN" altLang="en-US" sz="3200" dirty="0"/>
              <a:t>智能化通用测试软件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14AC80A-9FAB-4202-BCFB-117517A3390F}"/>
              </a:ext>
            </a:extLst>
          </p:cNvPr>
          <p:cNvSpPr txBox="1"/>
          <p:nvPr/>
        </p:nvSpPr>
        <p:spPr>
          <a:xfrm>
            <a:off x="1091115" y="697833"/>
            <a:ext cx="102115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2400" b="1" i="0" dirty="0">
                <a:effectLst/>
                <a:latin typeface="-apple-system"/>
              </a:rPr>
              <a:t>本地服务器</a:t>
            </a:r>
            <a:r>
              <a:rPr lang="zh-CN" altLang="en-US" sz="2400" b="0" i="0" dirty="0">
                <a:effectLst/>
                <a:latin typeface="-apple-system"/>
              </a:rPr>
              <a:t>部署</a:t>
            </a:r>
            <a:r>
              <a:rPr lang="en-US" altLang="zh-CN" sz="2400" b="0" i="0" dirty="0">
                <a:effectLst/>
                <a:latin typeface="-apple-system"/>
              </a:rPr>
              <a:t>LLM</a:t>
            </a:r>
            <a:r>
              <a:rPr lang="zh-CN" altLang="en-US" sz="2400" b="0" i="0" dirty="0">
                <a:effectLst/>
                <a:latin typeface="-apple-system"/>
              </a:rPr>
              <a:t>服务器</a:t>
            </a:r>
            <a:r>
              <a:rPr lang="en-US" altLang="zh-CN" sz="2400" dirty="0">
                <a:latin typeface="-apple-system"/>
              </a:rPr>
              <a:t>,</a:t>
            </a:r>
            <a:r>
              <a:rPr lang="zh-CN" altLang="en-US" sz="2400" dirty="0">
                <a:latin typeface="-apple-system"/>
              </a:rPr>
              <a:t> </a:t>
            </a:r>
            <a:r>
              <a:rPr lang="zh-CN" altLang="en-US" sz="2400" b="1" i="0" dirty="0">
                <a:effectLst/>
                <a:latin typeface="-apple-system"/>
              </a:rPr>
              <a:t>测试终端</a:t>
            </a:r>
            <a:r>
              <a:rPr lang="zh-CN" altLang="en-US" sz="2400" b="0" i="0" dirty="0">
                <a:effectLst/>
                <a:latin typeface="-apple-system"/>
              </a:rPr>
              <a:t>运行智能化通用测试软件</a:t>
            </a:r>
            <a:endParaRPr lang="en-US" altLang="zh-CN" sz="2400" b="0" i="0" dirty="0">
              <a:effectLst/>
              <a:latin typeface="-apple-syste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b="1" i="0" dirty="0">
                <a:effectLst/>
                <a:latin typeface="-apple-system"/>
              </a:rPr>
              <a:t>测试终端</a:t>
            </a:r>
            <a:r>
              <a:rPr lang="zh-CN" altLang="en-US" sz="2400" b="0" i="0" dirty="0">
                <a:effectLst/>
                <a:latin typeface="-apple-system"/>
              </a:rPr>
              <a:t>通过局域网和</a:t>
            </a:r>
            <a:r>
              <a:rPr lang="en-US" altLang="zh-CN" sz="2400" b="0" i="0" dirty="0">
                <a:effectLst/>
                <a:latin typeface="-apple-system"/>
              </a:rPr>
              <a:t>MCP</a:t>
            </a:r>
            <a:r>
              <a:rPr lang="zh-CN" altLang="en-US" sz="2400" b="0" i="0" dirty="0">
                <a:effectLst/>
                <a:latin typeface="-apple-system"/>
              </a:rPr>
              <a:t>协议连接任意</a:t>
            </a:r>
            <a:r>
              <a:rPr lang="zh-CN" altLang="en-US" sz="2400" b="1" i="0" dirty="0">
                <a:effectLst/>
                <a:latin typeface="-apple-system"/>
              </a:rPr>
              <a:t>硬件测试资源</a:t>
            </a:r>
            <a:endParaRPr lang="en-US" altLang="zh-CN" sz="2400" b="1" i="0" dirty="0"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2400" b="1" i="0" dirty="0">
                <a:effectLst/>
                <a:latin typeface="-apple-system"/>
              </a:rPr>
              <a:t>测试终端</a:t>
            </a:r>
            <a:r>
              <a:rPr lang="zh-CN" altLang="en-US" sz="2400" b="0" i="0" dirty="0">
                <a:effectLst/>
                <a:latin typeface="-apple-system"/>
              </a:rPr>
              <a:t>调用</a:t>
            </a:r>
            <a:r>
              <a:rPr lang="en-US" altLang="zh-CN" sz="2400" dirty="0">
                <a:latin typeface="-apple-system"/>
              </a:rPr>
              <a:t>LLM</a:t>
            </a:r>
            <a:r>
              <a:rPr lang="zh-CN" altLang="en-US" sz="2400" b="0" i="0" dirty="0">
                <a:effectLst/>
                <a:latin typeface="-apple-system"/>
              </a:rPr>
              <a:t>服务</a:t>
            </a:r>
            <a:r>
              <a:rPr lang="en-US" altLang="zh-CN" sz="2400" b="0" i="0" dirty="0">
                <a:effectLst/>
                <a:latin typeface="-apple-system"/>
              </a:rPr>
              <a:t>, </a:t>
            </a:r>
            <a:r>
              <a:rPr lang="zh-CN" altLang="en-US" sz="2400" b="0" i="0" dirty="0">
                <a:effectLst/>
                <a:latin typeface="-apple-system"/>
              </a:rPr>
              <a:t>替代人工编写测试流程和硬件适配代码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13D12B0-6FD1-4814-A627-04B550847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422" y="1903211"/>
            <a:ext cx="8123155" cy="495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045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设备管理</a:t>
            </a:r>
            <a:r>
              <a:rPr lang="en-US" altLang="zh-CN" sz="3200" dirty="0"/>
              <a:t>: </a:t>
            </a:r>
            <a:r>
              <a:rPr lang="zh-CN" altLang="en-US" sz="3200" dirty="0"/>
              <a:t>实现测试资源插件化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593A4A7-D48B-4D23-A8FC-FEA6CF324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41" y="1915373"/>
            <a:ext cx="9655348" cy="488099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7A8B94C-585D-431F-9E9A-6A15CDCEAF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4791" y="1106840"/>
            <a:ext cx="1784843" cy="575115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030777F-39C8-4B77-9B8F-F5013935322A}"/>
              </a:ext>
            </a:extLst>
          </p:cNvPr>
          <p:cNvSpPr txBox="1"/>
          <p:nvPr/>
        </p:nvSpPr>
        <p:spPr>
          <a:xfrm>
            <a:off x="918604" y="840655"/>
            <a:ext cx="10354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2400" b="0" i="0" dirty="0">
                <a:effectLst/>
                <a:latin typeface="-apple-system"/>
              </a:rPr>
              <a:t>一个服务器进程托管一个硬件</a:t>
            </a:r>
            <a:r>
              <a:rPr lang="en-US" altLang="zh-CN" sz="2400" b="0" i="0" dirty="0">
                <a:effectLst/>
                <a:latin typeface="-apple-system"/>
              </a:rPr>
              <a:t>, </a:t>
            </a:r>
            <a:r>
              <a:rPr lang="zh-CN" altLang="en-US" sz="2400" b="0" i="0" dirty="0">
                <a:effectLst/>
                <a:latin typeface="-apple-system"/>
              </a:rPr>
              <a:t>可被任意测试终端占用之后使用</a:t>
            </a:r>
            <a:endParaRPr lang="en-US" altLang="zh-CN" sz="2400" b="0" i="0" dirty="0"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2400" b="0" i="0" dirty="0" err="1">
                <a:effectLst/>
                <a:latin typeface="-apple-system"/>
              </a:rPr>
              <a:t>mcp</a:t>
            </a:r>
            <a:r>
              <a:rPr lang="zh-CN" altLang="en-US" sz="2400" b="0" i="0" dirty="0">
                <a:effectLst/>
                <a:latin typeface="-apple-system"/>
              </a:rPr>
              <a:t>服务器提供硬件调用接口和使用说明</a:t>
            </a:r>
            <a:r>
              <a:rPr lang="en-US" altLang="zh-CN" sz="2400" b="0" i="0" dirty="0">
                <a:effectLst/>
                <a:latin typeface="-apple-system"/>
              </a:rPr>
              <a:t>, </a:t>
            </a:r>
            <a:r>
              <a:rPr lang="zh-CN" altLang="en-US" sz="2400" b="0" i="0" dirty="0">
                <a:effectLst/>
                <a:latin typeface="-apple-system"/>
              </a:rPr>
              <a:t>为</a:t>
            </a:r>
            <a:r>
              <a:rPr lang="en-US" altLang="zh-CN" sz="2400" b="0" i="0" dirty="0">
                <a:effectLst/>
                <a:latin typeface="-apple-system"/>
              </a:rPr>
              <a:t>AI</a:t>
            </a:r>
            <a:r>
              <a:rPr lang="zh-CN" altLang="en-US" sz="2400" b="0" i="0" dirty="0">
                <a:effectLst/>
                <a:latin typeface="-apple-system"/>
              </a:rPr>
              <a:t>提供工具调用</a:t>
            </a:r>
            <a:endParaRPr lang="en-US" altLang="zh-CN" sz="24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02662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工位接线</a:t>
            </a:r>
            <a:r>
              <a:rPr lang="en-US" altLang="zh-CN" sz="3200" dirty="0"/>
              <a:t>:</a:t>
            </a:r>
            <a:r>
              <a:rPr lang="zh-CN" altLang="en-US" sz="3200" dirty="0"/>
              <a:t>测试资源和被测对象的连接关系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5681A9F-CDBD-48F2-BC07-491B79691AA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67"/>
          <a:stretch/>
        </p:blipFill>
        <p:spPr>
          <a:xfrm>
            <a:off x="92747" y="1920237"/>
            <a:ext cx="6644525" cy="483460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BDFC9FC2-F727-4796-9F9C-B513D1F406F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1" t="9131" r="23982"/>
          <a:stretch/>
        </p:blipFill>
        <p:spPr>
          <a:xfrm>
            <a:off x="6776327" y="2023398"/>
            <a:ext cx="5415673" cy="4834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55294D0A-E8CF-4E68-9C55-2F3F89A32F4D}"/>
              </a:ext>
            </a:extLst>
          </p:cNvPr>
          <p:cNvSpPr txBox="1"/>
          <p:nvPr/>
        </p:nvSpPr>
        <p:spPr>
          <a:xfrm>
            <a:off x="748477" y="657290"/>
            <a:ext cx="11977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/>
              <a:t>硬件对象有端口和针脚属性</a:t>
            </a:r>
            <a:r>
              <a:rPr lang="en-US" altLang="zh-CN" sz="2400" dirty="0"/>
              <a:t>, </a:t>
            </a:r>
            <a:r>
              <a:rPr lang="zh-CN" altLang="en-US" sz="2400" dirty="0"/>
              <a:t>工位接线表示测试资源和被测对象的连接关系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/>
              <a:t>画布展示端口之间的连接</a:t>
            </a:r>
            <a:r>
              <a:rPr lang="en-US" altLang="zh-CN" sz="2400" dirty="0"/>
              <a:t>, </a:t>
            </a:r>
            <a:r>
              <a:rPr lang="zh-CN" altLang="en-US" sz="2400" dirty="0"/>
              <a:t>列表列出每一个针脚之间的连接</a:t>
            </a:r>
            <a:endParaRPr lang="en-US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/>
              <a:t>和特定测试流程绑定</a:t>
            </a:r>
            <a:r>
              <a:rPr lang="en-US" altLang="zh-CN" sz="2400" dirty="0"/>
              <a:t>, </a:t>
            </a:r>
            <a:r>
              <a:rPr lang="zh-CN" altLang="en-US" sz="2400" dirty="0"/>
              <a:t>完成端口资源到物理针脚的映射</a:t>
            </a:r>
            <a:r>
              <a:rPr lang="en-US" altLang="zh-CN" sz="2400" dirty="0"/>
              <a:t>, </a:t>
            </a:r>
            <a:r>
              <a:rPr lang="zh-CN" altLang="en-US" sz="2400" dirty="0"/>
              <a:t>为</a:t>
            </a:r>
            <a:r>
              <a:rPr lang="en-US" altLang="zh-CN" sz="2400" dirty="0"/>
              <a:t>AI</a:t>
            </a:r>
            <a:r>
              <a:rPr lang="zh-CN" altLang="en-US" sz="2400" dirty="0"/>
              <a:t>提供上下文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260945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测试编排</a:t>
            </a:r>
            <a:r>
              <a:rPr lang="en-US" altLang="zh-CN" sz="3200" dirty="0"/>
              <a:t>: </a:t>
            </a:r>
            <a:r>
              <a:rPr lang="zh-CN" altLang="en-US" sz="3200" dirty="0"/>
              <a:t>测试流程示例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8317301-BA6A-45CD-AD88-1D8E9965C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499" y="697833"/>
            <a:ext cx="9327002" cy="59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636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测试编排</a:t>
            </a:r>
            <a:r>
              <a:rPr lang="en-US" altLang="zh-CN" sz="3200" dirty="0"/>
              <a:t>: </a:t>
            </a:r>
            <a:r>
              <a:rPr lang="zh-CN" altLang="en-US" sz="3200" dirty="0"/>
              <a:t>通用测试语义</a:t>
            </a:r>
          </a:p>
        </p:txBody>
      </p:sp>
    </p:spTree>
    <p:extLst>
      <p:ext uri="{BB962C8B-B14F-4D97-AF65-F5344CB8AC3E}">
        <p14:creationId xmlns:p14="http://schemas.microsoft.com/office/powerpoint/2010/main" val="2618110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测试软件内的专属工程师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F4B32AF-068B-40FA-9404-5DFD2248E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81" y="697833"/>
            <a:ext cx="12167319" cy="594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778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en-US" altLang="zh-CN" sz="3200" b="0" dirty="0">
                <a:effectLst/>
                <a:latin typeface="Consolas" panose="020B0609020204030204" pitchFamily="49" charset="0"/>
              </a:rPr>
              <a:t>“</a:t>
            </a:r>
            <a:r>
              <a:rPr lang="zh-CN" altLang="en-US" sz="3200" b="0" dirty="0">
                <a:effectLst/>
                <a:latin typeface="Consolas" panose="020B0609020204030204" pitchFamily="49" charset="0"/>
              </a:rPr>
              <a:t>会思考、会行动</a:t>
            </a:r>
            <a:r>
              <a:rPr lang="en-US" altLang="zh-CN" sz="3200" b="0" dirty="0">
                <a:effectLst/>
                <a:latin typeface="Consolas" panose="020B0609020204030204" pitchFamily="49" charset="0"/>
              </a:rPr>
              <a:t>”</a:t>
            </a:r>
            <a:r>
              <a:rPr lang="zh-CN" altLang="en-US" sz="3200" b="0" dirty="0">
                <a:effectLst/>
                <a:latin typeface="Consolas" panose="020B0609020204030204" pitchFamily="49" charset="0"/>
              </a:rPr>
              <a:t>的原理</a:t>
            </a:r>
            <a:endParaRPr lang="zh-CN" altLang="en-US" sz="3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D0FD350-BBE6-4B8B-9983-544043E2C6AC}"/>
              </a:ext>
            </a:extLst>
          </p:cNvPr>
          <p:cNvSpPr txBox="1"/>
          <p:nvPr/>
        </p:nvSpPr>
        <p:spPr>
          <a:xfrm>
            <a:off x="448790" y="697833"/>
            <a:ext cx="1129441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800" b="1" dirty="0">
                <a:effectLst/>
                <a:latin typeface="Consolas" panose="020B0609020204030204" pitchFamily="49" charset="0"/>
              </a:rPr>
              <a:t>大脑：本地部署的大语言模型</a:t>
            </a:r>
            <a:r>
              <a:rPr lang="en-US" altLang="zh-CN" sz="2800" b="1" dirty="0">
                <a:effectLst/>
                <a:latin typeface="Consolas" panose="020B0609020204030204" pitchFamily="49" charset="0"/>
              </a:rPr>
              <a:t>(LLM)</a:t>
            </a:r>
            <a:br>
              <a:rPr lang="en-US" altLang="zh-CN" sz="2800" b="1" dirty="0">
                <a:effectLst/>
                <a:latin typeface="Consolas" panose="020B0609020204030204" pitchFamily="49" charset="0"/>
              </a:rPr>
            </a:br>
            <a:r>
              <a:rPr lang="zh-CN" altLang="en-US" sz="2800" b="0" dirty="0">
                <a:effectLst/>
                <a:latin typeface="Consolas" panose="020B0609020204030204" pitchFamily="49" charset="0"/>
              </a:rPr>
              <a:t>负责理解人工用自然语言描述的测试需求，推理出下一步该做什么</a:t>
            </a:r>
            <a:endParaRPr lang="en-US" altLang="zh-CN" sz="28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800" b="1" dirty="0">
                <a:effectLst/>
                <a:latin typeface="Consolas" panose="020B0609020204030204" pitchFamily="49" charset="0"/>
              </a:rPr>
              <a:t>工具箱：设备驱动和协议被封装成的</a:t>
            </a:r>
            <a:r>
              <a:rPr lang="en-US" altLang="zh-CN" sz="2800" b="1" dirty="0"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2800" b="1" dirty="0">
                <a:effectLst/>
                <a:latin typeface="Consolas" panose="020B0609020204030204" pitchFamily="49" charset="0"/>
              </a:rPr>
              <a:t>工具</a:t>
            </a:r>
            <a:r>
              <a:rPr lang="en-US" altLang="zh-CN" sz="2800" b="1" dirty="0">
                <a:effectLst/>
                <a:latin typeface="Consolas" panose="020B0609020204030204" pitchFamily="49" charset="0"/>
              </a:rPr>
              <a:t>"</a:t>
            </a:r>
            <a:br>
              <a:rPr lang="en-US" altLang="zh-CN" sz="2800" b="1" dirty="0">
                <a:effectLst/>
                <a:latin typeface="Consolas" panose="020B0609020204030204" pitchFamily="49" charset="0"/>
              </a:rPr>
            </a:br>
            <a:r>
              <a:rPr lang="zh-CN" altLang="en-US" sz="2800" b="0" dirty="0">
                <a:effectLst/>
                <a:latin typeface="Consolas" panose="020B0609020204030204" pitchFamily="49" charset="0"/>
              </a:rPr>
              <a:t>负责真正执行动作，比如读电压、发串口指令、烧写固件</a:t>
            </a:r>
            <a:endParaRPr lang="en-US" altLang="zh-CN" sz="28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800" b="1" dirty="0">
                <a:effectLst/>
                <a:latin typeface="Consolas" panose="020B0609020204030204" pitchFamily="49" charset="0"/>
              </a:rPr>
              <a:t>循环：思考 → 行动 → 观察 → 再思考</a:t>
            </a:r>
            <a:br>
              <a:rPr lang="en-US" altLang="zh-CN" sz="2800" b="1" dirty="0">
                <a:latin typeface="Consolas" panose="020B0609020204030204" pitchFamily="49" charset="0"/>
              </a:rPr>
            </a:br>
            <a:r>
              <a:rPr lang="en-US" altLang="zh-CN" sz="2800" b="0" dirty="0">
                <a:effectLst/>
                <a:latin typeface="Consolas" panose="020B0609020204030204" pitchFamily="49" charset="0"/>
              </a:rPr>
              <a:t>Agent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每做完一步都会看到真实结果，再决定下一步，而不是提前写死的固定脚本，这就是它</a:t>
            </a:r>
            <a:r>
              <a:rPr lang="en-US" altLang="zh-CN" sz="2800" b="0" dirty="0"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会思考、会行动</a:t>
            </a:r>
            <a:r>
              <a:rPr lang="en-US" altLang="zh-CN" sz="2800" b="0" dirty="0"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2800" b="0" dirty="0">
                <a:effectLst/>
                <a:latin typeface="Consolas" panose="020B0609020204030204" pitchFamily="49" charset="0"/>
              </a:rPr>
              <a:t>的原因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98F0B98-B3B9-4A9D-8B87-DF751F5285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489" y="3850887"/>
            <a:ext cx="8779983" cy="29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53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工具箱和上下文</a:t>
            </a:r>
          </a:p>
        </p:txBody>
      </p:sp>
    </p:spTree>
    <p:extLst>
      <p:ext uri="{BB962C8B-B14F-4D97-AF65-F5344CB8AC3E}">
        <p14:creationId xmlns:p14="http://schemas.microsoft.com/office/powerpoint/2010/main" val="3050248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添加硬件测试资源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6431EC1-694A-4DAD-8F17-CD6C6068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2327"/>
            <a:ext cx="8291921" cy="505567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5839DF0B-CC9A-4F98-BA4A-72DAB34C06D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866"/>
          <a:stretch/>
        </p:blipFill>
        <p:spPr>
          <a:xfrm>
            <a:off x="8429572" y="1928070"/>
            <a:ext cx="3487124" cy="4929929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5C7A3C5-910A-4997-B0B0-4E2725772F71}"/>
              </a:ext>
            </a:extLst>
          </p:cNvPr>
          <p:cNvSpPr txBox="1"/>
          <p:nvPr/>
        </p:nvSpPr>
        <p:spPr>
          <a:xfrm>
            <a:off x="530941" y="697833"/>
            <a:ext cx="111301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dirty="0">
                <a:effectLst/>
                <a:latin typeface="Consolas" panose="020B0609020204030204" pitchFamily="49" charset="0"/>
              </a:rPr>
              <a:t>提示词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“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参考这份模拟输出卡使用手册，帮我创建一个新的测试资源服务：支持按通道设置输出电压（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set_output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）、读取当前设定值和实际测量值（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read_output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）、查询该型号的通道数量和电压范围（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get_channel_range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），停止服务前把所有通道安全复位到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0V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（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reset_output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）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”</a:t>
            </a:r>
            <a:endParaRPr lang="zh-CN" altLang="en-US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5902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添加被测对象作为被动设备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9B6624-A0F0-4BC8-825C-4F246751DCE7}"/>
              </a:ext>
            </a:extLst>
          </p:cNvPr>
          <p:cNvSpPr txBox="1"/>
          <p:nvPr/>
        </p:nvSpPr>
        <p:spPr>
          <a:xfrm>
            <a:off x="2163096" y="687741"/>
            <a:ext cx="75905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dirty="0">
                <a:effectLst/>
                <a:latin typeface="Consolas" panose="020B0609020204030204" pitchFamily="49" charset="0"/>
              </a:rPr>
              <a:t>提示词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"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新增一个被测对象：某型号控制板，根据手册截图生成端口和引脚定义，重点标出调试下载口、模拟采集口、通信口三组接口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"</a:t>
            </a:r>
            <a:endParaRPr lang="zh-CN" altLang="en-US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1B7D2C0-38CD-43C4-BCFE-F9898A3B9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883" y="1477881"/>
            <a:ext cx="8691717" cy="538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565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指导人工完成接线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B41D93F-66FB-4B02-B02A-E632B7222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66821"/>
            <a:ext cx="8450080" cy="508519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0CB8A46-BDB0-44FF-B91B-C7E58ECDAC89}"/>
              </a:ext>
            </a:extLst>
          </p:cNvPr>
          <p:cNvSpPr txBox="1"/>
          <p:nvPr/>
        </p:nvSpPr>
        <p:spPr>
          <a:xfrm>
            <a:off x="1396179" y="722485"/>
            <a:ext cx="93996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提示词</a:t>
            </a:r>
            <a:r>
              <a:rPr lang="en-US" altLang="zh-CN" dirty="0"/>
              <a:t>: "</a:t>
            </a:r>
            <a:r>
              <a:rPr lang="zh-CN" altLang="en-US" dirty="0"/>
              <a:t>我要测试这款控制板的模拟采集精度，需要接好 </a:t>
            </a:r>
            <a:r>
              <a:rPr lang="en-US" altLang="zh-CN" dirty="0" err="1"/>
              <a:t>FireDAP</a:t>
            </a:r>
            <a:r>
              <a:rPr lang="en-US" altLang="zh-CN" dirty="0"/>
              <a:t> </a:t>
            </a:r>
            <a:r>
              <a:rPr lang="zh-CN" altLang="en-US" dirty="0"/>
              <a:t>调试下载口、</a:t>
            </a:r>
            <a:r>
              <a:rPr lang="en-US" altLang="zh-CN" dirty="0"/>
              <a:t>PCI-6208V </a:t>
            </a:r>
            <a:r>
              <a:rPr lang="zh-CN" altLang="en-US" dirty="0"/>
              <a:t>一路模拟输出到采集通道、</a:t>
            </a:r>
            <a:r>
              <a:rPr lang="en-US" altLang="zh-CN" dirty="0"/>
              <a:t>CP-118U-I </a:t>
            </a:r>
            <a:r>
              <a:rPr lang="zh-CN" altLang="en-US" dirty="0"/>
              <a:t>一路串口到通信口，帮我生成接线方案</a:t>
            </a:r>
            <a:r>
              <a:rPr lang="en-US" altLang="zh-CN" dirty="0"/>
              <a:t>"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D20DA34-2A5F-4C81-9E36-A156ECB39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0080" y="1866822"/>
            <a:ext cx="3741920" cy="499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0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生成测试方案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088BCED-A468-483B-A83B-4830E08B3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727" y="1836761"/>
            <a:ext cx="8412546" cy="502123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03B9CE0-1181-43DE-AC31-FFD02D25A0B6}"/>
              </a:ext>
            </a:extLst>
          </p:cNvPr>
          <p:cNvSpPr txBox="1"/>
          <p:nvPr/>
        </p:nvSpPr>
        <p:spPr>
          <a:xfrm>
            <a:off x="1303745" y="697833"/>
            <a:ext cx="8998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dirty="0">
                <a:effectLst/>
                <a:latin typeface="Consolas" panose="020B0609020204030204" pitchFamily="49" charset="0"/>
              </a:rPr>
              <a:t>提示词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"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编写一个测试流程：先用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FireDAP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 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烧录最新固件并回读校验，然后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PCI-6208V 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依次输出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0V / 1.65V / 3.3V 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到采集通道，每次等待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100ms 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后通过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CP-118U-I 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读取采集值，判定误差在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±1% </a:t>
            </a:r>
            <a:r>
              <a:rPr lang="zh-CN" altLang="en-US" b="0" dirty="0">
                <a:effectLst/>
                <a:latin typeface="Consolas" panose="020B0609020204030204" pitchFamily="49" charset="0"/>
              </a:rPr>
              <a:t>以内，全部通过才算 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Pass"</a:t>
            </a:r>
            <a:endParaRPr lang="zh-CN" altLang="en-US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0295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96CAE-3BA0-4C3F-896B-B4349D37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697832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AI Agent: </a:t>
            </a:r>
            <a:r>
              <a:rPr lang="zh-CN" altLang="en-US" sz="3200" dirty="0"/>
              <a:t>运行测试</a:t>
            </a:r>
            <a:r>
              <a:rPr lang="en-US" altLang="zh-CN" sz="3200" dirty="0"/>
              <a:t>, </a:t>
            </a:r>
            <a:r>
              <a:rPr lang="zh-CN" altLang="en-US" sz="3200" dirty="0"/>
              <a:t>实时查看结果</a:t>
            </a:r>
            <a:r>
              <a:rPr lang="en-US" altLang="zh-CN" sz="3200" dirty="0"/>
              <a:t>, </a:t>
            </a:r>
            <a:r>
              <a:rPr lang="zh-CN" altLang="en-US" sz="3200" dirty="0"/>
              <a:t>结果保存到日志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C2293FF-CD20-4EC0-BA17-146E051E8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230" y="592282"/>
            <a:ext cx="10497539" cy="626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143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505</TotalTime>
  <Words>715</Words>
  <Application>Microsoft Office PowerPoint</Application>
  <PresentationFormat>宽屏</PresentationFormat>
  <Paragraphs>49</Paragraphs>
  <Slides>16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2" baseType="lpstr">
      <vt:lpstr>-apple-system</vt:lpstr>
      <vt:lpstr>等线</vt:lpstr>
      <vt:lpstr>等线 Light</vt:lpstr>
      <vt:lpstr>Arial</vt:lpstr>
      <vt:lpstr>Consolas</vt:lpstr>
      <vt:lpstr>Office 主题​​</vt:lpstr>
      <vt:lpstr>项目背景: 设备测试场景&amp;定制测试软件</vt:lpstr>
      <vt:lpstr>项目背景: 定制测试软件缺点</vt:lpstr>
      <vt:lpstr>核心矛盾: 测试任务复杂度 vs 测试工程师能力</vt:lpstr>
      <vt:lpstr>解决方案: 智能化通用测试软件</vt:lpstr>
      <vt:lpstr>设备管理: 实现测试资源插件化</vt:lpstr>
      <vt:lpstr>工位接线:测试资源和被测对象的连接关系</vt:lpstr>
      <vt:lpstr>测试编排: 测试流程示例</vt:lpstr>
      <vt:lpstr>测试编排: 通用测试语义</vt:lpstr>
      <vt:lpstr>AI Agent: 测试软件内的专属工程师</vt:lpstr>
      <vt:lpstr>AI Agent: “会思考、会行动”的原理</vt:lpstr>
      <vt:lpstr>AI Agent: 工具箱和上下文</vt:lpstr>
      <vt:lpstr>AI Agent: 添加硬件测试资源</vt:lpstr>
      <vt:lpstr>AI Agent: 添加被测对象作为被动设备</vt:lpstr>
      <vt:lpstr>AI Agent: 指导人工完成接线</vt:lpstr>
      <vt:lpstr>AI Agent: 生成测试方案</vt:lpstr>
      <vt:lpstr>AI Agent: 运行测试, 实时查看结果, 结果保存到日志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 xianche</dc:creator>
  <cp:lastModifiedBy>lu xianche</cp:lastModifiedBy>
  <cp:revision>21</cp:revision>
  <dcterms:created xsi:type="dcterms:W3CDTF">2026-09-21T09:24:40Z</dcterms:created>
  <dcterms:modified xsi:type="dcterms:W3CDTF">2026-09-22T03:50:34Z</dcterms:modified>
</cp:coreProperties>
</file>